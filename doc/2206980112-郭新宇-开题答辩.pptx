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76" r:id="rId5"/>
    <p:sldId id="288" r:id="rId7"/>
    <p:sldId id="289" r:id="rId8"/>
    <p:sldId id="290" r:id="rId9"/>
    <p:sldId id="297" r:id="rId10"/>
    <p:sldId id="291" r:id="rId11"/>
    <p:sldId id="277" r:id="rId12"/>
  </p:sldIdLst>
  <p:sldSz cx="9144000" cy="6858000" type="screen4x3"/>
  <p:notesSz cx="6858000" cy="9144000"/>
  <p:custDataLst>
    <p:tags r:id="rId16"/>
  </p:custDataLst>
  <p:defaultTextStyle>
    <a:defPPr>
      <a:defRPr lang="en-US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1pPr>
    <a:lvl2pPr marL="457200" lvl="1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+mn-ea"/>
        <a:cs typeface="+mn-cs"/>
      </a:defRPr>
    </a:lvl2pPr>
    <a:lvl3pPr marL="914400" lvl="2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+mn-ea"/>
        <a:cs typeface="+mn-cs"/>
      </a:defRPr>
    </a:lvl3pPr>
    <a:lvl4pPr marL="1371600" lvl="3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+mn-ea"/>
        <a:cs typeface="+mn-cs"/>
      </a:defRPr>
    </a:lvl4pPr>
    <a:lvl5pPr marL="1828800" lvl="4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+mn-ea"/>
        <a:cs typeface="+mn-cs"/>
      </a:defRPr>
    </a:lvl5pPr>
    <a:lvl6pPr marL="2286000" lvl="5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+mn-ea"/>
        <a:cs typeface="+mn-cs"/>
      </a:defRPr>
    </a:lvl6pPr>
    <a:lvl7pPr marL="2743200" lvl="6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+mn-ea"/>
        <a:cs typeface="+mn-cs"/>
      </a:defRPr>
    </a:lvl7pPr>
    <a:lvl8pPr marL="3200400" lvl="7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+mn-ea"/>
        <a:cs typeface="+mn-cs"/>
      </a:defRPr>
    </a:lvl8pPr>
    <a:lvl9pPr marL="3657600" lvl="8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/>
    <p:restoredTop sz="94660"/>
  </p:normalViewPr>
  <p:slideViewPr>
    <p:cSldViewPr snapToGrid="0" showGuides="1">
      <p:cViewPr varScale="1">
        <p:scale>
          <a:sx n="69" d="100"/>
          <a:sy n="69" d="100"/>
        </p:scale>
        <p:origin x="1184" y="28"/>
      </p:cViewPr>
      <p:guideLst>
        <p:guide orient="horz" pos="238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0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8CDDB775-82C0-4984-AC28-1A929B8C43D3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7F00E527-DC68-4143-97C1-5E0939D58780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33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p>
            <a:pPr lvl="0"/>
            <a:endParaRPr lang="zh-CN" altLang="en-US">
              <a:ea typeface="等线" panose="02010600030101010101" charset="-122"/>
            </a:endParaRPr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33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p>
            <a:pPr lvl="0"/>
            <a:endParaRPr lang="zh-CN" altLang="en-US">
              <a:ea typeface="等线" panose="02010600030101010101" charset="-122"/>
            </a:endParaRPr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33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p>
            <a:pPr lvl="0"/>
            <a:endParaRPr lang="zh-CN" altLang="en-US">
              <a:ea typeface="等线" panose="02010600030101010101" charset="-122"/>
            </a:endParaRPr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33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p>
            <a:pPr lvl="0"/>
            <a:endParaRPr lang="zh-CN" altLang="en-US">
              <a:ea typeface="等线" panose="02010600030101010101" charset="-122"/>
            </a:endParaRPr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33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p>
            <a:pPr lvl="0"/>
            <a:endParaRPr lang="zh-CN" altLang="en-US">
              <a:ea typeface="等线" panose="02010600030101010101" charset="-122"/>
            </a:endParaRPr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33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p>
            <a:pPr lvl="0"/>
            <a:endParaRPr lang="zh-CN" altLang="en-US">
              <a:ea typeface="等线" panose="02010600030101010101" charset="-122"/>
            </a:endParaRPr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33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p>
            <a:pPr lvl="0"/>
            <a:endParaRPr lang="zh-CN" altLang="en-US">
              <a:ea typeface="等线" panose="02010600030101010101" charset="-122"/>
            </a:endParaRPr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单击以编辑母版副标题样式</a:t>
            </a:r>
            <a:endParaRPr 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en-US" strike="noStrike" noProof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en-US" strike="noStrike" noProof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en-US" strike="noStrike" noProof="1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en-US" strike="noStrike" noProof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/>
              <a:t>单击图标添加图片</a:t>
            </a:r>
            <a:endParaRPr lang="en-US" strike="noStrike" noProof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/>
          <a:p>
            <a:pPr lvl="0"/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p>
            <a:pPr lvl="0" indent="-228600"/>
            <a:r>
              <a:rPr lang="zh-CN" altLang="en-US"/>
              <a:t>编辑母版文本样式</a:t>
            </a:r>
            <a:endParaRPr lang="zh-CN" altLang="en-US"/>
          </a:p>
          <a:p>
            <a:pPr lvl="1" indent="-22860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0" y="2647950"/>
            <a:ext cx="9144000" cy="1498600"/>
          </a:xfrm>
          <a:prstGeom prst="rect">
            <a:avLst/>
          </a:prstGeom>
          <a:solidFill>
            <a:srgbClr val="007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auto"/>
            <a:endParaRPr lang="zh-CN" altLang="en-US" strike="noStrike" noProof="1">
              <a:sym typeface="+mn-ea"/>
            </a:endParaRPr>
          </a:p>
        </p:txBody>
      </p:sp>
      <p:sp>
        <p:nvSpPr>
          <p:cNvPr id="3074" name="文本框 6"/>
          <p:cNvSpPr txBox="1"/>
          <p:nvPr/>
        </p:nvSpPr>
        <p:spPr>
          <a:xfrm>
            <a:off x="393700" y="3136900"/>
            <a:ext cx="8570913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 sz="32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小鲨鱼运动健身</a:t>
            </a:r>
            <a:r>
              <a:rPr lang="zh-CN" altLang="en-US" sz="32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系统设计与实现</a:t>
            </a:r>
            <a:endParaRPr lang="en-US" altLang="zh-CN" sz="32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075" name="图片 12"/>
          <p:cNvPicPr>
            <a:picLocks noChangeAspect="1"/>
          </p:cNvPicPr>
          <p:nvPr/>
        </p:nvPicPr>
        <p:blipFill>
          <a:blip r:embed="rId1"/>
          <a:srcRect l="11800" t="-6653" r="19000" b="18163"/>
          <a:stretch>
            <a:fillRect/>
          </a:stretch>
        </p:blipFill>
        <p:spPr>
          <a:xfrm>
            <a:off x="0" y="6208713"/>
            <a:ext cx="9144000" cy="649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836294" y="236855"/>
            <a:ext cx="3487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zh-CN" altLang="en-US" sz="4000" noProof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+mn-cs"/>
              </a:rPr>
              <a:t>大连科技学院</a:t>
            </a:r>
            <a:endParaRPr lang="zh-CN" altLang="en-US" sz="4000" noProof="1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663575" y="1403350"/>
            <a:ext cx="7802563" cy="95091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900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/>
            <a:r>
              <a:rPr lang="zh-CN" altLang="en-US" sz="5400" b="1" strike="noStrike" noProof="1" dirty="0">
                <a:latin typeface="微软雅黑" panose="020B0503020204020204" charset="-122"/>
                <a:ea typeface="微软雅黑" panose="020B0503020204020204" charset="-122"/>
                <a:cs typeface="+mj-cs"/>
              </a:rPr>
              <a:t>毕业设计（论文）开题答辩</a:t>
            </a:r>
            <a:endParaRPr lang="zh-CN" altLang="en-US" sz="5400" b="1" strike="noStrike" noProof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0" name="TextBox 5"/>
          <p:cNvSpPr txBox="1"/>
          <p:nvPr/>
        </p:nvSpPr>
        <p:spPr>
          <a:xfrm>
            <a:off x="3916680" y="4270375"/>
            <a:ext cx="504825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姓    名：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sym typeface="Calibri" panose="020F050202020403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专业班级：</a:t>
            </a:r>
            <a:r>
              <a:rPr lang="zh-CN" sz="200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计算机科学与技术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专升本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)22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-1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sym typeface="Calibri" panose="020F050202020403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指导老师：于林林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sym typeface="Calibri" panose="020F050202020403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答辩日期：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2024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年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月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sym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椭圆 1"/>
          <p:cNvSpPr/>
          <p:nvPr/>
        </p:nvSpPr>
        <p:spPr>
          <a:xfrm>
            <a:off x="252413" y="2316163"/>
            <a:ext cx="1887538" cy="1874838"/>
          </a:xfrm>
          <a:prstGeom prst="ellipse">
            <a:avLst/>
          </a:prstGeom>
          <a:solidFill>
            <a:srgbClr val="007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4098" name="文本框 2"/>
          <p:cNvSpPr txBox="1"/>
          <p:nvPr/>
        </p:nvSpPr>
        <p:spPr>
          <a:xfrm>
            <a:off x="696595" y="2973070"/>
            <a:ext cx="123952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8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目录</a:t>
            </a:r>
            <a:endParaRPr lang="zh-CN" altLang="en-US" sz="28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120" name="图片 38"/>
          <p:cNvPicPr>
            <a:picLocks noChangeAspect="1"/>
          </p:cNvPicPr>
          <p:nvPr/>
        </p:nvPicPr>
        <p:blipFill>
          <a:blip r:embed="rId1"/>
          <a:srcRect l="11800" t="-6653" r="19000" b="18163"/>
          <a:stretch>
            <a:fillRect/>
          </a:stretch>
        </p:blipFill>
        <p:spPr>
          <a:xfrm>
            <a:off x="0" y="6208713"/>
            <a:ext cx="9144000" cy="649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" name="文本框 44"/>
          <p:cNvSpPr txBox="1"/>
          <p:nvPr/>
        </p:nvSpPr>
        <p:spPr>
          <a:xfrm>
            <a:off x="696278" y="236538"/>
            <a:ext cx="348773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lang="zh-CN" altLang="en-US" sz="4000" noProof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+mn-cs"/>
              </a:rPr>
              <a:t>大连科技学院</a:t>
            </a:r>
            <a:endParaRPr lang="zh-CN" altLang="en-US" sz="4000" noProof="1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926715" y="1557020"/>
            <a:ext cx="5046980" cy="546100"/>
            <a:chOff x="4609" y="2382"/>
            <a:chExt cx="7948" cy="860"/>
          </a:xfrm>
        </p:grpSpPr>
        <p:sp>
          <p:nvSpPr>
            <p:cNvPr id="23" name="圆角矩形 22"/>
            <p:cNvSpPr/>
            <p:nvPr/>
          </p:nvSpPr>
          <p:spPr>
            <a:xfrm>
              <a:off x="4609" y="2382"/>
              <a:ext cx="7949" cy="860"/>
            </a:xfrm>
            <a:prstGeom prst="roundRect">
              <a:avLst/>
            </a:prstGeom>
            <a:gradFill>
              <a:gsLst>
                <a:gs pos="50000">
                  <a:schemeClr val="accent6"/>
                </a:gs>
                <a:gs pos="0">
                  <a:schemeClr val="accent6">
                    <a:lumMod val="25000"/>
                    <a:lumOff val="75000"/>
                  </a:schemeClr>
                </a:gs>
                <a:gs pos="100000">
                  <a:schemeClr val="accent6">
                    <a:lumMod val="8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800" y="2522"/>
              <a:ext cx="1377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 b="1">
                  <a:solidFill>
                    <a:schemeClr val="bg1"/>
                  </a:solidFill>
                  <a:latin typeface="+mn-ea"/>
                </a:rPr>
                <a:t>Part1</a:t>
              </a:r>
              <a:endParaRPr lang="en-US" altLang="zh-CN" sz="1800" b="1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02" y="2522"/>
              <a:ext cx="6112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800" b="1">
                  <a:latin typeface="楷体" panose="02010609060101010101" charset="-122"/>
                  <a:ea typeface="楷体" panose="02010609060101010101" charset="-122"/>
                </a:rPr>
                <a:t>选题意义</a:t>
              </a:r>
              <a:endParaRPr lang="zh-CN" altLang="en-US" sz="18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2926715" y="2275205"/>
            <a:ext cx="5047615" cy="546100"/>
            <a:chOff x="4609" y="2382"/>
            <a:chExt cx="7949" cy="860"/>
          </a:xfrm>
        </p:grpSpPr>
        <p:sp>
          <p:nvSpPr>
            <p:cNvPr id="32" name="圆角矩形 31"/>
            <p:cNvSpPr/>
            <p:nvPr/>
          </p:nvSpPr>
          <p:spPr>
            <a:xfrm>
              <a:off x="4609" y="2382"/>
              <a:ext cx="7949" cy="860"/>
            </a:xfrm>
            <a:prstGeom prst="roundRect">
              <a:avLst/>
            </a:prstGeom>
            <a:gradFill>
              <a:gsLst>
                <a:gs pos="50000">
                  <a:schemeClr val="accent6"/>
                </a:gs>
                <a:gs pos="0">
                  <a:schemeClr val="accent6">
                    <a:lumMod val="25000"/>
                    <a:lumOff val="75000"/>
                  </a:schemeClr>
                </a:gs>
                <a:gs pos="100000">
                  <a:schemeClr val="accent6">
                    <a:lumMod val="8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4800" y="2522"/>
              <a:ext cx="1377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 b="1">
                  <a:solidFill>
                    <a:schemeClr val="bg1"/>
                  </a:solidFill>
                  <a:latin typeface="+mn-ea"/>
                </a:rPr>
                <a:t>Part2</a:t>
              </a:r>
              <a:endParaRPr lang="en-US" altLang="zh-CN" sz="1800" b="1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302" y="2522"/>
              <a:ext cx="6112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800" b="1">
                  <a:latin typeface="楷体" panose="02010609060101010101" charset="-122"/>
                  <a:ea typeface="楷体" panose="02010609060101010101" charset="-122"/>
                </a:rPr>
                <a:t>研究现</a:t>
              </a:r>
              <a:r>
                <a:rPr lang="zh-CN" altLang="en-US" sz="1800" b="1">
                  <a:latin typeface="楷体" panose="02010609060101010101" charset="-122"/>
                  <a:ea typeface="楷体" panose="02010609060101010101" charset="-122"/>
                </a:rPr>
                <a:t>状</a:t>
              </a:r>
              <a:endParaRPr lang="zh-CN" altLang="en-US" sz="18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926715" y="2993390"/>
            <a:ext cx="5047615" cy="546100"/>
            <a:chOff x="4609" y="2382"/>
            <a:chExt cx="7949" cy="860"/>
          </a:xfrm>
        </p:grpSpPr>
        <p:sp>
          <p:nvSpPr>
            <p:cNvPr id="51" name="圆角矩形 50"/>
            <p:cNvSpPr/>
            <p:nvPr>
              <p:custDataLst>
                <p:tags r:id="rId2"/>
              </p:custDataLst>
            </p:nvPr>
          </p:nvSpPr>
          <p:spPr>
            <a:xfrm>
              <a:off x="4609" y="2382"/>
              <a:ext cx="7949" cy="860"/>
            </a:xfrm>
            <a:prstGeom prst="roundRect">
              <a:avLst/>
            </a:prstGeom>
            <a:gradFill>
              <a:gsLst>
                <a:gs pos="50000">
                  <a:schemeClr val="accent6"/>
                </a:gs>
                <a:gs pos="0">
                  <a:schemeClr val="accent6">
                    <a:lumMod val="25000"/>
                    <a:lumOff val="75000"/>
                  </a:schemeClr>
                </a:gs>
                <a:gs pos="100000">
                  <a:schemeClr val="accent6">
                    <a:lumMod val="8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文本框 52"/>
            <p:cNvSpPr txBox="1"/>
            <p:nvPr>
              <p:custDataLst>
                <p:tags r:id="rId3"/>
              </p:custDataLst>
            </p:nvPr>
          </p:nvSpPr>
          <p:spPr>
            <a:xfrm>
              <a:off x="4800" y="2522"/>
              <a:ext cx="1377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 b="1">
                  <a:solidFill>
                    <a:schemeClr val="bg1"/>
                  </a:solidFill>
                  <a:latin typeface="+mn-ea"/>
                </a:rPr>
                <a:t>Part3</a:t>
              </a:r>
              <a:endParaRPr lang="en-US" altLang="zh-CN" sz="1800" b="1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4" name="文本框 53"/>
            <p:cNvSpPr txBox="1"/>
            <p:nvPr>
              <p:custDataLst>
                <p:tags r:id="rId4"/>
              </p:custDataLst>
            </p:nvPr>
          </p:nvSpPr>
          <p:spPr>
            <a:xfrm>
              <a:off x="6302" y="2522"/>
              <a:ext cx="6112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800" b="1">
                  <a:latin typeface="楷体" panose="02010609060101010101" charset="-122"/>
                  <a:ea typeface="楷体" panose="02010609060101010101" charset="-122"/>
                </a:rPr>
                <a:t>主要</a:t>
              </a:r>
              <a:r>
                <a:rPr lang="zh-CN" altLang="en-US" sz="1800" b="1">
                  <a:latin typeface="楷体" panose="02010609060101010101" charset="-122"/>
                  <a:ea typeface="楷体" panose="02010609060101010101" charset="-122"/>
                </a:rPr>
                <a:t>功能</a:t>
              </a:r>
              <a:endParaRPr lang="zh-CN" altLang="en-US" sz="18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2926715" y="3711575"/>
            <a:ext cx="5047615" cy="546100"/>
            <a:chOff x="4609" y="2382"/>
            <a:chExt cx="7949" cy="860"/>
          </a:xfrm>
        </p:grpSpPr>
        <p:sp>
          <p:nvSpPr>
            <p:cNvPr id="56" name="圆角矩形 55"/>
            <p:cNvSpPr/>
            <p:nvPr>
              <p:custDataLst>
                <p:tags r:id="rId5"/>
              </p:custDataLst>
            </p:nvPr>
          </p:nvSpPr>
          <p:spPr>
            <a:xfrm>
              <a:off x="4609" y="2382"/>
              <a:ext cx="7949" cy="860"/>
            </a:xfrm>
            <a:prstGeom prst="roundRect">
              <a:avLst/>
            </a:prstGeom>
            <a:gradFill>
              <a:gsLst>
                <a:gs pos="50000">
                  <a:schemeClr val="accent6"/>
                </a:gs>
                <a:gs pos="0">
                  <a:schemeClr val="accent6">
                    <a:lumMod val="25000"/>
                    <a:lumOff val="75000"/>
                  </a:schemeClr>
                </a:gs>
                <a:gs pos="100000">
                  <a:schemeClr val="accent6">
                    <a:lumMod val="8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文本框 56"/>
            <p:cNvSpPr txBox="1"/>
            <p:nvPr>
              <p:custDataLst>
                <p:tags r:id="rId6"/>
              </p:custDataLst>
            </p:nvPr>
          </p:nvSpPr>
          <p:spPr>
            <a:xfrm>
              <a:off x="4800" y="2522"/>
              <a:ext cx="1377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 b="1">
                  <a:solidFill>
                    <a:schemeClr val="bg1"/>
                  </a:solidFill>
                  <a:latin typeface="+mn-ea"/>
                </a:rPr>
                <a:t>Part4</a:t>
              </a:r>
              <a:endParaRPr lang="en-US" altLang="zh-CN" sz="1800" b="1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7"/>
              </p:custDataLst>
            </p:nvPr>
          </p:nvSpPr>
          <p:spPr>
            <a:xfrm>
              <a:off x="6302" y="2522"/>
              <a:ext cx="6112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800" b="1">
                  <a:latin typeface="楷体" panose="02010609060101010101" charset="-122"/>
                  <a:ea typeface="楷体" panose="02010609060101010101" charset="-122"/>
                </a:rPr>
                <a:t>拟采用</a:t>
              </a:r>
              <a:r>
                <a:rPr lang="zh-CN" altLang="en-US" sz="1800" b="1">
                  <a:latin typeface="楷体" panose="02010609060101010101" charset="-122"/>
                  <a:ea typeface="楷体" panose="02010609060101010101" charset="-122"/>
                </a:rPr>
                <a:t>技术</a:t>
              </a:r>
              <a:endParaRPr lang="zh-CN" altLang="en-US" sz="18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2926715" y="4474210"/>
            <a:ext cx="5047615" cy="546100"/>
            <a:chOff x="4609" y="2382"/>
            <a:chExt cx="7949" cy="860"/>
          </a:xfrm>
        </p:grpSpPr>
        <p:sp>
          <p:nvSpPr>
            <p:cNvPr id="60" name="圆角矩形 59"/>
            <p:cNvSpPr/>
            <p:nvPr>
              <p:custDataLst>
                <p:tags r:id="rId8"/>
              </p:custDataLst>
            </p:nvPr>
          </p:nvSpPr>
          <p:spPr>
            <a:xfrm>
              <a:off x="4609" y="2382"/>
              <a:ext cx="7949" cy="860"/>
            </a:xfrm>
            <a:prstGeom prst="roundRect">
              <a:avLst/>
            </a:prstGeom>
            <a:gradFill>
              <a:gsLst>
                <a:gs pos="50000">
                  <a:schemeClr val="accent6"/>
                </a:gs>
                <a:gs pos="0">
                  <a:schemeClr val="accent6">
                    <a:lumMod val="25000"/>
                    <a:lumOff val="75000"/>
                  </a:schemeClr>
                </a:gs>
                <a:gs pos="100000">
                  <a:schemeClr val="accent6">
                    <a:lumMod val="8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>
              <p:custDataLst>
                <p:tags r:id="rId9"/>
              </p:custDataLst>
            </p:nvPr>
          </p:nvSpPr>
          <p:spPr>
            <a:xfrm>
              <a:off x="4800" y="2522"/>
              <a:ext cx="1377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 b="1">
                  <a:solidFill>
                    <a:schemeClr val="bg1"/>
                  </a:solidFill>
                  <a:latin typeface="+mn-ea"/>
                </a:rPr>
                <a:t>Part5</a:t>
              </a:r>
              <a:endParaRPr lang="en-US" altLang="zh-CN" sz="1800" b="1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62" name="文本框 61"/>
            <p:cNvSpPr txBox="1"/>
            <p:nvPr>
              <p:custDataLst>
                <p:tags r:id="rId10"/>
              </p:custDataLst>
            </p:nvPr>
          </p:nvSpPr>
          <p:spPr>
            <a:xfrm>
              <a:off x="6302" y="2522"/>
              <a:ext cx="6112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800" b="1">
                  <a:latin typeface="楷体" panose="02010609060101010101" charset="-122"/>
                  <a:ea typeface="楷体" panose="02010609060101010101" charset="-122"/>
                </a:rPr>
                <a:t>参考文献</a:t>
              </a:r>
              <a:endParaRPr lang="zh-CN" altLang="en-US" sz="18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3" name="文本框 36"/>
          <p:cNvSpPr txBox="1"/>
          <p:nvPr/>
        </p:nvSpPr>
        <p:spPr>
          <a:xfrm>
            <a:off x="4905375" y="6470650"/>
            <a:ext cx="44132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黑龙江八一农垦大学毕业答辩模板</a:t>
            </a:r>
            <a:endParaRPr lang="zh-CN" altLang="en-US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363538" y="6638925"/>
            <a:ext cx="4857750" cy="4763"/>
          </a:xfrm>
          <a:prstGeom prst="line">
            <a:avLst/>
          </a:prstGeom>
          <a:ln w="34925" cmpd="sng">
            <a:solidFill>
              <a:schemeClr val="bg1">
                <a:lumMod val="95000"/>
                <a:alpha val="86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6" name="图片 43"/>
          <p:cNvPicPr>
            <a:picLocks noChangeAspect="1"/>
          </p:cNvPicPr>
          <p:nvPr/>
        </p:nvPicPr>
        <p:blipFill>
          <a:blip r:embed="rId1"/>
          <a:srcRect l="11800" t="-6653" r="19000" b="18163"/>
          <a:stretch>
            <a:fillRect/>
          </a:stretch>
        </p:blipFill>
        <p:spPr>
          <a:xfrm>
            <a:off x="0" y="6208713"/>
            <a:ext cx="9144000" cy="64928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2" name="直接连接符 21"/>
          <p:cNvCxnSpPr/>
          <p:nvPr/>
        </p:nvCxnSpPr>
        <p:spPr>
          <a:xfrm flipV="1">
            <a:off x="1151255" y="841375"/>
            <a:ext cx="6531610" cy="26670"/>
          </a:xfrm>
          <a:prstGeom prst="line">
            <a:avLst/>
          </a:prstGeom>
          <a:ln w="28575" cmpd="sng">
            <a:solidFill>
              <a:srgbClr val="00700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5"/>
          <p:cNvSpPr txBox="1"/>
          <p:nvPr/>
        </p:nvSpPr>
        <p:spPr>
          <a:xfrm>
            <a:off x="1235393" y="407670"/>
            <a:ext cx="1554480" cy="4603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fontAlgn="auto"/>
            <a:r>
              <a:rPr lang="zh-CN" altLang="en-US" sz="2400" b="1" spc="300" noProof="1" dirty="0">
                <a:solidFill>
                  <a:srgbClr val="00700B"/>
                </a:solidFill>
                <a:latin typeface="微软雅黑" panose="020B0503020204020204" charset="-122"/>
                <a:ea typeface="微软雅黑" panose="020B0503020204020204" charset="-122"/>
              </a:rPr>
              <a:t>选题意义</a:t>
            </a:r>
            <a:endParaRPr lang="zh-CN" altLang="en-US" sz="2400" b="1" spc="300" noProof="1" dirty="0">
              <a:solidFill>
                <a:srgbClr val="007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76020" y="1028065"/>
            <a:ext cx="6485255" cy="4408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>
                <a:sym typeface="+mn-ea"/>
              </a:rPr>
              <a:t>随着社会经济水平的不断提高和人们健康意识的普遍增强，运动健身已逐渐成为现代生活的重要组成部分。然而，许多健身初学者在面对海量的健身信息时，常常感到无所适从，缺乏系统、科学的指导，不仅浪费了大量的时间和金钱，甚至可能因不当的锻炼方式导致运动损伤。与此同时，</a:t>
            </a:r>
            <a:r>
              <a:rPr lang="zh-CN" altLang="en-US">
                <a:sym typeface="+mn-ea"/>
              </a:rPr>
              <a:t>健身教练和管理者也需要一个高效的平台来管理学员、发布内容和追踪训练效果。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endParaRPr lang="en-US" altLang="zh-CN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小鲨鱼运动健身管理系统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旨在解决这一痛点。本课题通过开发一个集用户、教练、管理员三方于一体的综合性网络平台，实现了健身知识的系统化管理、个性化训练计划的定制与追踪、以及社区互动等功能。该系统的开发具有以下几点重要意义：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ym typeface="+mn-ea"/>
              </a:rPr>
              <a:t>提升健身学习效率与科学性，降低健身成本，优化健身行业运营管理，促进健身社区的形成。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3" name="文本框 36"/>
          <p:cNvSpPr txBox="1"/>
          <p:nvPr/>
        </p:nvSpPr>
        <p:spPr>
          <a:xfrm>
            <a:off x="4905375" y="6470650"/>
            <a:ext cx="44132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黑龙江八一农垦大学毕业答辩模板</a:t>
            </a:r>
            <a:endParaRPr lang="zh-CN" altLang="en-US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363538" y="6638925"/>
            <a:ext cx="4857750" cy="4763"/>
          </a:xfrm>
          <a:prstGeom prst="line">
            <a:avLst/>
          </a:prstGeom>
          <a:ln w="34925" cmpd="sng">
            <a:solidFill>
              <a:schemeClr val="bg1">
                <a:lumMod val="95000"/>
                <a:alpha val="86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6" name="图片 43"/>
          <p:cNvPicPr>
            <a:picLocks noChangeAspect="1"/>
          </p:cNvPicPr>
          <p:nvPr/>
        </p:nvPicPr>
        <p:blipFill>
          <a:blip r:embed="rId1"/>
          <a:srcRect l="11800" t="-6653" r="19000" b="18163"/>
          <a:stretch>
            <a:fillRect/>
          </a:stretch>
        </p:blipFill>
        <p:spPr>
          <a:xfrm>
            <a:off x="0" y="6208713"/>
            <a:ext cx="9144000" cy="64928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2" name="直接连接符 21"/>
          <p:cNvCxnSpPr/>
          <p:nvPr/>
        </p:nvCxnSpPr>
        <p:spPr>
          <a:xfrm flipV="1">
            <a:off x="1151255" y="841375"/>
            <a:ext cx="6531610" cy="26670"/>
          </a:xfrm>
          <a:prstGeom prst="line">
            <a:avLst/>
          </a:prstGeom>
          <a:ln w="28575" cmpd="sng">
            <a:solidFill>
              <a:srgbClr val="00700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5"/>
          <p:cNvSpPr txBox="1"/>
          <p:nvPr/>
        </p:nvSpPr>
        <p:spPr>
          <a:xfrm>
            <a:off x="1235393" y="407670"/>
            <a:ext cx="1554480" cy="4603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fontAlgn="auto"/>
            <a:r>
              <a:rPr lang="zh-CN" altLang="en-US" sz="2400" b="1" spc="300" noProof="1" dirty="0">
                <a:solidFill>
                  <a:srgbClr val="00700B"/>
                </a:solidFill>
                <a:latin typeface="微软雅黑" panose="020B0503020204020204" charset="-122"/>
                <a:ea typeface="微软雅黑" panose="020B0503020204020204" charset="-122"/>
              </a:rPr>
              <a:t>研究现状</a:t>
            </a:r>
            <a:endParaRPr lang="zh-CN" altLang="en-US" sz="2400" b="1" spc="300" noProof="1" dirty="0">
              <a:solidFill>
                <a:srgbClr val="007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76020" y="1028065"/>
            <a:ext cx="6485255" cy="4408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在国外，运动健身应用的开发已经进入一个相对成熟的阶段，市场涌现了大量功能完善、用户体验优秀的产品。例如，</a:t>
            </a:r>
            <a:r>
              <a:rPr lang="en-US" altLang="zh-CN"/>
              <a:t>MyFitnessPal </a:t>
            </a:r>
            <a:r>
              <a:rPr lang="zh-CN" altLang="en-US"/>
              <a:t>凭借其强大的食物数据库和热量追踪功能，成为全球领先的健康管理应用之一。</a:t>
            </a:r>
            <a:r>
              <a:rPr lang="en-US" altLang="zh-CN"/>
              <a:t>Peloton </a:t>
            </a:r>
            <a:r>
              <a:rPr lang="zh-CN" altLang="en-US"/>
              <a:t>则通过</a:t>
            </a:r>
            <a:r>
              <a:rPr lang="en-US" altLang="zh-CN"/>
              <a:t>“</a:t>
            </a:r>
            <a:r>
              <a:rPr lang="zh-CN" altLang="en-US"/>
              <a:t>硬件</a:t>
            </a:r>
            <a:r>
              <a:rPr lang="en-US" altLang="zh-CN"/>
              <a:t>+</a:t>
            </a:r>
            <a:r>
              <a:rPr lang="zh-CN" altLang="en-US"/>
              <a:t>内容</a:t>
            </a:r>
            <a:r>
              <a:rPr lang="en-US" altLang="zh-CN"/>
              <a:t>+</a:t>
            </a:r>
            <a:r>
              <a:rPr lang="zh-CN" altLang="en-US"/>
              <a:t>社区</a:t>
            </a:r>
            <a:r>
              <a:rPr lang="en-US" altLang="zh-CN"/>
              <a:t>”</a:t>
            </a:r>
            <a:r>
              <a:rPr lang="zh-CN" altLang="en-US"/>
              <a:t>的模式，将智能动感单车与高质量的直播课程相结合，创造了沉浸式的家庭健身体验。此外，像</a:t>
            </a:r>
            <a:r>
              <a:rPr lang="en-US" altLang="zh-CN"/>
              <a:t> Strava </a:t>
            </a:r>
            <a:r>
              <a:rPr lang="zh-CN" altLang="en-US"/>
              <a:t>这样的应用专注于跑步和骑行等户外运动的轨迹记录与社交分享，形成了庞大的运动爱好者社区。</a:t>
            </a:r>
            <a:r>
              <a:rPr lang="" altLang="en-US"/>
              <a:t> </a:t>
            </a:r>
            <a:endParaRPr lang="" altLang="en-US"/>
          </a:p>
          <a:p>
            <a:pPr indent="457200"/>
            <a:r>
              <a:rPr lang="zh-CN" altLang="en-US"/>
              <a:t>这些国外产品的共同特点是功能集成度高、内容专业化、注重数据分析与用户社交。它们不仅提供训练指导，还延伸到饮食记录、睡眠监测、心理健康等多个维度，并通过与可穿戴设备联动，为用户提供全面的健康数据分析和个性化建议。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3" name="文本框 36"/>
          <p:cNvSpPr txBox="1"/>
          <p:nvPr/>
        </p:nvSpPr>
        <p:spPr>
          <a:xfrm>
            <a:off x="4905375" y="6470650"/>
            <a:ext cx="44132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黑龙江八一农垦大学毕业答辩模板</a:t>
            </a:r>
            <a:endParaRPr lang="zh-CN" altLang="en-US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363538" y="6638925"/>
            <a:ext cx="4857750" cy="4763"/>
          </a:xfrm>
          <a:prstGeom prst="line">
            <a:avLst/>
          </a:prstGeom>
          <a:ln w="34925" cmpd="sng">
            <a:solidFill>
              <a:schemeClr val="bg1">
                <a:lumMod val="95000"/>
                <a:alpha val="86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6" name="图片 43"/>
          <p:cNvPicPr>
            <a:picLocks noChangeAspect="1"/>
          </p:cNvPicPr>
          <p:nvPr/>
        </p:nvPicPr>
        <p:blipFill>
          <a:blip r:embed="rId1"/>
          <a:srcRect l="11800" t="-6653" r="19000" b="18163"/>
          <a:stretch>
            <a:fillRect/>
          </a:stretch>
        </p:blipFill>
        <p:spPr>
          <a:xfrm>
            <a:off x="0" y="6208713"/>
            <a:ext cx="9144000" cy="64928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2" name="直接连接符 21"/>
          <p:cNvCxnSpPr/>
          <p:nvPr/>
        </p:nvCxnSpPr>
        <p:spPr>
          <a:xfrm flipV="1">
            <a:off x="1151255" y="841375"/>
            <a:ext cx="6531610" cy="26670"/>
          </a:xfrm>
          <a:prstGeom prst="line">
            <a:avLst/>
          </a:prstGeom>
          <a:ln w="28575" cmpd="sng">
            <a:solidFill>
              <a:srgbClr val="00700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5"/>
          <p:cNvSpPr txBox="1"/>
          <p:nvPr/>
        </p:nvSpPr>
        <p:spPr>
          <a:xfrm>
            <a:off x="1235393" y="407670"/>
            <a:ext cx="3268980" cy="4603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fontAlgn="auto"/>
            <a:r>
              <a:rPr lang="zh-CN" altLang="en-US" sz="2400" b="1" spc="300" noProof="1" dirty="0">
                <a:solidFill>
                  <a:srgbClr val="00700B"/>
                </a:solidFill>
                <a:latin typeface="微软雅黑" panose="020B0503020204020204" charset="-122"/>
                <a:ea typeface="微软雅黑" panose="020B0503020204020204" charset="-122"/>
              </a:rPr>
              <a:t>研究内容与主要功能</a:t>
            </a:r>
            <a:endParaRPr lang="zh-CN" altLang="en-US" sz="2400" b="1" spc="300" noProof="1" dirty="0">
              <a:solidFill>
                <a:srgbClr val="007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" y="922020"/>
            <a:ext cx="9143365" cy="5833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管理端功能模块：</a:t>
            </a:r>
            <a:endParaRPr lang="zh-CN" altLang="en-US"/>
          </a:p>
          <a:p>
            <a:pPr indent="457200"/>
            <a:r>
              <a:rPr lang="zh-CN" altLang="en-US"/>
              <a:t>管理员认证与权限模块：实现管理员登录、权限控制等功能。</a:t>
            </a:r>
            <a:endParaRPr lang="zh-CN" altLang="en-US"/>
          </a:p>
          <a:p>
            <a:pPr indent="457200"/>
            <a:r>
              <a:rPr lang="zh-CN" altLang="en-US"/>
              <a:t>用户管理模块：对普通用户和教练信息进行增、删、改、查。</a:t>
            </a:r>
            <a:endParaRPr lang="zh-CN" altLang="en-US"/>
          </a:p>
          <a:p>
            <a:pPr indent="457200"/>
            <a:r>
              <a:rPr lang="zh-CN" altLang="en-US"/>
              <a:t>健身资料管理模块：对健身书籍、视频等教学资源进行上传、分类和维护。</a:t>
            </a:r>
            <a:endParaRPr lang="zh-CN" altLang="en-US"/>
          </a:p>
          <a:p>
            <a:pPr indent="457200"/>
            <a:r>
              <a:rPr lang="zh-CN" altLang="en-US"/>
              <a:t>内容与评论审核模块：审核用户和教练发布的动态、评论，维护社区环境。</a:t>
            </a:r>
            <a:endParaRPr lang="zh-CN" altLang="en-US"/>
          </a:p>
          <a:p>
            <a:pPr indent="457200"/>
            <a:r>
              <a:rPr lang="zh-CN" altLang="en-US"/>
              <a:t>用户端功能模块：</a:t>
            </a:r>
            <a:endParaRPr lang="zh-CN" altLang="en-US"/>
          </a:p>
          <a:p>
            <a:pPr indent="457200"/>
            <a:r>
              <a:rPr lang="zh-CN" altLang="en-US"/>
              <a:t>用户认证模块：实现用户注册、登录、忘记密码等功能。</a:t>
            </a:r>
            <a:endParaRPr lang="zh-CN" altLang="en-US"/>
          </a:p>
          <a:p>
            <a:pPr indent="457200"/>
            <a:r>
              <a:rPr lang="zh-CN" altLang="en-US"/>
              <a:t>个人中心模块：用户可以编辑个人资料、查看我的计划、我的收藏等。</a:t>
            </a:r>
            <a:endParaRPr lang="zh-CN" altLang="en-US"/>
          </a:p>
          <a:p>
            <a:pPr indent="457200"/>
            <a:r>
              <a:rPr lang="zh-CN" altLang="en-US"/>
              <a:t>首页内容展示模块：展示推荐的健身资料、热门动态等。</a:t>
            </a:r>
            <a:endParaRPr lang="zh-CN" altLang="en-US"/>
          </a:p>
          <a:p>
            <a:pPr indent="457200"/>
            <a:r>
              <a:rPr lang="zh-CN" altLang="en-US"/>
              <a:t>健身资料浏览与管理模块：用户可以浏览、搜索、收藏健身资料，并将其加入个人计划。</a:t>
            </a:r>
            <a:endParaRPr lang="zh-CN" altLang="en-US"/>
          </a:p>
          <a:p>
            <a:pPr indent="457200"/>
            <a:r>
              <a:rPr lang="zh-CN" altLang="en-US"/>
              <a:t>教练端功能模块：</a:t>
            </a:r>
            <a:endParaRPr lang="zh-CN" altLang="en-US"/>
          </a:p>
          <a:p>
            <a:pPr indent="457200"/>
            <a:r>
              <a:rPr lang="zh-CN" altLang="en-US"/>
              <a:t>教练认证模块：实现教练的注册、登录及资质认证。</a:t>
            </a:r>
            <a:endParaRPr lang="zh-CN" altLang="en-US"/>
          </a:p>
          <a:p>
            <a:pPr indent="457200"/>
            <a:r>
              <a:rPr lang="zh-CN" altLang="en-US"/>
              <a:t>个人资料模块：教练可以编辑和展示自己的专业背景、特长等。</a:t>
            </a:r>
            <a:endParaRPr lang="zh-CN" altLang="en-US"/>
          </a:p>
          <a:p>
            <a:pPr indent="457200"/>
            <a:r>
              <a:rPr lang="zh-CN" altLang="en-US"/>
              <a:t>学员管理模块：管理名下学员，查看学员的训练数据和进度。</a:t>
            </a:r>
            <a:endParaRPr lang="zh-CN" altLang="en-US"/>
          </a:p>
          <a:p>
            <a:pPr indent="457200"/>
            <a:r>
              <a:rPr lang="zh-CN" altLang="en-US"/>
              <a:t>训练计划定制与管理模块：为学员量身定制专业的训练计划。</a:t>
            </a:r>
            <a:endParaRPr lang="zh-CN" altLang="en-US"/>
          </a:p>
          <a:p>
            <a:pPr indent="457200"/>
            <a:r>
              <a:rPr lang="zh-CN" altLang="en-US"/>
              <a:t>进度追踪与数据分析模块：通过图表等形式直观展示学员的训练成果。</a:t>
            </a:r>
            <a:endParaRPr lang="zh-CN" altLang="en-US"/>
          </a:p>
          <a:p>
            <a:pPr indent="457200"/>
            <a:r>
              <a:rPr lang="zh-CN" altLang="en-US"/>
              <a:t>内容创作与知识库模块：教练可以发布专业的健身文章或视频，构建个人知识库。</a:t>
            </a:r>
            <a:endParaRPr lang="zh-CN" altLang="en-US"/>
          </a:p>
          <a:p>
            <a:pPr indent="457200"/>
            <a:r>
              <a:rPr lang="zh-CN" altLang="en-US"/>
              <a:t>专业认证模块：上传和管理相关专业资格证书。</a:t>
            </a:r>
            <a:endParaRPr lang="zh-CN" altLang="en-US"/>
          </a:p>
          <a:p>
            <a:pPr indent="457200"/>
            <a:r>
              <a:rPr lang="zh-CN" altLang="en-US"/>
              <a:t>社区互动模块：在社区中回答用户问题，进行专业指导。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3" name="文本框 36"/>
          <p:cNvSpPr txBox="1"/>
          <p:nvPr/>
        </p:nvSpPr>
        <p:spPr>
          <a:xfrm>
            <a:off x="4905375" y="6470650"/>
            <a:ext cx="44132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黑龙江八一农垦大学毕业答辩模板</a:t>
            </a:r>
            <a:endParaRPr lang="zh-CN" altLang="en-US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363538" y="6638925"/>
            <a:ext cx="4857750" cy="4763"/>
          </a:xfrm>
          <a:prstGeom prst="line">
            <a:avLst/>
          </a:prstGeom>
          <a:ln w="34925" cmpd="sng">
            <a:solidFill>
              <a:schemeClr val="bg1">
                <a:lumMod val="95000"/>
                <a:alpha val="86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6" name="图片 43"/>
          <p:cNvPicPr>
            <a:picLocks noChangeAspect="1"/>
          </p:cNvPicPr>
          <p:nvPr/>
        </p:nvPicPr>
        <p:blipFill>
          <a:blip r:embed="rId1"/>
          <a:srcRect l="11800" t="-6653" r="19000" b="18163"/>
          <a:stretch>
            <a:fillRect/>
          </a:stretch>
        </p:blipFill>
        <p:spPr>
          <a:xfrm>
            <a:off x="0" y="6208713"/>
            <a:ext cx="9144000" cy="64928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2" name="直接连接符 21"/>
          <p:cNvCxnSpPr/>
          <p:nvPr/>
        </p:nvCxnSpPr>
        <p:spPr>
          <a:xfrm flipV="1">
            <a:off x="1151255" y="841375"/>
            <a:ext cx="6531610" cy="26670"/>
          </a:xfrm>
          <a:prstGeom prst="line">
            <a:avLst/>
          </a:prstGeom>
          <a:ln w="28575" cmpd="sng">
            <a:solidFill>
              <a:srgbClr val="00700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5"/>
          <p:cNvSpPr txBox="1"/>
          <p:nvPr/>
        </p:nvSpPr>
        <p:spPr>
          <a:xfrm>
            <a:off x="1235393" y="407670"/>
            <a:ext cx="1897380" cy="4603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fontAlgn="auto"/>
            <a:r>
              <a:rPr lang="zh-CN" altLang="en-US" sz="2400" b="1" spc="300" noProof="1" dirty="0">
                <a:solidFill>
                  <a:srgbClr val="00700B"/>
                </a:solidFill>
                <a:latin typeface="微软雅黑" panose="020B0503020204020204" charset="-122"/>
                <a:ea typeface="微软雅黑" panose="020B0503020204020204" charset="-122"/>
              </a:rPr>
              <a:t>功能结构</a:t>
            </a:r>
            <a:r>
              <a:rPr lang="zh-CN" altLang="en-US" sz="2400" b="1" spc="300" noProof="1" dirty="0">
                <a:solidFill>
                  <a:srgbClr val="00700B"/>
                </a:solidFill>
                <a:latin typeface="微软雅黑" panose="020B0503020204020204" charset="-122"/>
                <a:ea typeface="微软雅黑" panose="020B0503020204020204" charset="-122"/>
              </a:rPr>
              <a:t>图</a:t>
            </a:r>
            <a:endParaRPr lang="zh-CN" altLang="en-US" sz="2400" b="1" spc="300" noProof="1" dirty="0">
              <a:solidFill>
                <a:srgbClr val="007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76020" y="1028065"/>
            <a:ext cx="6485255" cy="4408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endParaRPr lang="zh-CN" alt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3" name="文本框 36"/>
          <p:cNvSpPr txBox="1"/>
          <p:nvPr/>
        </p:nvSpPr>
        <p:spPr>
          <a:xfrm>
            <a:off x="4905375" y="6470650"/>
            <a:ext cx="44132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黑龙江八一农垦大学毕业答辩模板</a:t>
            </a:r>
            <a:endParaRPr lang="zh-CN" altLang="en-US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363538" y="6638925"/>
            <a:ext cx="4857750" cy="4763"/>
          </a:xfrm>
          <a:prstGeom prst="line">
            <a:avLst/>
          </a:prstGeom>
          <a:ln w="34925" cmpd="sng">
            <a:solidFill>
              <a:schemeClr val="bg1">
                <a:lumMod val="95000"/>
                <a:alpha val="86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6" name="图片 43"/>
          <p:cNvPicPr>
            <a:picLocks noChangeAspect="1"/>
          </p:cNvPicPr>
          <p:nvPr/>
        </p:nvPicPr>
        <p:blipFill>
          <a:blip r:embed="rId1"/>
          <a:srcRect l="11800" t="-6653" r="19000" b="18163"/>
          <a:stretch>
            <a:fillRect/>
          </a:stretch>
        </p:blipFill>
        <p:spPr>
          <a:xfrm>
            <a:off x="0" y="6208713"/>
            <a:ext cx="9144000" cy="64928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2" name="直接连接符 21"/>
          <p:cNvCxnSpPr/>
          <p:nvPr/>
        </p:nvCxnSpPr>
        <p:spPr>
          <a:xfrm flipV="1">
            <a:off x="1151255" y="841375"/>
            <a:ext cx="6531610" cy="26670"/>
          </a:xfrm>
          <a:prstGeom prst="line">
            <a:avLst/>
          </a:prstGeom>
          <a:ln w="28575" cmpd="sng">
            <a:solidFill>
              <a:srgbClr val="00700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5"/>
          <p:cNvSpPr txBox="1"/>
          <p:nvPr/>
        </p:nvSpPr>
        <p:spPr>
          <a:xfrm>
            <a:off x="1235393" y="407670"/>
            <a:ext cx="1897380" cy="4603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fontAlgn="auto"/>
            <a:r>
              <a:rPr lang="zh-CN" altLang="en-US" sz="2400" b="1" spc="300" noProof="1" dirty="0">
                <a:solidFill>
                  <a:srgbClr val="00700B"/>
                </a:solidFill>
                <a:latin typeface="微软雅黑" panose="020B0503020204020204" charset="-122"/>
                <a:ea typeface="微软雅黑" panose="020B0503020204020204" charset="-122"/>
              </a:rPr>
              <a:t>拟采用技术</a:t>
            </a:r>
            <a:endParaRPr lang="zh-CN" altLang="en-US" sz="2400" b="1" spc="300" noProof="1" dirty="0">
              <a:solidFill>
                <a:srgbClr val="007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76020" y="1028065"/>
            <a:ext cx="6485255" cy="4408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本系统主要采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用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</a:rPr>
              <a:t>本系统计划采用 SpringBoot + Vue + MySQL 的技术栈。这些都是当今主流、成熟的Web开发技术，拥有丰富的开源社区支持和海量的技术文档。开发工具如IntelliJ IDEA、VSCode等功能强大且易于获取。因此，从技术角度来看，本课题的实现不存在难以逾越的障碍。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3" name="文本框 36"/>
          <p:cNvSpPr txBox="1"/>
          <p:nvPr/>
        </p:nvSpPr>
        <p:spPr>
          <a:xfrm>
            <a:off x="4905375" y="6470650"/>
            <a:ext cx="44132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黑龙江八一农垦大学毕业答辩模板</a:t>
            </a:r>
            <a:endParaRPr lang="zh-CN" altLang="en-US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363538" y="6638925"/>
            <a:ext cx="4857750" cy="4763"/>
          </a:xfrm>
          <a:prstGeom prst="line">
            <a:avLst/>
          </a:prstGeom>
          <a:ln w="34925" cmpd="sng">
            <a:solidFill>
              <a:schemeClr val="bg1">
                <a:lumMod val="95000"/>
                <a:alpha val="86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6" name="图片 43"/>
          <p:cNvPicPr>
            <a:picLocks noChangeAspect="1"/>
          </p:cNvPicPr>
          <p:nvPr/>
        </p:nvPicPr>
        <p:blipFill>
          <a:blip r:embed="rId1"/>
          <a:srcRect l="11800" t="-6653" r="19000" b="18163"/>
          <a:stretch>
            <a:fillRect/>
          </a:stretch>
        </p:blipFill>
        <p:spPr>
          <a:xfrm>
            <a:off x="0" y="6208713"/>
            <a:ext cx="9144000" cy="64928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2" name="直接连接符 21"/>
          <p:cNvCxnSpPr/>
          <p:nvPr/>
        </p:nvCxnSpPr>
        <p:spPr>
          <a:xfrm flipV="1">
            <a:off x="1151255" y="841375"/>
            <a:ext cx="6531610" cy="26670"/>
          </a:xfrm>
          <a:prstGeom prst="line">
            <a:avLst/>
          </a:prstGeom>
          <a:ln w="28575" cmpd="sng">
            <a:solidFill>
              <a:srgbClr val="00700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5"/>
          <p:cNvSpPr txBox="1"/>
          <p:nvPr/>
        </p:nvSpPr>
        <p:spPr>
          <a:xfrm>
            <a:off x="1235393" y="407670"/>
            <a:ext cx="1554480" cy="4603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fontAlgn="auto"/>
            <a:r>
              <a:rPr lang="zh-CN" altLang="en-US" sz="2400" b="1" spc="300" noProof="1" dirty="0">
                <a:solidFill>
                  <a:srgbClr val="00700B"/>
                </a:solidFill>
                <a:latin typeface="微软雅黑" panose="020B0503020204020204" charset="-122"/>
                <a:ea typeface="微软雅黑" panose="020B0503020204020204" charset="-122"/>
              </a:rPr>
              <a:t>参考文献</a:t>
            </a:r>
            <a:endParaRPr lang="zh-CN" altLang="en-US" sz="2400" b="1" spc="300" noProof="1" dirty="0">
              <a:solidFill>
                <a:srgbClr val="007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1028065"/>
            <a:ext cx="9015730" cy="4408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/>
              <a:t>[1] </a:t>
            </a:r>
            <a:r>
              <a:rPr lang="zh-CN" altLang="en-US"/>
              <a:t>胡成文</a:t>
            </a:r>
            <a:r>
              <a:rPr lang="en-US" altLang="zh-CN"/>
              <a:t>, </a:t>
            </a:r>
            <a:r>
              <a:rPr lang="zh-CN" altLang="en-US"/>
              <a:t>徐灿</a:t>
            </a:r>
            <a:r>
              <a:rPr lang="en-US" altLang="zh-CN"/>
              <a:t>. </a:t>
            </a:r>
            <a:r>
              <a:rPr lang="zh-CN" altLang="en-US"/>
              <a:t>基于微信小程序的高校运动健身管理网页系统</a:t>
            </a:r>
            <a:r>
              <a:rPr lang="en-US" altLang="zh-CN"/>
              <a:t>App</a:t>
            </a:r>
            <a:r>
              <a:rPr lang="zh-CN" altLang="en-US"/>
              <a:t>的设计与实现</a:t>
            </a:r>
            <a:r>
              <a:rPr lang="en-US" altLang="zh-CN"/>
              <a:t>[J]. </a:t>
            </a:r>
            <a:r>
              <a:rPr lang="zh-CN" altLang="en-US"/>
              <a:t>信息与电脑</a:t>
            </a:r>
            <a:r>
              <a:rPr lang="en-US" altLang="zh-CN"/>
              <a:t>(</a:t>
            </a:r>
            <a:r>
              <a:rPr lang="zh-CN" altLang="en-US"/>
              <a:t>理论版</a:t>
            </a:r>
            <a:r>
              <a:rPr lang="en-US" altLang="zh-CN"/>
              <a:t>), 2023, 35 (02): 137-140. </a:t>
            </a:r>
            <a:endParaRPr lang="en-US" altLang="zh-CN"/>
          </a:p>
          <a:p>
            <a:pPr indent="457200"/>
            <a:r>
              <a:rPr lang="en-US" altLang="zh-CN"/>
              <a:t>[2] </a:t>
            </a:r>
            <a:r>
              <a:rPr lang="zh-CN" altLang="en-US"/>
              <a:t>包文夏</a:t>
            </a:r>
            <a:r>
              <a:rPr lang="en-US" altLang="zh-CN"/>
              <a:t>, </a:t>
            </a:r>
            <a:r>
              <a:rPr lang="zh-CN" altLang="en-US"/>
              <a:t>吴梓恩</a:t>
            </a:r>
            <a:r>
              <a:rPr lang="en-US" altLang="zh-CN"/>
              <a:t>, </a:t>
            </a:r>
            <a:r>
              <a:rPr lang="zh-CN" altLang="en-US"/>
              <a:t>朱宝怡</a:t>
            </a:r>
            <a:r>
              <a:rPr lang="en-US" altLang="zh-CN"/>
              <a:t>. </a:t>
            </a:r>
            <a:r>
              <a:rPr lang="zh-CN" altLang="en-US"/>
              <a:t>基于</a:t>
            </a:r>
            <a:r>
              <a:rPr lang="en-US" altLang="zh-CN"/>
              <a:t>Axure</a:t>
            </a:r>
            <a:r>
              <a:rPr lang="zh-CN" altLang="en-US"/>
              <a:t>平台的运动健身管理网页系统</a:t>
            </a:r>
            <a:r>
              <a:rPr lang="en-US" altLang="zh-CN"/>
              <a:t>APP</a:t>
            </a:r>
            <a:r>
              <a:rPr lang="zh-CN" altLang="en-US"/>
              <a:t>原型设计</a:t>
            </a:r>
            <a:r>
              <a:rPr lang="en-US" altLang="zh-CN"/>
              <a:t>[J]. </a:t>
            </a:r>
            <a:r>
              <a:rPr lang="zh-CN" altLang="en-US"/>
              <a:t>办公自动化</a:t>
            </a:r>
            <a:r>
              <a:rPr lang="en-US" altLang="zh-CN"/>
              <a:t>, 2022, 27 (08): 15-18. </a:t>
            </a:r>
            <a:endParaRPr lang="en-US" altLang="zh-CN"/>
          </a:p>
          <a:p>
            <a:pPr indent="457200"/>
            <a:r>
              <a:rPr lang="en-US" altLang="zh-CN"/>
              <a:t>[3] </a:t>
            </a:r>
            <a:r>
              <a:rPr lang="zh-CN" altLang="en-US"/>
              <a:t>魏瑾言</a:t>
            </a:r>
            <a:r>
              <a:rPr lang="en-US" altLang="zh-CN"/>
              <a:t>, </a:t>
            </a:r>
            <a:r>
              <a:rPr lang="zh-CN" altLang="en-US"/>
              <a:t>刘贺</a:t>
            </a:r>
            <a:r>
              <a:rPr lang="en-US" altLang="zh-CN"/>
              <a:t>, </a:t>
            </a:r>
            <a:r>
              <a:rPr lang="zh-CN" altLang="en-US"/>
              <a:t>李爱英</a:t>
            </a:r>
            <a:r>
              <a:rPr lang="en-US" altLang="zh-CN"/>
              <a:t>, </a:t>
            </a:r>
            <a:r>
              <a:rPr lang="zh-CN" altLang="en-US"/>
              <a:t>朱雪娇</a:t>
            </a:r>
            <a:r>
              <a:rPr lang="en-US" altLang="zh-CN"/>
              <a:t>, </a:t>
            </a:r>
            <a:r>
              <a:rPr lang="zh-CN" altLang="en-US"/>
              <a:t>姚海波</a:t>
            </a:r>
            <a:r>
              <a:rPr lang="en-US" altLang="zh-CN"/>
              <a:t>. </a:t>
            </a:r>
            <a:r>
              <a:rPr lang="zh-CN" altLang="en-US"/>
              <a:t>运动健身管理网页系统</a:t>
            </a:r>
            <a:r>
              <a:rPr lang="en-US" altLang="zh-CN"/>
              <a:t>APP</a:t>
            </a:r>
            <a:r>
              <a:rPr lang="zh-CN" altLang="en-US"/>
              <a:t>系统分析与设计</a:t>
            </a:r>
            <a:r>
              <a:rPr lang="en-US" altLang="zh-CN"/>
              <a:t>[J]. </a:t>
            </a:r>
            <a:r>
              <a:rPr lang="zh-CN" altLang="en-US"/>
              <a:t>中小企业管理与科技</a:t>
            </a:r>
            <a:r>
              <a:rPr lang="en-US" altLang="zh-CN"/>
              <a:t>(</a:t>
            </a:r>
            <a:r>
              <a:rPr lang="zh-CN" altLang="en-US"/>
              <a:t>上旬刊</a:t>
            </a:r>
            <a:r>
              <a:rPr lang="en-US" altLang="zh-CN"/>
              <a:t>), 2021, (02): 188-189.</a:t>
            </a:r>
            <a:endParaRPr lang="en-US" altLang="zh-CN"/>
          </a:p>
          <a:p>
            <a:pPr indent="457200"/>
            <a:r>
              <a:rPr lang="en-US" altLang="zh-CN"/>
              <a:t>[4] </a:t>
            </a:r>
            <a:r>
              <a:rPr lang="zh-CN" altLang="en-US"/>
              <a:t>尹应荆</a:t>
            </a:r>
            <a:r>
              <a:rPr lang="en-US" altLang="zh-CN"/>
              <a:t>. JAVA</a:t>
            </a:r>
            <a:r>
              <a:rPr lang="zh-CN" altLang="en-US"/>
              <a:t>编程语言在计算机软件开发中的应用</a:t>
            </a:r>
            <a:r>
              <a:rPr lang="en-US" altLang="zh-CN"/>
              <a:t>[J]. </a:t>
            </a:r>
            <a:r>
              <a:rPr lang="zh-CN" altLang="en-US"/>
              <a:t>石河子科技</a:t>
            </a:r>
            <a:r>
              <a:rPr lang="en-US" altLang="zh-CN"/>
              <a:t>, 2023, (05): 45-47. </a:t>
            </a:r>
            <a:endParaRPr lang="en-US" altLang="zh-CN"/>
          </a:p>
          <a:p>
            <a:pPr indent="457200"/>
            <a:r>
              <a:rPr lang="en-US" altLang="zh-CN"/>
              <a:t>[5] </a:t>
            </a:r>
            <a:r>
              <a:rPr lang="zh-CN" altLang="en-US"/>
              <a:t>袁琳琳</a:t>
            </a:r>
            <a:r>
              <a:rPr lang="en-US" altLang="zh-CN"/>
              <a:t>. </a:t>
            </a:r>
            <a:r>
              <a:rPr lang="zh-CN" altLang="en-US"/>
              <a:t>浅析</a:t>
            </a:r>
            <a:r>
              <a:rPr lang="en-US" altLang="zh-CN"/>
              <a:t>Java</a:t>
            </a:r>
            <a:r>
              <a:rPr lang="zh-CN" altLang="en-US"/>
              <a:t>语言在计算机软件开发中的应用</a:t>
            </a:r>
            <a:r>
              <a:rPr lang="en-US" altLang="zh-CN"/>
              <a:t>[J]. </a:t>
            </a:r>
            <a:r>
              <a:rPr lang="zh-CN" altLang="en-US"/>
              <a:t>信息记录材料</a:t>
            </a:r>
            <a:r>
              <a:rPr lang="en-US" altLang="zh-CN"/>
              <a:t>, 2023, 24 (09): 81-83.</a:t>
            </a:r>
            <a:endParaRPr lang="en-US" altLang="zh-CN"/>
          </a:p>
          <a:p>
            <a:pPr indent="457200"/>
            <a:r>
              <a:rPr lang="en-US" altLang="zh-CN"/>
              <a:t>[6] </a:t>
            </a:r>
            <a:r>
              <a:rPr lang="zh-CN" altLang="en-US"/>
              <a:t>陈蓓蕾</a:t>
            </a:r>
            <a:r>
              <a:rPr lang="en-US" altLang="zh-CN"/>
              <a:t>, </a:t>
            </a:r>
            <a:r>
              <a:rPr lang="zh-CN" altLang="en-US"/>
              <a:t>洪年松</a:t>
            </a:r>
            <a:r>
              <a:rPr lang="en-US" altLang="zh-CN"/>
              <a:t>. </a:t>
            </a:r>
            <a:r>
              <a:rPr lang="zh-CN" altLang="en-US"/>
              <a:t>基于</a:t>
            </a:r>
            <a:r>
              <a:rPr lang="en-US" altLang="zh-CN"/>
              <a:t>SpringBoot</a:t>
            </a:r>
            <a:r>
              <a:rPr lang="zh-CN" altLang="en-US"/>
              <a:t>的数据库接口设计</a:t>
            </a:r>
            <a:r>
              <a:rPr lang="en-US" altLang="zh-CN"/>
              <a:t>[J]. </a:t>
            </a:r>
            <a:r>
              <a:rPr lang="zh-CN" altLang="en-US"/>
              <a:t>信息与电脑</a:t>
            </a:r>
            <a:r>
              <a:rPr lang="en-US" altLang="zh-CN"/>
              <a:t>(</a:t>
            </a:r>
            <a:r>
              <a:rPr lang="zh-CN" altLang="en-US"/>
              <a:t>理论版</a:t>
            </a:r>
            <a:r>
              <a:rPr lang="en-US" altLang="zh-CN"/>
              <a:t>), 2023, 35 (16): 181-183. </a:t>
            </a:r>
            <a:endParaRPr lang="en-US" altLang="zh-CN"/>
          </a:p>
          <a:p>
            <a:pPr indent="457200"/>
            <a:r>
              <a:rPr lang="en-US" altLang="zh-CN"/>
              <a:t>[7] </a:t>
            </a:r>
            <a:r>
              <a:rPr lang="zh-CN" altLang="en-US"/>
              <a:t>刘汀</a:t>
            </a:r>
            <a:r>
              <a:rPr lang="en-US" altLang="zh-CN"/>
              <a:t>. </a:t>
            </a:r>
            <a:r>
              <a:rPr lang="zh-CN" altLang="en-US"/>
              <a:t>基于</a:t>
            </a:r>
            <a:r>
              <a:rPr lang="en-US" altLang="zh-CN"/>
              <a:t>SpringBoot</a:t>
            </a:r>
            <a:r>
              <a:rPr lang="zh-CN" altLang="en-US"/>
              <a:t>的微服务体系在企业信息管理系统中的应用</a:t>
            </a:r>
            <a:r>
              <a:rPr lang="en-US" altLang="zh-CN"/>
              <a:t>[J]. </a:t>
            </a:r>
            <a:r>
              <a:rPr lang="zh-CN" altLang="en-US"/>
              <a:t>信息技术与信息化</a:t>
            </a:r>
            <a:r>
              <a:rPr lang="en-US" altLang="zh-CN"/>
              <a:t>, 2023, (05): 23-26. </a:t>
            </a:r>
            <a:endParaRPr lang="en-US" altLang="zh-CN"/>
          </a:p>
          <a:p>
            <a:pPr indent="457200"/>
            <a:r>
              <a:rPr lang="en-US" altLang="zh-CN"/>
              <a:t>[8] </a:t>
            </a:r>
            <a:r>
              <a:rPr lang="zh-CN" altLang="en-US"/>
              <a:t>王志亮</a:t>
            </a:r>
            <a:r>
              <a:rPr lang="en-US" altLang="zh-CN"/>
              <a:t>, </a:t>
            </a:r>
            <a:r>
              <a:rPr lang="zh-CN" altLang="en-US"/>
              <a:t>纪松波</a:t>
            </a:r>
            <a:r>
              <a:rPr lang="en-US" altLang="zh-CN"/>
              <a:t>. </a:t>
            </a:r>
            <a:r>
              <a:rPr lang="zh-CN" altLang="en-US"/>
              <a:t>基于</a:t>
            </a:r>
            <a:r>
              <a:rPr lang="en-US" altLang="zh-CN"/>
              <a:t>SpringBoot</a:t>
            </a:r>
            <a:r>
              <a:rPr lang="zh-CN" altLang="en-US"/>
              <a:t>的</a:t>
            </a:r>
            <a:r>
              <a:rPr lang="en-US" altLang="zh-CN"/>
              <a:t>Web</a:t>
            </a:r>
            <a:r>
              <a:rPr lang="zh-CN" altLang="en-US"/>
              <a:t>前端与数据库的接口设计</a:t>
            </a:r>
            <a:r>
              <a:rPr lang="en-US" altLang="zh-CN"/>
              <a:t>[J]. </a:t>
            </a:r>
            <a:r>
              <a:rPr lang="zh-CN" altLang="en-US"/>
              <a:t>工业控制计算机</a:t>
            </a:r>
            <a:r>
              <a:rPr lang="en-US" altLang="zh-CN"/>
              <a:t>, 2023, 36 (03): 51-53. </a:t>
            </a:r>
            <a:endParaRPr lang="en-US" altLang="zh-CN"/>
          </a:p>
          <a:p>
            <a:pPr indent="457200"/>
            <a:r>
              <a:rPr lang="en-US" altLang="zh-CN"/>
              <a:t>[9] </a:t>
            </a:r>
            <a:r>
              <a:rPr lang="zh-CN" altLang="en-US"/>
              <a:t>邱丹萍</a:t>
            </a:r>
            <a:r>
              <a:rPr lang="en-US" altLang="zh-CN"/>
              <a:t>. Web</a:t>
            </a:r>
            <a:r>
              <a:rPr lang="zh-CN" altLang="en-US"/>
              <a:t>开发中</a:t>
            </a:r>
            <a:r>
              <a:rPr lang="en-US" altLang="zh-CN"/>
              <a:t>SSM</a:t>
            </a:r>
            <a:r>
              <a:rPr lang="zh-CN" altLang="en-US"/>
              <a:t>框架的分析</a:t>
            </a:r>
            <a:r>
              <a:rPr lang="en-US" altLang="zh-CN"/>
              <a:t>[J]. </a:t>
            </a:r>
            <a:r>
              <a:rPr lang="zh-CN" altLang="en-US"/>
              <a:t>电脑知识与技术</a:t>
            </a:r>
            <a:r>
              <a:rPr lang="en-US" altLang="zh-CN"/>
              <a:t>, 2020, 16 (17): 81-82. (</a:t>
            </a:r>
            <a:r>
              <a:rPr lang="zh-CN" altLang="en-US"/>
              <a:t>虽然</a:t>
            </a:r>
            <a:r>
              <a:rPr lang="en-US" altLang="zh-CN"/>
              <a:t>SSM</a:t>
            </a:r>
            <a:r>
              <a:rPr lang="zh-CN" altLang="en-US"/>
              <a:t>是</a:t>
            </a:r>
            <a:r>
              <a:rPr lang="en-US" altLang="zh-CN"/>
              <a:t>SpringBoot</a:t>
            </a:r>
            <a:r>
              <a:rPr lang="zh-CN" altLang="en-US"/>
              <a:t>的前身，但其分层思想仍有参考价值，可用于对比论述</a:t>
            </a:r>
            <a:r>
              <a:rPr lang="en-US" altLang="zh-CN"/>
              <a:t>)</a:t>
            </a:r>
            <a:endParaRPr lang="en-US" altLang="zh-CN"/>
          </a:p>
          <a:p>
            <a:pPr indent="457200"/>
            <a:r>
              <a:rPr lang="en-US" altLang="zh-CN"/>
              <a:t>[10] Zmaranda Doina R., Moisi Cristian I., Gy</a:t>
            </a:r>
            <a:r>
              <a:rPr lang="" altLang="en-US"/>
              <a:t>ő</a:t>
            </a:r>
            <a:r>
              <a:rPr lang="en-US" altLang="zh-CN"/>
              <a:t>r</a:t>
            </a:r>
            <a:r>
              <a:rPr lang="en-US" altLang="en-US"/>
              <a:t>ö</a:t>
            </a:r>
            <a:r>
              <a:rPr lang="en-US" altLang="zh-CN"/>
              <a:t>di Cornelia A., Gy</a:t>
            </a:r>
            <a:r>
              <a:rPr lang="" altLang="en-US"/>
              <a:t>ő</a:t>
            </a:r>
            <a:r>
              <a:rPr lang="en-US" altLang="zh-CN"/>
              <a:t>r</a:t>
            </a:r>
            <a:r>
              <a:rPr lang="en-US" altLang="en-US"/>
              <a:t>ö</a:t>
            </a:r>
            <a:r>
              <a:rPr lang="en-US" altLang="zh-CN"/>
              <a:t>di Robert </a:t>
            </a:r>
            <a:r>
              <a:rPr lang="" altLang="en-US"/>
              <a:t>Ş</a:t>
            </a:r>
            <a:r>
              <a:rPr lang="en-US" altLang="zh-CN"/>
              <a:t>., Bandici Livia. An Analysis of the Performance and Configuration Features of MySQL Document Store and Elasticsearch as an alternative Backend in a Data Replication Solution[J]. Applied Sciences, 2021, 11 (24): 11590-11590.</a:t>
            </a:r>
            <a:endParaRPr lang="en-US" altLang="zh-CN"/>
          </a:p>
          <a:p>
            <a:pPr indent="457200"/>
            <a:r>
              <a:rPr lang="en-US" altLang="zh-CN"/>
              <a:t>[11] </a:t>
            </a:r>
            <a:r>
              <a:rPr lang="zh-CN" altLang="en-US"/>
              <a:t>张伟</a:t>
            </a:r>
            <a:r>
              <a:rPr lang="en-US" altLang="zh-CN"/>
              <a:t>, </a:t>
            </a:r>
            <a:r>
              <a:rPr lang="zh-CN" altLang="en-US"/>
              <a:t>李强</a:t>
            </a:r>
            <a:r>
              <a:rPr lang="en-US" altLang="zh-CN"/>
              <a:t>. </a:t>
            </a:r>
            <a:r>
              <a:rPr lang="zh-CN" altLang="en-US"/>
              <a:t>基于</a:t>
            </a:r>
            <a:r>
              <a:rPr lang="en-US" altLang="zh-CN"/>
              <a:t>Vue</a:t>
            </a:r>
            <a:r>
              <a:rPr lang="zh-CN" altLang="en-US"/>
              <a:t>和</a:t>
            </a:r>
            <a:r>
              <a:rPr lang="en-US" altLang="zh-CN"/>
              <a:t>SpringBoot</a:t>
            </a:r>
            <a:r>
              <a:rPr lang="zh-CN" altLang="en-US"/>
              <a:t>的健身俱乐部管理系统的设计与实现</a:t>
            </a:r>
            <a:r>
              <a:rPr lang="en-US" altLang="zh-CN"/>
              <a:t>[J]. </a:t>
            </a:r>
            <a:r>
              <a:rPr lang="zh-CN" altLang="en-US"/>
              <a:t>计算机与现代化</a:t>
            </a:r>
            <a:r>
              <a:rPr lang="en-US" altLang="zh-CN"/>
              <a:t>, 2023, (07): 78-82.</a:t>
            </a:r>
            <a:endParaRPr lang="en-US" altLang="zh-CN"/>
          </a:p>
          <a:p>
            <a:pPr indent="457200"/>
            <a:r>
              <a:rPr lang="en-US" altLang="zh-CN"/>
              <a:t>[12] </a:t>
            </a:r>
            <a:r>
              <a:rPr lang="zh-CN" altLang="en-US"/>
              <a:t>王珊</a:t>
            </a:r>
            <a:r>
              <a:rPr lang="en-US" altLang="zh-CN"/>
              <a:t>, </a:t>
            </a:r>
            <a:r>
              <a:rPr lang="zh-CN" altLang="en-US"/>
              <a:t>萨师煊</a:t>
            </a:r>
            <a:r>
              <a:rPr lang="en-US" altLang="zh-CN"/>
              <a:t>. </a:t>
            </a:r>
            <a:r>
              <a:rPr lang="zh-CN" altLang="en-US"/>
              <a:t>数据库系统概论</a:t>
            </a:r>
            <a:r>
              <a:rPr lang="en-US" altLang="zh-CN"/>
              <a:t>(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版</a:t>
            </a:r>
            <a:r>
              <a:rPr lang="en-US" altLang="zh-CN"/>
              <a:t>)[M]. </a:t>
            </a:r>
            <a:r>
              <a:rPr lang="zh-CN" altLang="en-US"/>
              <a:t>北京</a:t>
            </a:r>
            <a:r>
              <a:rPr lang="en-US" altLang="zh-CN"/>
              <a:t>: </a:t>
            </a:r>
            <a:r>
              <a:rPr lang="zh-CN" altLang="en-US"/>
              <a:t>高等教育出版社</a:t>
            </a:r>
            <a:r>
              <a:rPr lang="en-US" altLang="zh-CN"/>
              <a:t>, 2014.</a:t>
            </a:r>
            <a:endParaRPr lang="en-US" altLang="zh-CN"/>
          </a:p>
          <a:p>
            <a:pPr indent="457200"/>
            <a:r>
              <a:rPr lang="en-US" altLang="zh-CN"/>
              <a:t>[13]Craig Walls. Spring Boot in Action[M]. Manning Publications, 2015. </a:t>
            </a:r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3" name="文本框 36"/>
          <p:cNvSpPr txBox="1"/>
          <p:nvPr/>
        </p:nvSpPr>
        <p:spPr>
          <a:xfrm>
            <a:off x="4905375" y="6470650"/>
            <a:ext cx="44132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>
                <a:solidFill>
                  <a:srgbClr val="F2F2F2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黑龙江八一农垦大学毕业答辩模板</a:t>
            </a:r>
            <a:endParaRPr lang="zh-CN" altLang="en-US">
              <a:solidFill>
                <a:srgbClr val="F2F2F2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363538" y="6638925"/>
            <a:ext cx="4857750" cy="4763"/>
          </a:xfrm>
          <a:prstGeom prst="line">
            <a:avLst/>
          </a:prstGeom>
          <a:ln w="34925" cmpd="sng">
            <a:solidFill>
              <a:schemeClr val="bg1">
                <a:lumMod val="95000"/>
                <a:alpha val="86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6" name="图片 43"/>
          <p:cNvPicPr>
            <a:picLocks noChangeAspect="1"/>
          </p:cNvPicPr>
          <p:nvPr/>
        </p:nvPicPr>
        <p:blipFill>
          <a:blip r:embed="rId1"/>
          <a:srcRect l="11800" t="-6653" r="19000" b="18163"/>
          <a:stretch>
            <a:fillRect/>
          </a:stretch>
        </p:blipFill>
        <p:spPr>
          <a:xfrm>
            <a:off x="0" y="6208713"/>
            <a:ext cx="9144000" cy="649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7" name="TextBox 176"/>
          <p:cNvSpPr txBox="1"/>
          <p:nvPr/>
        </p:nvSpPr>
        <p:spPr>
          <a:xfrm>
            <a:off x="1236345" y="2606675"/>
            <a:ext cx="6446520" cy="944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p>
            <a:pPr algn="ctr"/>
            <a:r>
              <a:rPr lang="zh-CN" altLang="en-US" sz="4400" b="1" dirty="0">
                <a:latin typeface="宋体" panose="02010600030101010101" pitchFamily="2" charset="-122"/>
                <a:ea typeface="宋体" panose="02010600030101010101" pitchFamily="2" charset="-122"/>
              </a:rPr>
              <a:t>谢谢各位老师的耐心聆听</a:t>
            </a:r>
            <a:endParaRPr lang="zh-CN" altLang="en-US" sz="4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 flipV="1">
            <a:off x="1151255" y="841375"/>
            <a:ext cx="6531610" cy="26670"/>
          </a:xfrm>
          <a:prstGeom prst="line">
            <a:avLst/>
          </a:prstGeom>
          <a:ln w="28575" cmpd="sng">
            <a:solidFill>
              <a:srgbClr val="00700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5"/>
          <p:cNvSpPr txBox="1"/>
          <p:nvPr/>
        </p:nvSpPr>
        <p:spPr>
          <a:xfrm>
            <a:off x="1193483" y="407670"/>
            <a:ext cx="868363" cy="4603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fontAlgn="auto"/>
            <a:r>
              <a:rPr lang="zh-CN" altLang="en-US" sz="2400" b="1" spc="300" noProof="1" dirty="0">
                <a:solidFill>
                  <a:srgbClr val="00700B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致谢</a:t>
            </a:r>
            <a:endParaRPr lang="zh-CN" altLang="en-US" sz="2400" b="1" spc="300" noProof="1" dirty="0">
              <a:solidFill>
                <a:srgbClr val="007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23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PP_MARK_KEY" val="289ff93b-84f2-40cb-b335-f699072b5a0d"/>
  <p:tag name="COMMONDATA" val="eyJoZGlkIjoiOGQzMjYwNDk0YWRlODhlZDE0NTAzZWUzYTJhMmVkYTgifQ=="/>
  <p:tag name="commondata" val="eyJoZGlkIjoiZGQ4YjFlNGIwMTlhZTY2NzBkYmZiZWEwMWE5Y2VlYTEifQ==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2751</Words>
  <Application>WPS 演示</Application>
  <PresentationFormat>全屏显示(4:3)</PresentationFormat>
  <Paragraphs>109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MiSans Normal</vt:lpstr>
      <vt:lpstr>Wingdings</vt:lpstr>
      <vt:lpstr>黑体</vt:lpstr>
      <vt:lpstr>华文楷体</vt:lpstr>
      <vt:lpstr>微软雅黑</vt:lpstr>
      <vt:lpstr>楷体</vt:lpstr>
      <vt:lpstr>等线</vt:lpstr>
      <vt:lpstr>Arial Unicode MS</vt:lpstr>
      <vt:lpstr>等线 Light</vt:lpstr>
      <vt:lpstr>Calibri Light</vt:lpstr>
      <vt:lpstr>汉仪书宋二简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#%Code</cp:lastModifiedBy>
  <cp:revision>138</cp:revision>
  <dcterms:created xsi:type="dcterms:W3CDTF">2015-05-05T08:02:00Z</dcterms:created>
  <dcterms:modified xsi:type="dcterms:W3CDTF">2025-11-02T14:01:11Z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2052-12.1.0.23122</vt:lpwstr>
  </property>
  <property fmtid="{D5CDD505-2E9C-101B-9397-08002B2CF9AE}" pid="3" name="ICV">
    <vt:lpwstr>A819393EC92D416EAC93796D1E9DF6FE_13</vt:lpwstr>
  </property>
</Properties>
</file>