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</p:sldIdLst>
  <p:sldSz cx="9144000" cy="5143500"/>
  <p:notesSz cx="5143500" cy="9144000"/>
  <p:custDataLst>
    <p:tags r:id="rId26"/>
  </p:custData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6" Type="http://schemas.openxmlformats.org/officeDocument/2006/relationships/tags" Target="tags/tag101.xml"/><Relationship Id="rId25" Type="http://schemas.openxmlformats.org/officeDocument/2006/relationships/tableStyles" Target="tableStyles.xml"/><Relationship Id="rId24" Type="http://schemas.openxmlformats.org/officeDocument/2006/relationships/viewProps" Target="viewProps.xml"/><Relationship Id="rId23" Type="http://schemas.openxmlformats.org/officeDocument/2006/relationships/presProps" Target="presProps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IST_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4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8.png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image" Target="../media/image5.jpeg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5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image" Target="../media/image11.png"/><Relationship Id="rId8" Type="http://schemas.openxmlformats.org/officeDocument/2006/relationships/tags" Target="../tags/tag3.xml"/><Relationship Id="rId7" Type="http://schemas.openxmlformats.org/officeDocument/2006/relationships/image" Target="../media/image10.png"/><Relationship Id="rId6" Type="http://schemas.openxmlformats.org/officeDocument/2006/relationships/tags" Target="../tags/tag2.xml"/><Relationship Id="rId5" Type="http://schemas.openxmlformats.org/officeDocument/2006/relationships/image" Target="../media/image9.png"/><Relationship Id="rId4" Type="http://schemas.openxmlformats.org/officeDocument/2006/relationships/tags" Target="../tags/tag1.xml"/><Relationship Id="rId3" Type="http://schemas.openxmlformats.org/officeDocument/2006/relationships/image" Target="../media/image7.png"/><Relationship Id="rId27" Type="http://schemas.openxmlformats.org/officeDocument/2006/relationships/notesSlide" Target="../notesSlides/notesSlide6.xml"/><Relationship Id="rId26" Type="http://schemas.openxmlformats.org/officeDocument/2006/relationships/slideLayout" Target="../slideLayouts/slideLayout1.xml"/><Relationship Id="rId25" Type="http://schemas.openxmlformats.org/officeDocument/2006/relationships/tags" Target="../tags/tag18.xml"/><Relationship Id="rId24" Type="http://schemas.openxmlformats.org/officeDocument/2006/relationships/tags" Target="../tags/tag17.xml"/><Relationship Id="rId23" Type="http://schemas.openxmlformats.org/officeDocument/2006/relationships/tags" Target="../tags/tag16.xml"/><Relationship Id="rId22" Type="http://schemas.openxmlformats.org/officeDocument/2006/relationships/tags" Target="../tags/tag15.xml"/><Relationship Id="rId21" Type="http://schemas.openxmlformats.org/officeDocument/2006/relationships/tags" Target="../tags/tag14.xml"/><Relationship Id="rId20" Type="http://schemas.openxmlformats.org/officeDocument/2006/relationships/tags" Target="../tags/tag13.xml"/><Relationship Id="rId2" Type="http://schemas.openxmlformats.org/officeDocument/2006/relationships/image" Target="../media/image6.png"/><Relationship Id="rId19" Type="http://schemas.openxmlformats.org/officeDocument/2006/relationships/tags" Target="../tags/tag12.xml"/><Relationship Id="rId18" Type="http://schemas.openxmlformats.org/officeDocument/2006/relationships/tags" Target="../tags/tag11.xml"/><Relationship Id="rId17" Type="http://schemas.openxmlformats.org/officeDocument/2006/relationships/tags" Target="../tags/tag10.xml"/><Relationship Id="rId16" Type="http://schemas.openxmlformats.org/officeDocument/2006/relationships/tags" Target="../tags/tag9.xml"/><Relationship Id="rId15" Type="http://schemas.openxmlformats.org/officeDocument/2006/relationships/tags" Target="../tags/tag8.xml"/><Relationship Id="rId14" Type="http://schemas.openxmlformats.org/officeDocument/2006/relationships/tags" Target="../tags/tag7.xml"/><Relationship Id="rId13" Type="http://schemas.openxmlformats.org/officeDocument/2006/relationships/image" Target="../media/image12.png"/><Relationship Id="rId12" Type="http://schemas.openxmlformats.org/officeDocument/2006/relationships/tags" Target="../tags/tag6.xml"/><Relationship Id="rId11" Type="http://schemas.openxmlformats.org/officeDocument/2006/relationships/tags" Target="../tags/tag5.xml"/><Relationship Id="rId10" Type="http://schemas.openxmlformats.org/officeDocument/2006/relationships/tags" Target="../tags/tag4.xml"/><Relationship Id="rId1" Type="http://schemas.openxmlformats.org/officeDocument/2006/relationships/image" Target="../media/image5.jpe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image" Target="../media/image11.png"/><Relationship Id="rId8" Type="http://schemas.openxmlformats.org/officeDocument/2006/relationships/tags" Target="../tags/tag21.xml"/><Relationship Id="rId7" Type="http://schemas.openxmlformats.org/officeDocument/2006/relationships/image" Target="../media/image10.png"/><Relationship Id="rId6" Type="http://schemas.openxmlformats.org/officeDocument/2006/relationships/tags" Target="../tags/tag20.xml"/><Relationship Id="rId5" Type="http://schemas.openxmlformats.org/officeDocument/2006/relationships/image" Target="../media/image9.png"/><Relationship Id="rId4" Type="http://schemas.openxmlformats.org/officeDocument/2006/relationships/tags" Target="../tags/tag19.xml"/><Relationship Id="rId3" Type="http://schemas.openxmlformats.org/officeDocument/2006/relationships/image" Target="../media/image7.png"/><Relationship Id="rId27" Type="http://schemas.openxmlformats.org/officeDocument/2006/relationships/notesSlide" Target="../notesSlides/notesSlide7.xml"/><Relationship Id="rId26" Type="http://schemas.openxmlformats.org/officeDocument/2006/relationships/slideLayout" Target="../slideLayouts/slideLayout1.xml"/><Relationship Id="rId25" Type="http://schemas.openxmlformats.org/officeDocument/2006/relationships/tags" Target="../tags/tag36.xml"/><Relationship Id="rId24" Type="http://schemas.openxmlformats.org/officeDocument/2006/relationships/tags" Target="../tags/tag35.xml"/><Relationship Id="rId23" Type="http://schemas.openxmlformats.org/officeDocument/2006/relationships/tags" Target="../tags/tag34.xml"/><Relationship Id="rId22" Type="http://schemas.openxmlformats.org/officeDocument/2006/relationships/tags" Target="../tags/tag33.xml"/><Relationship Id="rId21" Type="http://schemas.openxmlformats.org/officeDocument/2006/relationships/tags" Target="../tags/tag32.xml"/><Relationship Id="rId20" Type="http://schemas.openxmlformats.org/officeDocument/2006/relationships/tags" Target="../tags/tag31.xml"/><Relationship Id="rId2" Type="http://schemas.openxmlformats.org/officeDocument/2006/relationships/image" Target="../media/image6.png"/><Relationship Id="rId19" Type="http://schemas.openxmlformats.org/officeDocument/2006/relationships/tags" Target="../tags/tag30.xml"/><Relationship Id="rId18" Type="http://schemas.openxmlformats.org/officeDocument/2006/relationships/tags" Target="../tags/tag29.xml"/><Relationship Id="rId17" Type="http://schemas.openxmlformats.org/officeDocument/2006/relationships/tags" Target="../tags/tag28.xml"/><Relationship Id="rId16" Type="http://schemas.openxmlformats.org/officeDocument/2006/relationships/tags" Target="../tags/tag27.xml"/><Relationship Id="rId15" Type="http://schemas.openxmlformats.org/officeDocument/2006/relationships/tags" Target="../tags/tag26.xml"/><Relationship Id="rId14" Type="http://schemas.openxmlformats.org/officeDocument/2006/relationships/tags" Target="../tags/tag25.xml"/><Relationship Id="rId13" Type="http://schemas.openxmlformats.org/officeDocument/2006/relationships/image" Target="../media/image12.png"/><Relationship Id="rId12" Type="http://schemas.openxmlformats.org/officeDocument/2006/relationships/tags" Target="../tags/tag24.xml"/><Relationship Id="rId11" Type="http://schemas.openxmlformats.org/officeDocument/2006/relationships/tags" Target="../tags/tag23.xml"/><Relationship Id="rId10" Type="http://schemas.openxmlformats.org/officeDocument/2006/relationships/tags" Target="../tags/tag22.xml"/><Relationship Id="rId1" Type="http://schemas.openxmlformats.org/officeDocument/2006/relationships/image" Target="../media/image5.jpeg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8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9.xml"/><Relationship Id="rId7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image" Target="../media/image5.jpeg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image" Target="../media/image18.png"/><Relationship Id="rId8" Type="http://schemas.openxmlformats.org/officeDocument/2006/relationships/tags" Target="../tags/tag39.xml"/><Relationship Id="rId7" Type="http://schemas.openxmlformats.org/officeDocument/2006/relationships/image" Target="../media/image17.png"/><Relationship Id="rId6" Type="http://schemas.openxmlformats.org/officeDocument/2006/relationships/tags" Target="../tags/tag38.xml"/><Relationship Id="rId5" Type="http://schemas.openxmlformats.org/officeDocument/2006/relationships/image" Target="../media/image16.png"/><Relationship Id="rId4" Type="http://schemas.openxmlformats.org/officeDocument/2006/relationships/tags" Target="../tags/tag37.xml"/><Relationship Id="rId30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29" Type="http://schemas.openxmlformats.org/officeDocument/2006/relationships/slideLayout" Target="../slideLayouts/slideLayout1.xml"/><Relationship Id="rId28" Type="http://schemas.openxmlformats.org/officeDocument/2006/relationships/tags" Target="../tags/tag54.xml"/><Relationship Id="rId27" Type="http://schemas.openxmlformats.org/officeDocument/2006/relationships/tags" Target="../tags/tag53.xml"/><Relationship Id="rId26" Type="http://schemas.openxmlformats.org/officeDocument/2006/relationships/tags" Target="../tags/tag52.xml"/><Relationship Id="rId25" Type="http://schemas.openxmlformats.org/officeDocument/2006/relationships/tags" Target="../tags/tag51.xml"/><Relationship Id="rId24" Type="http://schemas.openxmlformats.org/officeDocument/2006/relationships/tags" Target="../tags/tag50.xml"/><Relationship Id="rId23" Type="http://schemas.openxmlformats.org/officeDocument/2006/relationships/tags" Target="../tags/tag49.xml"/><Relationship Id="rId22" Type="http://schemas.openxmlformats.org/officeDocument/2006/relationships/tags" Target="../tags/tag48.xml"/><Relationship Id="rId21" Type="http://schemas.openxmlformats.org/officeDocument/2006/relationships/tags" Target="../tags/tag47.xml"/><Relationship Id="rId20" Type="http://schemas.openxmlformats.org/officeDocument/2006/relationships/image" Target="../media/image22.png"/><Relationship Id="rId2" Type="http://schemas.openxmlformats.org/officeDocument/2006/relationships/image" Target="../media/image6.png"/><Relationship Id="rId19" Type="http://schemas.openxmlformats.org/officeDocument/2006/relationships/tags" Target="../tags/tag46.xml"/><Relationship Id="rId18" Type="http://schemas.openxmlformats.org/officeDocument/2006/relationships/image" Target="../media/image21.png"/><Relationship Id="rId17" Type="http://schemas.openxmlformats.org/officeDocument/2006/relationships/tags" Target="../tags/tag45.xml"/><Relationship Id="rId16" Type="http://schemas.openxmlformats.org/officeDocument/2006/relationships/tags" Target="../tags/tag44.xml"/><Relationship Id="rId15" Type="http://schemas.openxmlformats.org/officeDocument/2006/relationships/tags" Target="../tags/tag43.xml"/><Relationship Id="rId14" Type="http://schemas.openxmlformats.org/officeDocument/2006/relationships/image" Target="../media/image20.png"/><Relationship Id="rId13" Type="http://schemas.openxmlformats.org/officeDocument/2006/relationships/tags" Target="../tags/tag42.xml"/><Relationship Id="rId12" Type="http://schemas.openxmlformats.org/officeDocument/2006/relationships/image" Target="../media/image19.png"/><Relationship Id="rId11" Type="http://schemas.openxmlformats.org/officeDocument/2006/relationships/tags" Target="../tags/tag41.xml"/><Relationship Id="rId10" Type="http://schemas.openxmlformats.org/officeDocument/2006/relationships/tags" Target="../tags/tag40.xml"/><Relationship Id="rId1" Type="http://schemas.openxmlformats.org/officeDocument/2006/relationships/image" Target="../media/image5.jpeg"/></Relationships>
</file>

<file path=ppt/slides/_rels/slide11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1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23.png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image" Target="../media/image5.jpeg"/></Relationships>
</file>

<file path=ppt/slides/_rels/slide1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2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image" Target="../media/image18.png"/><Relationship Id="rId8" Type="http://schemas.openxmlformats.org/officeDocument/2006/relationships/tags" Target="../tags/tag57.xml"/><Relationship Id="rId7" Type="http://schemas.openxmlformats.org/officeDocument/2006/relationships/image" Target="../media/image25.png"/><Relationship Id="rId6" Type="http://schemas.openxmlformats.org/officeDocument/2006/relationships/tags" Target="../tags/tag56.xml"/><Relationship Id="rId5" Type="http://schemas.openxmlformats.org/officeDocument/2006/relationships/image" Target="../media/image24.png"/><Relationship Id="rId4" Type="http://schemas.openxmlformats.org/officeDocument/2006/relationships/tags" Target="../tags/tag55.xml"/><Relationship Id="rId3" Type="http://schemas.openxmlformats.org/officeDocument/2006/relationships/image" Target="../media/image7.png"/><Relationship Id="rId29" Type="http://schemas.openxmlformats.org/officeDocument/2006/relationships/notesSlide" Target="../notesSlides/notesSlide13.xml"/><Relationship Id="rId28" Type="http://schemas.openxmlformats.org/officeDocument/2006/relationships/slideLayout" Target="../slideLayouts/slideLayout1.xml"/><Relationship Id="rId27" Type="http://schemas.openxmlformats.org/officeDocument/2006/relationships/tags" Target="../tags/tag72.xml"/><Relationship Id="rId26" Type="http://schemas.openxmlformats.org/officeDocument/2006/relationships/tags" Target="../tags/tag71.xml"/><Relationship Id="rId25" Type="http://schemas.openxmlformats.org/officeDocument/2006/relationships/tags" Target="../tags/tag70.xml"/><Relationship Id="rId24" Type="http://schemas.openxmlformats.org/officeDocument/2006/relationships/tags" Target="../tags/tag69.xml"/><Relationship Id="rId23" Type="http://schemas.openxmlformats.org/officeDocument/2006/relationships/tags" Target="../tags/tag68.xml"/><Relationship Id="rId22" Type="http://schemas.openxmlformats.org/officeDocument/2006/relationships/tags" Target="../tags/tag67.xml"/><Relationship Id="rId21" Type="http://schemas.openxmlformats.org/officeDocument/2006/relationships/tags" Target="../tags/tag66.xml"/><Relationship Id="rId20" Type="http://schemas.openxmlformats.org/officeDocument/2006/relationships/tags" Target="../tags/tag65.xml"/><Relationship Id="rId2" Type="http://schemas.openxmlformats.org/officeDocument/2006/relationships/image" Target="../media/image6.png"/><Relationship Id="rId19" Type="http://schemas.openxmlformats.org/officeDocument/2006/relationships/tags" Target="../tags/tag64.xml"/><Relationship Id="rId18" Type="http://schemas.openxmlformats.org/officeDocument/2006/relationships/image" Target="../media/image28.png"/><Relationship Id="rId17" Type="http://schemas.openxmlformats.org/officeDocument/2006/relationships/tags" Target="../tags/tag63.xml"/><Relationship Id="rId16" Type="http://schemas.openxmlformats.org/officeDocument/2006/relationships/tags" Target="../tags/tag62.xml"/><Relationship Id="rId15" Type="http://schemas.openxmlformats.org/officeDocument/2006/relationships/tags" Target="../tags/tag61.xml"/><Relationship Id="rId14" Type="http://schemas.openxmlformats.org/officeDocument/2006/relationships/image" Target="../media/image27.png"/><Relationship Id="rId13" Type="http://schemas.openxmlformats.org/officeDocument/2006/relationships/tags" Target="../tags/tag60.xml"/><Relationship Id="rId12" Type="http://schemas.openxmlformats.org/officeDocument/2006/relationships/image" Target="../media/image26.png"/><Relationship Id="rId11" Type="http://schemas.openxmlformats.org/officeDocument/2006/relationships/tags" Target="../tags/tag59.xml"/><Relationship Id="rId10" Type="http://schemas.openxmlformats.org/officeDocument/2006/relationships/tags" Target="../tags/tag58.xml"/><Relationship Id="rId1" Type="http://schemas.openxmlformats.org/officeDocument/2006/relationships/image" Target="../media/image5.jpeg"/></Relationships>
</file>

<file path=ppt/slides/_rels/slide1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4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5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8.png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image" Target="../media/image5.jpeg"/></Relationships>
</file>

<file path=ppt/slides/_rels/slide16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6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29.png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image" Target="../media/image5.jpeg"/></Relationships>
</file>

<file path=ppt/slides/_rels/slide1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7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9" Type="http://schemas.openxmlformats.org/officeDocument/2006/relationships/tags" Target="../tags/tag76.xml"/><Relationship Id="rId8" Type="http://schemas.openxmlformats.org/officeDocument/2006/relationships/tags" Target="../tags/tag75.xml"/><Relationship Id="rId7" Type="http://schemas.openxmlformats.org/officeDocument/2006/relationships/image" Target="../media/image31.png"/><Relationship Id="rId6" Type="http://schemas.openxmlformats.org/officeDocument/2006/relationships/tags" Target="../tags/tag74.xml"/><Relationship Id="rId5" Type="http://schemas.openxmlformats.org/officeDocument/2006/relationships/image" Target="../media/image30.png"/><Relationship Id="rId43" Type="http://schemas.openxmlformats.org/officeDocument/2006/relationships/notesSlide" Target="../notesSlides/notesSlide18.xml"/><Relationship Id="rId42" Type="http://schemas.openxmlformats.org/officeDocument/2006/relationships/slideLayout" Target="../slideLayouts/slideLayout1.xml"/><Relationship Id="rId41" Type="http://schemas.openxmlformats.org/officeDocument/2006/relationships/image" Target="../media/image8.png"/><Relationship Id="rId40" Type="http://schemas.openxmlformats.org/officeDocument/2006/relationships/tags" Target="../tags/tag100.xml"/><Relationship Id="rId4" Type="http://schemas.openxmlformats.org/officeDocument/2006/relationships/tags" Target="../tags/tag73.xml"/><Relationship Id="rId39" Type="http://schemas.openxmlformats.org/officeDocument/2006/relationships/tags" Target="../tags/tag99.xml"/><Relationship Id="rId38" Type="http://schemas.openxmlformats.org/officeDocument/2006/relationships/tags" Target="../tags/tag98.xml"/><Relationship Id="rId37" Type="http://schemas.openxmlformats.org/officeDocument/2006/relationships/tags" Target="../tags/tag97.xml"/><Relationship Id="rId36" Type="http://schemas.openxmlformats.org/officeDocument/2006/relationships/tags" Target="../tags/tag96.xml"/><Relationship Id="rId35" Type="http://schemas.openxmlformats.org/officeDocument/2006/relationships/tags" Target="../tags/tag95.xml"/><Relationship Id="rId34" Type="http://schemas.openxmlformats.org/officeDocument/2006/relationships/tags" Target="../tags/tag94.xml"/><Relationship Id="rId33" Type="http://schemas.openxmlformats.org/officeDocument/2006/relationships/tags" Target="../tags/tag93.xml"/><Relationship Id="rId32" Type="http://schemas.openxmlformats.org/officeDocument/2006/relationships/tags" Target="../tags/tag92.xml"/><Relationship Id="rId31" Type="http://schemas.openxmlformats.org/officeDocument/2006/relationships/image" Target="../media/image38.png"/><Relationship Id="rId30" Type="http://schemas.openxmlformats.org/officeDocument/2006/relationships/tags" Target="../tags/tag91.xml"/><Relationship Id="rId3" Type="http://schemas.openxmlformats.org/officeDocument/2006/relationships/image" Target="../media/image7.png"/><Relationship Id="rId29" Type="http://schemas.openxmlformats.org/officeDocument/2006/relationships/tags" Target="../tags/tag90.xml"/><Relationship Id="rId28" Type="http://schemas.openxmlformats.org/officeDocument/2006/relationships/tags" Target="../tags/tag89.xml"/><Relationship Id="rId27" Type="http://schemas.openxmlformats.org/officeDocument/2006/relationships/image" Target="../media/image37.png"/><Relationship Id="rId26" Type="http://schemas.openxmlformats.org/officeDocument/2006/relationships/tags" Target="../tags/tag88.xml"/><Relationship Id="rId25" Type="http://schemas.openxmlformats.org/officeDocument/2006/relationships/tags" Target="../tags/tag87.xml"/><Relationship Id="rId24" Type="http://schemas.openxmlformats.org/officeDocument/2006/relationships/tags" Target="../tags/tag86.xml"/><Relationship Id="rId23" Type="http://schemas.openxmlformats.org/officeDocument/2006/relationships/image" Target="../media/image36.png"/><Relationship Id="rId22" Type="http://schemas.openxmlformats.org/officeDocument/2006/relationships/tags" Target="../tags/tag85.xml"/><Relationship Id="rId21" Type="http://schemas.openxmlformats.org/officeDocument/2006/relationships/tags" Target="../tags/tag84.xml"/><Relationship Id="rId20" Type="http://schemas.openxmlformats.org/officeDocument/2006/relationships/tags" Target="../tags/tag83.xml"/><Relationship Id="rId2" Type="http://schemas.openxmlformats.org/officeDocument/2006/relationships/image" Target="../media/image6.png"/><Relationship Id="rId19" Type="http://schemas.openxmlformats.org/officeDocument/2006/relationships/image" Target="../media/image35.png"/><Relationship Id="rId18" Type="http://schemas.openxmlformats.org/officeDocument/2006/relationships/tags" Target="../tags/tag82.xml"/><Relationship Id="rId17" Type="http://schemas.openxmlformats.org/officeDocument/2006/relationships/tags" Target="../tags/tag81.xml"/><Relationship Id="rId16" Type="http://schemas.openxmlformats.org/officeDocument/2006/relationships/tags" Target="../tags/tag80.xml"/><Relationship Id="rId15" Type="http://schemas.openxmlformats.org/officeDocument/2006/relationships/image" Target="../media/image34.png"/><Relationship Id="rId14" Type="http://schemas.openxmlformats.org/officeDocument/2006/relationships/tags" Target="../tags/tag79.xml"/><Relationship Id="rId13" Type="http://schemas.openxmlformats.org/officeDocument/2006/relationships/tags" Target="../tags/tag78.xml"/><Relationship Id="rId12" Type="http://schemas.openxmlformats.org/officeDocument/2006/relationships/image" Target="../media/image33.png"/><Relationship Id="rId11" Type="http://schemas.openxmlformats.org/officeDocument/2006/relationships/tags" Target="../tags/tag77.xml"/><Relationship Id="rId10" Type="http://schemas.openxmlformats.org/officeDocument/2006/relationships/image" Target="../media/image32.png"/><Relationship Id="rId1" Type="http://schemas.openxmlformats.org/officeDocument/2006/relationships/image" Target="../media/image5.jpe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43917" y="3221192"/>
            <a:ext cx="3256166" cy="424815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1350" dirty="0">
                <a:solidFill>
                  <a:srgbClr val="002B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汇报人：        指导老师：于林林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2307643" y="2813092"/>
            <a:ext cx="4528714" cy="0"/>
          </a:xfrm>
          <a:custGeom>
            <a:avLst/>
            <a:gdLst/>
            <a:ahLst/>
            <a:cxnLst/>
            <a:rect l="l" t="t" r="r" b="b"/>
            <a:pathLst>
              <a:path w="4528714">
                <a:moveTo>
                  <a:pt x="0" y="0"/>
                </a:moveTo>
                <a:lnTo>
                  <a:pt x="4528714" y="0"/>
                </a:lnTo>
              </a:path>
            </a:pathLst>
          </a:custGeom>
          <a:noFill/>
          <a:ln w="9525">
            <a:solidFill>
              <a:srgbClr val="FFFFFF"/>
            </a:solidFill>
            <a:prstDash val="solid"/>
            <a:headEnd type="none"/>
            <a:tailEnd type="none"/>
          </a:ln>
        </p:spPr>
      </p:sp>
      <p:sp>
        <p:nvSpPr>
          <p:cNvPr id="4" name="Text 2"/>
          <p:cNvSpPr/>
          <p:nvPr/>
        </p:nvSpPr>
        <p:spPr>
          <a:xfrm>
            <a:off x="432664" y="397054"/>
            <a:ext cx="8278672" cy="1463040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4200" b="1" kern="0" spc="375" dirty="0">
                <a:solidFill>
                  <a:srgbClr val="002B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大连科技学院</a:t>
            </a:r>
            <a:endParaRPr lang="en-US" sz="1500" dirty="0"/>
          </a:p>
          <a:p>
            <a:pPr marL="0" indent="0" algn="ctr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4200" b="1" kern="0" spc="375" dirty="0">
                <a:solidFill>
                  <a:srgbClr val="002B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开题报告答辩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45695" y="2054493"/>
            <a:ext cx="5652609" cy="685165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13000"/>
              </a:lnSpc>
              <a:spcBef>
                <a:spcPts val="375"/>
              </a:spcBef>
              <a:buNone/>
            </a:pPr>
            <a:r>
              <a:rPr lang="zh-CN" altLang="en-US" sz="2850" dirty="0">
                <a:solidFill>
                  <a:schemeClr val="tx1"/>
                </a:solidFill>
                <a:latin typeface="黑体" panose="02010609060101010101" charset="-122"/>
                <a:ea typeface="黑体" panose="02010609060101010101" charset="-122"/>
                <a:sym typeface="+mn-ea"/>
              </a:rPr>
              <a:t>星落宠物用品销售系统设计与实现</a:t>
            </a:r>
            <a:endParaRPr lang="zh-CN" altLang="en-US" sz="2850" dirty="0">
              <a:solidFill>
                <a:schemeClr val="tx1"/>
              </a:solidFill>
              <a:latin typeface="黑体" panose="02010609060101010101" charset="-122"/>
              <a:ea typeface="黑体" panose="02010609060101010101" charset="-122"/>
              <a:sym typeface="+mn-e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3936" y="131018"/>
            <a:ext cx="4113526" cy="1170432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5400" b="1" dirty="0">
                <a:solidFill>
                  <a:srgbClr val="5A85D9">
                    <a:alpha val="10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CONTENTS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69411" y="412164"/>
            <a:ext cx="1699339" cy="950976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4200" b="1" dirty="0">
                <a:solidFill>
                  <a:srgbClr val="0055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目录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36376" y="1943254"/>
            <a:ext cx="3017520" cy="457200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1500" dirty="0">
                <a:solidFill>
                  <a:srgbClr val="00070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选题的意义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21920" y="1831195"/>
            <a:ext cx="713232" cy="621792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5A85D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268353" y="1943254"/>
            <a:ext cx="3017520" cy="457200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1500" dirty="0">
                <a:solidFill>
                  <a:srgbClr val="00070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国内外现状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653896" y="1831195"/>
            <a:ext cx="713232" cy="621792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5A85D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02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636376" y="2556167"/>
            <a:ext cx="3017520" cy="457200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1500" dirty="0">
                <a:solidFill>
                  <a:srgbClr val="00070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研究内容方法及功能结构图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21920" y="2444108"/>
            <a:ext cx="713232" cy="621792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5A85D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03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268353" y="2556452"/>
            <a:ext cx="3017520" cy="457200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1500" dirty="0">
                <a:solidFill>
                  <a:srgbClr val="00070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可行性分析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53896" y="2444393"/>
            <a:ext cx="713232" cy="621792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5A85D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04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636376" y="3169080"/>
            <a:ext cx="3017520" cy="457200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1500" dirty="0">
                <a:solidFill>
                  <a:srgbClr val="00070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课题特色及预期目标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021920" y="3057021"/>
            <a:ext cx="713232" cy="621792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5A85D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05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268353" y="3169100"/>
            <a:ext cx="3017520" cy="457200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1500" dirty="0">
                <a:solidFill>
                  <a:srgbClr val="00070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课题实施计划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653896" y="3057041"/>
            <a:ext cx="713232" cy="621792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5A85D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06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370" y="438260"/>
            <a:ext cx="914028" cy="91402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63370" y="1959269"/>
            <a:ext cx="5221112" cy="786384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3300" b="1" dirty="0">
                <a:solidFill>
                  <a:srgbClr val="0055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选题的意义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345154" y="742055"/>
            <a:ext cx="1356643" cy="941832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4050" b="1" dirty="0">
                <a:solidFill>
                  <a:srgbClr val="002B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01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5128" y="102771"/>
            <a:ext cx="7150733" cy="585216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2100" b="1" dirty="0">
                <a:solidFill>
                  <a:srgbClr val="002B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选题的意义</a:t>
            </a:r>
            <a:endParaRPr lang="en-US" sz="15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489" y="222075"/>
            <a:ext cx="346608" cy="346608"/>
          </a:xfrm>
          <a:prstGeom prst="rect">
            <a:avLst/>
          </a:prstGeom>
        </p:spPr>
      </p:pic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897" y="222075"/>
            <a:ext cx="346608" cy="346608"/>
          </a:xfrm>
          <a:prstGeom prst="rect">
            <a:avLst/>
          </a:prstGeom>
        </p:spPr>
      </p:pic>
      <p:pic>
        <p:nvPicPr>
          <p:cNvPr id="5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305" y="222075"/>
            <a:ext cx="346608" cy="346608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3736340" y="1199515"/>
            <a:ext cx="5212080" cy="2786380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noAutofit/>
          </a:bodyPr>
          <a:lstStyle/>
          <a:p>
            <a:pPr algn="l"/>
            <a:r>
              <a:rPr lang="zh-CN" altLang="en-US" sz="1200">
                <a:sym typeface="+mn-ea"/>
              </a:rPr>
              <a:t>随着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行业发展需求：</a:t>
            </a:r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 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随着社会经济发展，</a:t>
            </a:r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“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它经济</a:t>
            </a:r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”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（或</a:t>
            </a:r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“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宠物经济</a:t>
            </a:r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”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）悄然兴起</a:t>
            </a:r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 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。（</a:t>
            </a:r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1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）养宠人群持续扩大，宠物主们对商品的品质化、个性化需求日益增长</a:t>
            </a:r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 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。</a:t>
            </a:r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 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（</a:t>
            </a:r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2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）</a:t>
            </a:r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 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现有模式局限：</a:t>
            </a:r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 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早期的线下实体店和线上的简单商品罗列</a:t>
            </a:r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 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，以及单纯的货架式电商已无法满足当今宠物主的需求</a:t>
            </a:r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 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。</a:t>
            </a:r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 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（</a:t>
            </a:r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3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）</a:t>
            </a:r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 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技术基础成熟：</a:t>
            </a:r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 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移动互联网技术的发展，为构建集购物、社交、服务于一体的垂直领域电商平台提供了技术基础</a:t>
            </a:r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 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。</a:t>
            </a:r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 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（</a:t>
            </a:r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4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）</a:t>
            </a:r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 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项目科学价值：</a:t>
            </a:r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 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本课题旨在通过建立用户和宠物的专属档案</a:t>
            </a:r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 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，实现精准营销和服务</a:t>
            </a:r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 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。其价值在于：提升宠物主的个性化购物体验</a:t>
            </a:r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 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。优化商家的运营管理效率</a:t>
            </a:r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 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。推动宠物零售行业的数字化转型</a:t>
            </a:r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 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。为广大宠物主创建一个有价值的线上互动社区，满足其情感与社交需求</a:t>
            </a:r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 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。</a:t>
            </a:r>
            <a:endParaRPr lang="zh-CN" altLang="en-US" sz="1200" dirty="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pic>
        <p:nvPicPr>
          <p:cNvPr id="6" name="图片 5"/>
          <p:cNvPicPr/>
          <p:nvPr/>
        </p:nvPicPr>
        <p:blipFill>
          <a:blip r:embed="rId4"/>
          <a:stretch>
            <a:fillRect/>
          </a:stretch>
        </p:blipFill>
        <p:spPr>
          <a:xfrm>
            <a:off x="139065" y="1120140"/>
            <a:ext cx="3230245" cy="3352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370" y="438260"/>
            <a:ext cx="914028" cy="91402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63370" y="1959269"/>
            <a:ext cx="5221112" cy="786384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3300" b="1" dirty="0">
                <a:solidFill>
                  <a:srgbClr val="0055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国内外现状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345154" y="742055"/>
            <a:ext cx="1356643" cy="941832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4050" b="1" dirty="0">
                <a:solidFill>
                  <a:srgbClr val="002B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02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5128" y="102771"/>
            <a:ext cx="7150733" cy="585216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2100" b="1" dirty="0">
                <a:solidFill>
                  <a:srgbClr val="002B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国内研究现状</a:t>
            </a:r>
            <a:endParaRPr lang="en-US" sz="15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489" y="222075"/>
            <a:ext cx="346608" cy="346608"/>
          </a:xfrm>
          <a:prstGeom prst="rect">
            <a:avLst/>
          </a:prstGeom>
        </p:spPr>
      </p:pic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897" y="222075"/>
            <a:ext cx="346608" cy="346608"/>
          </a:xfrm>
          <a:prstGeom prst="rect">
            <a:avLst/>
          </a:prstGeom>
        </p:spPr>
      </p:pic>
      <p:pic>
        <p:nvPicPr>
          <p:cNvPr id="5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305" y="222075"/>
            <a:ext cx="346608" cy="346608"/>
          </a:xfrm>
          <a:prstGeom prst="rect">
            <a:avLst/>
          </a:prstGeom>
        </p:spPr>
      </p:pic>
      <p:pic>
        <p:nvPicPr>
          <p:cNvPr id="6" name="Image 3" descr="preencoded.png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5">
            <a:alphaModFix amt="10000"/>
          </a:blip>
          <a:stretch>
            <a:fillRect/>
          </a:stretch>
        </p:blipFill>
        <p:spPr>
          <a:xfrm>
            <a:off x="601345" y="1875790"/>
            <a:ext cx="2741295" cy="2976245"/>
          </a:xfrm>
          <a:prstGeom prst="rect">
            <a:avLst/>
          </a:prstGeom>
        </p:spPr>
      </p:pic>
      <p:pic>
        <p:nvPicPr>
          <p:cNvPr id="7" name="Image 4" descr="preencoded.png"/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7">
            <a:alphaModFix amt="10000"/>
          </a:blip>
          <a:stretch>
            <a:fillRect/>
          </a:stretch>
        </p:blipFill>
        <p:spPr>
          <a:xfrm>
            <a:off x="1066906" y="1534826"/>
            <a:ext cx="530506" cy="257215"/>
          </a:xfrm>
          <a:prstGeom prst="rect">
            <a:avLst/>
          </a:prstGeom>
        </p:spPr>
      </p:pic>
      <p:pic>
        <p:nvPicPr>
          <p:cNvPr id="8" name="Image 5" descr="preencoded.png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9"/>
          <a:stretch>
            <a:fillRect/>
          </a:stretch>
        </p:blipFill>
        <p:spPr>
          <a:xfrm>
            <a:off x="640994" y="1018720"/>
            <a:ext cx="426013" cy="426013"/>
          </a:xfrm>
          <a:prstGeom prst="rect">
            <a:avLst/>
          </a:prstGeom>
        </p:spPr>
      </p:pic>
      <p:sp>
        <p:nvSpPr>
          <p:cNvPr id="9" name="Shape 1"/>
          <p:cNvSpPr/>
          <p:nvPr>
            <p:custDataLst>
              <p:tags r:id="rId10"/>
            </p:custDataLst>
          </p:nvPr>
        </p:nvSpPr>
        <p:spPr>
          <a:xfrm>
            <a:off x="1589475" y="1289285"/>
            <a:ext cx="1334304" cy="0"/>
          </a:xfrm>
          <a:custGeom>
            <a:avLst/>
            <a:gdLst/>
            <a:ahLst/>
            <a:cxnLst/>
            <a:rect l="l" t="t" r="r" b="b"/>
            <a:pathLst>
              <a:path w="1334304">
                <a:moveTo>
                  <a:pt x="0" y="0"/>
                </a:moveTo>
                <a:lnTo>
                  <a:pt x="1334304" y="0"/>
                </a:lnTo>
              </a:path>
            </a:pathLst>
          </a:custGeom>
          <a:noFill/>
          <a:ln w="19050">
            <a:solidFill>
              <a:srgbClr val="0055FF"/>
            </a:solidFill>
            <a:prstDash val="solid"/>
            <a:headEnd type="none"/>
            <a:tailEnd type="arrow"/>
          </a:ln>
        </p:spPr>
      </p:sp>
      <p:pic>
        <p:nvPicPr>
          <p:cNvPr id="10" name="Image 6" descr="preencoded.png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5">
            <a:alphaModFix amt="10000"/>
          </a:blip>
          <a:stretch>
            <a:fillRect/>
          </a:stretch>
        </p:blipFill>
        <p:spPr>
          <a:xfrm>
            <a:off x="3416935" y="1875790"/>
            <a:ext cx="2526665" cy="3006725"/>
          </a:xfrm>
          <a:prstGeom prst="rect">
            <a:avLst/>
          </a:prstGeom>
        </p:spPr>
      </p:pic>
      <p:pic>
        <p:nvPicPr>
          <p:cNvPr id="11" name="Image 7" descr="preencoded.png"/>
          <p:cNvPicPr>
            <a:picLocks noChangeAspect="1"/>
          </p:cNvPicPr>
          <p:nvPr>
            <p:custDataLst>
              <p:tags r:id="rId12"/>
            </p:custDataLst>
          </p:nvPr>
        </p:nvPicPr>
        <p:blipFill>
          <a:blip r:embed="rId13">
            <a:alphaModFix amt="10000"/>
          </a:blip>
          <a:stretch>
            <a:fillRect/>
          </a:stretch>
        </p:blipFill>
        <p:spPr>
          <a:xfrm>
            <a:off x="6015990" y="1881505"/>
            <a:ext cx="2487295" cy="2991485"/>
          </a:xfrm>
          <a:prstGeom prst="rect">
            <a:avLst/>
          </a:prstGeom>
        </p:spPr>
      </p:pic>
      <p:sp>
        <p:nvSpPr>
          <p:cNvPr id="12" name="Text 2"/>
          <p:cNvSpPr/>
          <p:nvPr>
            <p:custDataLst>
              <p:tags r:id="rId14"/>
            </p:custDataLst>
          </p:nvPr>
        </p:nvSpPr>
        <p:spPr>
          <a:xfrm>
            <a:off x="652145" y="1882140"/>
            <a:ext cx="2529205" cy="2776855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noAutofit/>
          </a:bodyPr>
          <a:lstStyle/>
          <a:p>
            <a:pPr indent="304800" algn="just" fontAlgn="auto">
              <a:lnSpc>
                <a:spcPct val="100000"/>
              </a:lnSpc>
              <a:spcBef>
                <a:spcPts val="300"/>
              </a:spcBef>
              <a:buNone/>
              <a:extLst>
                <a:ext uri="{35155182-B16C-46BC-9424-99874614C6A1}">
                  <wpsdc:indentchars xmlns:wpsdc="http://www.wps.cn/officeDocument/2017/drawingmlCustomData" val="200" checksum="1077528236"/>
                </a:ext>
              </a:extLst>
            </a:pP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国内的</a:t>
            </a:r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“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它经济</a:t>
            </a:r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”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或</a:t>
            </a:r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“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宠物经济</a:t>
            </a:r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”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近年来正经历爆发式增长</a:t>
            </a:r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 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。以波奇宠物</a:t>
            </a:r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 (Boqii)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、</a:t>
            </a:r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E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宠</a:t>
            </a:r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 (E-pet) 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为代表的垂直电商平台，以及天猫、京东等综合电商的宠物频道，共同构成了繁荣的市场。这些平台成功抓住了国内养宠人群的需求，通过</a:t>
            </a:r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“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内容</a:t>
            </a:r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+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社交</a:t>
            </a:r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+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电商</a:t>
            </a:r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”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的模式吸引和留住用户。例如，它们普遍设有宠物社区，用户可以在其中分享养宠经验、提问互动，平台则通过这些内容沉淀增强用户粘性</a:t>
            </a:r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 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。国内应用更注重本土化的运营策略：</a:t>
            </a:r>
            <a:endParaRPr lang="zh-CN" altLang="en-US" sz="1200" dirty="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13" name="Text 3"/>
          <p:cNvSpPr/>
          <p:nvPr>
            <p:custDataLst>
              <p:tags r:id="rId15"/>
            </p:custDataLst>
          </p:nvPr>
        </p:nvSpPr>
        <p:spPr>
          <a:xfrm>
            <a:off x="3411855" y="1938655"/>
            <a:ext cx="2538730" cy="2917825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noAutofit/>
          </a:bodyPr>
          <a:lstStyle/>
          <a:p>
            <a:pPr indent="304800" algn="just" fontAlgn="auto">
              <a:lnSpc>
                <a:spcPct val="100000"/>
              </a:lnSpc>
              <a:spcBef>
                <a:spcPts val="300"/>
              </a:spcBef>
              <a:buNone/>
              <a:extLst>
                <a:ext uri="{35155182-B16C-46BC-9424-99874614C6A1}">
                  <wpsdc:indentchars xmlns:wpsdc="http://www.wps.cn/officeDocument/2017/drawingmlCustomData" val="200" checksum="1077528236"/>
                </a:ext>
              </a:extLst>
            </a:pP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</a:rPr>
              <a:t>社区与内容引流：</a:t>
            </a:r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</a:rPr>
              <a:t> 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</a:rPr>
              <a:t>大力发展宠物社区</a:t>
            </a:r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</a:rPr>
              <a:t> 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</a:rPr>
              <a:t>，通过</a:t>
            </a:r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</a:rPr>
              <a:t>KOL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</a:rPr>
              <a:t>（意见领袖）分享、养宠知识科普等内容吸引新用户，再将其导流至商城。</a:t>
            </a:r>
            <a:endParaRPr lang="zh-CN" altLang="en-US" sz="12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indent="304800" algn="just" fontAlgn="auto">
              <a:lnSpc>
                <a:spcPct val="100000"/>
              </a:lnSpc>
              <a:spcBef>
                <a:spcPts val="300"/>
              </a:spcBef>
              <a:buNone/>
              <a:extLst>
                <a:ext uri="{35155182-B16C-46BC-9424-99874614C6A1}">
                  <wpsdc:indentchars xmlns:wpsdc="http://www.wps.cn/officeDocument/2017/drawingmlCustomData" val="200" checksum="1077528236"/>
                </a:ext>
              </a:extLst>
            </a:pP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</a:rPr>
              <a:t>国产品牌扶持与自有品牌开发：</a:t>
            </a:r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</a:rPr>
              <a:t> 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</a:rPr>
              <a:t>随着国内宠物食品、用品品牌的崛起，平台积极与其合作，并开发自有品牌以追求更高的利润率。</a:t>
            </a:r>
            <a:endParaRPr lang="zh-CN" altLang="en-US" sz="12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4" name="Text 4"/>
          <p:cNvSpPr/>
          <p:nvPr>
            <p:custDataLst>
              <p:tags r:id="rId16"/>
            </p:custDataLst>
          </p:nvPr>
        </p:nvSpPr>
        <p:spPr>
          <a:xfrm>
            <a:off x="6125845" y="1938655"/>
            <a:ext cx="2267585" cy="2513330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noAutofit/>
          </a:bodyPr>
          <a:lstStyle/>
          <a:p>
            <a:pPr indent="304800" algn="just" fontAlgn="auto">
              <a:lnSpc>
                <a:spcPct val="100000"/>
              </a:lnSpc>
              <a:spcBef>
                <a:spcPts val="300"/>
              </a:spcBef>
              <a:buNone/>
              <a:extLst>
                <a:ext uri="{35155182-B16C-46BC-9424-99874614C6A1}">
                  <wpsdc:indentchars xmlns:wpsdc="http://www.wps.cn/officeDocument/2017/drawingmlCustomData" val="200" checksum="1077528236"/>
                </a:ext>
              </a:extLst>
            </a:pP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</a:rPr>
              <a:t>服务模式探索：</a:t>
            </a:r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</a:rPr>
              <a:t> 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</a:rPr>
              <a:t>积极整合线下资源，如宠物店、宠物医院，探索</a:t>
            </a:r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</a:rPr>
              <a:t>O2O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</a:rPr>
              <a:t>（线上到线下）服务模式。</a:t>
            </a:r>
            <a:endParaRPr lang="zh-CN" altLang="en-US" sz="12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indent="304800" algn="just" fontAlgn="auto">
              <a:lnSpc>
                <a:spcPct val="100000"/>
              </a:lnSpc>
              <a:spcBef>
                <a:spcPts val="300"/>
              </a:spcBef>
              <a:buNone/>
              <a:extLst>
                <a:ext uri="{35155182-B16C-46BC-9424-99874614C6A1}">
                  <wpsdc:indentchars xmlns:wpsdc="http://www.wps.cn/officeDocument/2017/drawingmlCustomData" val="200" checksum="1077528236"/>
                </a:ext>
              </a:extLst>
            </a:pP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</a:rPr>
              <a:t>然而，国内市场也存在商品同质化严重、平台功能繁杂、以及个性化推荐不够精准等问题</a:t>
            </a:r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</a:rPr>
              <a:t> 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</a:rPr>
              <a:t>。早期的电商平台多为简单的商品罗列，无法满足宠物主日益增长的个性化需求</a:t>
            </a:r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</a:rPr>
              <a:t> 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</a:rPr>
              <a:t>。</a:t>
            </a:r>
            <a:endParaRPr lang="zh-CN" altLang="en-US" sz="12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5" name="Text 5"/>
          <p:cNvSpPr/>
          <p:nvPr>
            <p:custDataLst>
              <p:tags r:id="rId17"/>
            </p:custDataLst>
          </p:nvPr>
        </p:nvSpPr>
        <p:spPr>
          <a:xfrm>
            <a:off x="640994" y="1048069"/>
            <a:ext cx="679728" cy="365760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01</a:t>
            </a:r>
            <a:endParaRPr lang="en-US" sz="1500" dirty="0"/>
          </a:p>
        </p:txBody>
      </p:sp>
      <p:pic>
        <p:nvPicPr>
          <p:cNvPr id="16" name="Image 8" descr="preencoded.png"/>
          <p:cNvPicPr>
            <a:picLocks noChangeAspect="1"/>
          </p:cNvPicPr>
          <p:nvPr>
            <p:custDataLst>
              <p:tags r:id="rId18"/>
            </p:custDataLst>
          </p:nvPr>
        </p:nvPicPr>
        <p:blipFill>
          <a:blip r:embed="rId9"/>
          <a:stretch>
            <a:fillRect/>
          </a:stretch>
        </p:blipFill>
        <p:spPr>
          <a:xfrm>
            <a:off x="3339835" y="1018720"/>
            <a:ext cx="426013" cy="426013"/>
          </a:xfrm>
          <a:prstGeom prst="rect">
            <a:avLst/>
          </a:prstGeom>
        </p:spPr>
      </p:pic>
      <p:sp>
        <p:nvSpPr>
          <p:cNvPr id="17" name="Text 6"/>
          <p:cNvSpPr/>
          <p:nvPr>
            <p:custDataLst>
              <p:tags r:id="rId19"/>
            </p:custDataLst>
          </p:nvPr>
        </p:nvSpPr>
        <p:spPr>
          <a:xfrm>
            <a:off x="3349080" y="1048069"/>
            <a:ext cx="709960" cy="365760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02</a:t>
            </a:r>
            <a:endParaRPr lang="en-US" sz="1500" dirty="0"/>
          </a:p>
        </p:txBody>
      </p:sp>
      <p:pic>
        <p:nvPicPr>
          <p:cNvPr id="18" name="Image 9" descr="preencoded.png"/>
          <p:cNvPicPr>
            <a:picLocks noChangeAspect="1"/>
          </p:cNvPicPr>
          <p:nvPr>
            <p:custDataLst>
              <p:tags r:id="rId20"/>
            </p:custDataLst>
          </p:nvPr>
        </p:nvPicPr>
        <p:blipFill>
          <a:blip r:embed="rId9"/>
          <a:stretch>
            <a:fillRect/>
          </a:stretch>
        </p:blipFill>
        <p:spPr>
          <a:xfrm>
            <a:off x="6015819" y="1018720"/>
            <a:ext cx="426013" cy="426013"/>
          </a:xfrm>
          <a:prstGeom prst="rect">
            <a:avLst/>
          </a:prstGeom>
        </p:spPr>
      </p:pic>
      <p:sp>
        <p:nvSpPr>
          <p:cNvPr id="19" name="Text 7"/>
          <p:cNvSpPr/>
          <p:nvPr>
            <p:custDataLst>
              <p:tags r:id="rId21"/>
            </p:custDataLst>
          </p:nvPr>
        </p:nvSpPr>
        <p:spPr>
          <a:xfrm>
            <a:off x="6016304" y="1048069"/>
            <a:ext cx="723664" cy="365760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03</a:t>
            </a:r>
            <a:endParaRPr lang="en-US" sz="1500" dirty="0"/>
          </a:p>
        </p:txBody>
      </p:sp>
      <p:sp>
        <p:nvSpPr>
          <p:cNvPr id="20" name="Shape 8"/>
          <p:cNvSpPr/>
          <p:nvPr>
            <p:custDataLst>
              <p:tags r:id="rId22"/>
            </p:custDataLst>
          </p:nvPr>
        </p:nvSpPr>
        <p:spPr>
          <a:xfrm>
            <a:off x="4228093" y="1289285"/>
            <a:ext cx="1334304" cy="0"/>
          </a:xfrm>
          <a:custGeom>
            <a:avLst/>
            <a:gdLst/>
            <a:ahLst/>
            <a:cxnLst/>
            <a:rect l="l" t="t" r="r" b="b"/>
            <a:pathLst>
              <a:path w="1334304">
                <a:moveTo>
                  <a:pt x="0" y="0"/>
                </a:moveTo>
                <a:lnTo>
                  <a:pt x="1334304" y="0"/>
                </a:lnTo>
              </a:path>
            </a:pathLst>
          </a:custGeom>
          <a:noFill/>
          <a:ln w="19050">
            <a:solidFill>
              <a:srgbClr val="0055FF"/>
            </a:solidFill>
            <a:prstDash val="solid"/>
            <a:headEnd type="none"/>
            <a:tailEnd type="arrow"/>
          </a:ln>
        </p:spPr>
      </p:sp>
      <p:sp>
        <p:nvSpPr>
          <p:cNvPr id="21" name="Shape 9"/>
          <p:cNvSpPr/>
          <p:nvPr>
            <p:custDataLst>
              <p:tags r:id="rId23"/>
            </p:custDataLst>
          </p:nvPr>
        </p:nvSpPr>
        <p:spPr>
          <a:xfrm>
            <a:off x="6913035" y="1289285"/>
            <a:ext cx="1334304" cy="0"/>
          </a:xfrm>
          <a:custGeom>
            <a:avLst/>
            <a:gdLst/>
            <a:ahLst/>
            <a:cxnLst/>
            <a:rect l="l" t="t" r="r" b="b"/>
            <a:pathLst>
              <a:path w="1334304">
                <a:moveTo>
                  <a:pt x="0" y="0"/>
                </a:moveTo>
                <a:lnTo>
                  <a:pt x="1334304" y="0"/>
                </a:lnTo>
              </a:path>
            </a:pathLst>
          </a:custGeom>
          <a:noFill/>
          <a:ln w="19050">
            <a:solidFill>
              <a:srgbClr val="0055FF"/>
            </a:solidFill>
            <a:prstDash val="solid"/>
            <a:headEnd type="none"/>
            <a:tailEnd type="arrow"/>
          </a:ln>
        </p:spPr>
      </p:sp>
      <p:pic>
        <p:nvPicPr>
          <p:cNvPr id="22" name="Image 10" descr="preencoded.png"/>
          <p:cNvPicPr>
            <a:picLocks noChangeAspect="1"/>
          </p:cNvPicPr>
          <p:nvPr>
            <p:custDataLst>
              <p:tags r:id="rId24"/>
            </p:custDataLst>
          </p:nvPr>
        </p:nvPicPr>
        <p:blipFill>
          <a:blip r:embed="rId7">
            <a:alphaModFix amt="10000"/>
          </a:blip>
          <a:stretch>
            <a:fillRect/>
          </a:stretch>
        </p:blipFill>
        <p:spPr>
          <a:xfrm>
            <a:off x="3765747" y="1534826"/>
            <a:ext cx="530506" cy="257215"/>
          </a:xfrm>
          <a:prstGeom prst="rect">
            <a:avLst/>
          </a:prstGeom>
        </p:spPr>
      </p:pic>
      <p:pic>
        <p:nvPicPr>
          <p:cNvPr id="23" name="Image 11" descr="preencoded.png"/>
          <p:cNvPicPr>
            <a:picLocks noChangeAspect="1"/>
          </p:cNvPicPr>
          <p:nvPr>
            <p:custDataLst>
              <p:tags r:id="rId25"/>
            </p:custDataLst>
          </p:nvPr>
        </p:nvPicPr>
        <p:blipFill>
          <a:blip r:embed="rId7">
            <a:alphaModFix amt="10000"/>
          </a:blip>
          <a:stretch>
            <a:fillRect/>
          </a:stretch>
        </p:blipFill>
        <p:spPr>
          <a:xfrm>
            <a:off x="6441731" y="1534826"/>
            <a:ext cx="530506" cy="25721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5128" y="102771"/>
            <a:ext cx="7150733" cy="585216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2100" b="1" dirty="0">
                <a:solidFill>
                  <a:srgbClr val="002B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国外研究现状</a:t>
            </a:r>
            <a:endParaRPr lang="en-US" sz="15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489" y="222075"/>
            <a:ext cx="346608" cy="346608"/>
          </a:xfrm>
          <a:prstGeom prst="rect">
            <a:avLst/>
          </a:prstGeom>
        </p:spPr>
      </p:pic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897" y="222075"/>
            <a:ext cx="346608" cy="346608"/>
          </a:xfrm>
          <a:prstGeom prst="rect">
            <a:avLst/>
          </a:prstGeom>
        </p:spPr>
      </p:pic>
      <p:pic>
        <p:nvPicPr>
          <p:cNvPr id="5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305" y="222075"/>
            <a:ext cx="346608" cy="346608"/>
          </a:xfrm>
          <a:prstGeom prst="rect">
            <a:avLst/>
          </a:prstGeom>
        </p:spPr>
      </p:pic>
      <p:pic>
        <p:nvPicPr>
          <p:cNvPr id="6" name="Image 3" descr="preencoded.png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5">
            <a:alphaModFix amt="10000"/>
          </a:blip>
          <a:stretch>
            <a:fillRect/>
          </a:stretch>
        </p:blipFill>
        <p:spPr>
          <a:xfrm>
            <a:off x="601345" y="1882140"/>
            <a:ext cx="2487295" cy="2825115"/>
          </a:xfrm>
          <a:prstGeom prst="rect">
            <a:avLst/>
          </a:prstGeom>
        </p:spPr>
      </p:pic>
      <p:pic>
        <p:nvPicPr>
          <p:cNvPr id="7" name="Image 4" descr="preencoded.png"/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7">
            <a:alphaModFix amt="10000"/>
          </a:blip>
          <a:stretch>
            <a:fillRect/>
          </a:stretch>
        </p:blipFill>
        <p:spPr>
          <a:xfrm>
            <a:off x="1066906" y="1534826"/>
            <a:ext cx="530506" cy="257215"/>
          </a:xfrm>
          <a:prstGeom prst="rect">
            <a:avLst/>
          </a:prstGeom>
        </p:spPr>
      </p:pic>
      <p:pic>
        <p:nvPicPr>
          <p:cNvPr id="8" name="Image 5" descr="preencoded.png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9"/>
          <a:stretch>
            <a:fillRect/>
          </a:stretch>
        </p:blipFill>
        <p:spPr>
          <a:xfrm>
            <a:off x="640994" y="1018720"/>
            <a:ext cx="426013" cy="426013"/>
          </a:xfrm>
          <a:prstGeom prst="rect">
            <a:avLst/>
          </a:prstGeom>
        </p:spPr>
      </p:pic>
      <p:sp>
        <p:nvSpPr>
          <p:cNvPr id="9" name="Shape 1"/>
          <p:cNvSpPr/>
          <p:nvPr>
            <p:custDataLst>
              <p:tags r:id="rId10"/>
            </p:custDataLst>
          </p:nvPr>
        </p:nvSpPr>
        <p:spPr>
          <a:xfrm>
            <a:off x="1589475" y="1289285"/>
            <a:ext cx="1334304" cy="0"/>
          </a:xfrm>
          <a:custGeom>
            <a:avLst/>
            <a:gdLst/>
            <a:ahLst/>
            <a:cxnLst/>
            <a:rect l="l" t="t" r="r" b="b"/>
            <a:pathLst>
              <a:path w="1334304">
                <a:moveTo>
                  <a:pt x="0" y="0"/>
                </a:moveTo>
                <a:lnTo>
                  <a:pt x="1334304" y="0"/>
                </a:lnTo>
              </a:path>
            </a:pathLst>
          </a:custGeom>
          <a:noFill/>
          <a:ln w="19050">
            <a:solidFill>
              <a:srgbClr val="0055FF"/>
            </a:solidFill>
            <a:prstDash val="solid"/>
            <a:headEnd type="none"/>
            <a:tailEnd type="arrow"/>
          </a:ln>
        </p:spPr>
      </p:sp>
      <p:pic>
        <p:nvPicPr>
          <p:cNvPr id="10" name="Image 6" descr="preencoded.png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5">
            <a:alphaModFix amt="10000"/>
          </a:blip>
          <a:stretch>
            <a:fillRect/>
          </a:stretch>
        </p:blipFill>
        <p:spPr>
          <a:xfrm>
            <a:off x="3416935" y="1890395"/>
            <a:ext cx="2487295" cy="2852420"/>
          </a:xfrm>
          <a:prstGeom prst="rect">
            <a:avLst/>
          </a:prstGeom>
        </p:spPr>
      </p:pic>
      <p:pic>
        <p:nvPicPr>
          <p:cNvPr id="11" name="Image 7" descr="preencoded.png"/>
          <p:cNvPicPr>
            <a:picLocks noChangeAspect="1"/>
          </p:cNvPicPr>
          <p:nvPr>
            <p:custDataLst>
              <p:tags r:id="rId12"/>
            </p:custDataLst>
          </p:nvPr>
        </p:nvPicPr>
        <p:blipFill>
          <a:blip r:embed="rId13">
            <a:alphaModFix amt="10000"/>
          </a:blip>
          <a:stretch>
            <a:fillRect/>
          </a:stretch>
        </p:blipFill>
        <p:spPr>
          <a:xfrm>
            <a:off x="6015990" y="1791970"/>
            <a:ext cx="2487295" cy="2960370"/>
          </a:xfrm>
          <a:prstGeom prst="rect">
            <a:avLst/>
          </a:prstGeom>
        </p:spPr>
      </p:pic>
      <p:sp>
        <p:nvSpPr>
          <p:cNvPr id="12" name="Text 2"/>
          <p:cNvSpPr/>
          <p:nvPr>
            <p:custDataLst>
              <p:tags r:id="rId14"/>
            </p:custDataLst>
          </p:nvPr>
        </p:nvSpPr>
        <p:spPr>
          <a:xfrm>
            <a:off x="711217" y="1938345"/>
            <a:ext cx="2267712" cy="2960370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indent="254000" algn="just" fontAlgn="auto">
              <a:lnSpc>
                <a:spcPct val="150000"/>
              </a:lnSpc>
              <a:spcBef>
                <a:spcPts val="300"/>
              </a:spcBef>
              <a:buNone/>
              <a:extLst>
                <a:ext uri="{35155182-B16C-46BC-9424-99874614C6A1}">
                  <wpsdc:indentchars xmlns:wpsdc="http://www.wps.cn/officeDocument/2017/drawingmlCustomData" val="200" checksum="3013784323"/>
                </a:ext>
              </a:extLst>
            </a:pPr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在国外，宠物垂直领域的电子商务已经发展到高度成熟的阶段，市场上涌现了如</a:t>
            </a:r>
            <a:r>
              <a:rPr lang="en-US" altLang="zh-CN" sz="1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 Chewy (</a:t>
            </a:r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美国</a:t>
            </a:r>
            <a:r>
              <a:rPr lang="en-US" altLang="zh-CN" sz="1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) </a:t>
            </a:r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和</a:t>
            </a:r>
            <a:r>
              <a:rPr lang="en-US" altLang="zh-CN" sz="1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 Zooplus (</a:t>
            </a:r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欧洲</a:t>
            </a:r>
            <a:r>
              <a:rPr lang="en-US" altLang="zh-CN" sz="1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) </a:t>
            </a:r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这样的巨头。例如，</a:t>
            </a:r>
            <a:r>
              <a:rPr lang="en-US" altLang="zh-CN" sz="1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Chewy </a:t>
            </a:r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凭借其庞大的商品种类</a:t>
            </a:r>
            <a:r>
              <a:rPr lang="en-US" altLang="zh-CN" sz="1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 (SKU)</a:t>
            </a:r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、高效的物流配送以及</a:t>
            </a:r>
            <a:r>
              <a:rPr lang="en-US" altLang="zh-CN" sz="1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“Autoship”</a:t>
            </a:r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自动订阅配送服务，建立了极高的用户忠诚度。它不仅是一个销售平台，更通过卓越的客户服务（如手写贺卡、宠物画像）和个性化的关怀，与用户建立了深厚的情感连接。这些国外成熟产品的共同特点是：</a:t>
            </a:r>
            <a:endParaRPr lang="zh-CN" altLang="en-US" sz="1000" dirty="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13" name="Text 3"/>
          <p:cNvSpPr/>
          <p:nvPr>
            <p:custDataLst>
              <p:tags r:id="rId15"/>
            </p:custDataLst>
          </p:nvPr>
        </p:nvSpPr>
        <p:spPr>
          <a:xfrm>
            <a:off x="3526790" y="1956435"/>
            <a:ext cx="2267585" cy="1666240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noAutofit/>
          </a:bodyPr>
          <a:lstStyle/>
          <a:p>
            <a:pPr indent="254000" algn="just" fontAlgn="auto">
              <a:lnSpc>
                <a:spcPct val="150000"/>
              </a:lnSpc>
              <a:spcBef>
                <a:spcPts val="300"/>
              </a:spcBef>
              <a:buNone/>
              <a:extLst>
                <a:ext uri="{35155182-B16C-46BC-9424-99874614C6A1}">
                  <wpsdc:indentchars xmlns:wpsdc="http://www.wps.cn/officeDocument/2017/drawingmlCustomData" val="200" checksum="3013784323"/>
                </a:ext>
              </a:extLst>
            </a:pPr>
            <a:r>
              <a:rPr lang="zh-CN" altLang="en-US" sz="1000" dirty="0"/>
              <a:t>供应链与服务深度整合：</a:t>
            </a:r>
            <a:r>
              <a:rPr lang="en-US" altLang="zh-CN" sz="1000" dirty="0"/>
              <a:t> </a:t>
            </a:r>
            <a:r>
              <a:rPr lang="zh-CN" altLang="en-US" sz="1000" dirty="0"/>
              <a:t>通过订阅制服务锁定长期客户，并利用高效仓储保证配送时效。</a:t>
            </a:r>
            <a:endParaRPr lang="zh-CN" altLang="en-US" sz="1000" dirty="0"/>
          </a:p>
          <a:p>
            <a:pPr indent="254000" algn="just" fontAlgn="auto">
              <a:lnSpc>
                <a:spcPct val="150000"/>
              </a:lnSpc>
              <a:spcBef>
                <a:spcPts val="300"/>
              </a:spcBef>
              <a:buNone/>
              <a:extLst>
                <a:ext uri="{35155182-B16C-46BC-9424-99874614C6A1}">
                  <wpsdc:indentchars xmlns:wpsdc="http://www.wps.cn/officeDocument/2017/drawingmlCustomData" val="200" checksum="3013784323"/>
                </a:ext>
              </a:extLst>
            </a:pPr>
            <a:r>
              <a:rPr lang="zh-CN" altLang="en-US" sz="1000" dirty="0"/>
              <a:t>数据驱动的个性化：</a:t>
            </a:r>
            <a:r>
              <a:rPr lang="en-US" altLang="zh-CN" sz="1000" dirty="0"/>
              <a:t> </a:t>
            </a:r>
            <a:r>
              <a:rPr lang="zh-CN" altLang="en-US" sz="1000" dirty="0"/>
              <a:t>基于用户的购买历史和宠物信息（品种、年龄、健康状况）提供精准的商品推荐，例如特定配方的处方粮。</a:t>
            </a:r>
            <a:endParaRPr lang="zh-CN" altLang="en-US" sz="1000" dirty="0"/>
          </a:p>
          <a:p>
            <a:pPr indent="254000" algn="just" fontAlgn="auto">
              <a:lnSpc>
                <a:spcPct val="150000"/>
              </a:lnSpc>
              <a:spcBef>
                <a:spcPts val="300"/>
              </a:spcBef>
              <a:buNone/>
              <a:extLst>
                <a:ext uri="{35155182-B16C-46BC-9424-99874614C6A1}">
                  <wpsdc:indentchars xmlns:wpsdc="http://www.wps.cn/officeDocument/2017/drawingmlCustomData" val="200" checksum="3013784323"/>
                </a:ext>
              </a:extLst>
            </a:pPr>
            <a:r>
              <a:rPr lang="zh-CN" altLang="en-US" sz="1000" dirty="0"/>
              <a:t>生态闭环构建：</a:t>
            </a:r>
            <a:r>
              <a:rPr lang="en-US" altLang="zh-CN" sz="1000" dirty="0"/>
              <a:t> </a:t>
            </a:r>
            <a:r>
              <a:rPr lang="zh-CN" altLang="en-US" sz="1000" dirty="0"/>
              <a:t>逐步从实物电商拓展至在线兽医咨询、宠物保险、美容预约等服务领域，打造一站式宠物生活平台。</a:t>
            </a:r>
            <a:endParaRPr lang="zh-CN" altLang="en-US" sz="1000" dirty="0"/>
          </a:p>
        </p:txBody>
      </p:sp>
      <p:sp>
        <p:nvSpPr>
          <p:cNvPr id="14" name="Text 4"/>
          <p:cNvSpPr/>
          <p:nvPr>
            <p:custDataLst>
              <p:tags r:id="rId16"/>
            </p:custDataLst>
          </p:nvPr>
        </p:nvSpPr>
        <p:spPr>
          <a:xfrm>
            <a:off x="6125566" y="1938345"/>
            <a:ext cx="2267712" cy="2960370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indent="254000" algn="just" fontAlgn="auto">
              <a:lnSpc>
                <a:spcPct val="150000"/>
              </a:lnSpc>
              <a:spcBef>
                <a:spcPts val="300"/>
              </a:spcBef>
              <a:buNone/>
              <a:extLst>
                <a:ext uri="{35155182-B16C-46BC-9424-99874614C6A1}">
                  <wpsdc:indentchars xmlns:wpsdc="http://www.wps.cn/officeDocument/2017/drawingmlCustomData" val="200" checksum="3013784323"/>
                </a:ext>
              </a:extLst>
            </a:pPr>
            <a:r>
              <a:rPr lang="zh-CN" altLang="en-US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微软雅黑" panose="020B0503020204020204" pitchFamily="34" charset="-120"/>
              </a:rPr>
              <a:t>综上所述，无论是国内还是国外，宠物电商平台都在朝着数据化、个性化和社区化</a:t>
            </a:r>
            <a:r>
              <a:rPr lang="en-US" altLang="zh-CN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微软雅黑" panose="020B0503020204020204" pitchFamily="34" charset="-120"/>
              </a:rPr>
              <a:t> </a:t>
            </a:r>
            <a:r>
              <a:rPr lang="zh-CN" altLang="en-US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微软雅黑" panose="020B0503020204020204" pitchFamily="34" charset="-120"/>
              </a:rPr>
              <a:t>的方向深度发展。本课题</a:t>
            </a:r>
            <a:r>
              <a:rPr lang="en-US" altLang="zh-CN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微软雅黑" panose="020B0503020204020204" pitchFamily="34" charset="-120"/>
              </a:rPr>
              <a:t>“</a:t>
            </a:r>
            <a:r>
              <a:rPr lang="zh-CN" altLang="en-US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微软雅黑" panose="020B0503020204020204" pitchFamily="34" charset="-120"/>
              </a:rPr>
              <a:t>星落宠物用品销售网站系统</a:t>
            </a:r>
            <a:r>
              <a:rPr lang="en-US" altLang="zh-CN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微软雅黑" panose="020B0503020204020204" pitchFamily="34" charset="-120"/>
              </a:rPr>
              <a:t>”</a:t>
            </a:r>
            <a:r>
              <a:rPr lang="zh-CN" altLang="en-US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微软雅黑" panose="020B0503020204020204" pitchFamily="34" charset="-120"/>
              </a:rPr>
              <a:t>正是在借鉴了这些成熟平台理念的基础上，旨在解决个性化推荐不足</a:t>
            </a:r>
            <a:r>
              <a:rPr lang="en-US" altLang="zh-CN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微软雅黑" panose="020B0503020204020204" pitchFamily="34" charset="-120"/>
              </a:rPr>
              <a:t> </a:t>
            </a:r>
            <a:r>
              <a:rPr lang="zh-CN" altLang="en-US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微软雅黑" panose="020B0503020204020204" pitchFamily="34" charset="-120"/>
              </a:rPr>
              <a:t>的痛点。本系统将重点通过建立详尽的</a:t>
            </a:r>
            <a:r>
              <a:rPr lang="en-US" altLang="zh-CN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微软雅黑" panose="020B0503020204020204" pitchFamily="34" charset="-120"/>
              </a:rPr>
              <a:t>“</a:t>
            </a:r>
            <a:r>
              <a:rPr lang="zh-CN" altLang="en-US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微软雅黑" panose="020B0503020204020204" pitchFamily="34" charset="-120"/>
              </a:rPr>
              <a:t>用户和宠物专属档案</a:t>
            </a:r>
            <a:r>
              <a:rPr lang="en-US" altLang="zh-CN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微软雅黑" panose="020B0503020204020204" pitchFamily="34" charset="-120"/>
              </a:rPr>
              <a:t>” </a:t>
            </a:r>
            <a:r>
              <a:rPr lang="zh-CN" altLang="en-US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微软雅黑" panose="020B0503020204020204" pitchFamily="34" charset="-120"/>
              </a:rPr>
              <a:t>，结合</a:t>
            </a:r>
            <a:r>
              <a:rPr lang="en-US" altLang="zh-CN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微软雅黑" panose="020B0503020204020204" pitchFamily="34" charset="-120"/>
              </a:rPr>
              <a:t>“</a:t>
            </a:r>
            <a:r>
              <a:rPr lang="zh-CN" altLang="en-US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微软雅黑" panose="020B0503020204020204" pitchFamily="34" charset="-120"/>
              </a:rPr>
              <a:t>宠物社区模块</a:t>
            </a:r>
            <a:r>
              <a:rPr lang="en-US" altLang="zh-CN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微软雅黑" panose="020B0503020204020204" pitchFamily="34" charset="-120"/>
              </a:rPr>
              <a:t>” </a:t>
            </a:r>
            <a:r>
              <a:rPr lang="zh-CN" altLang="en-US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微软雅黑" panose="020B0503020204020204" pitchFamily="34" charset="-120"/>
              </a:rPr>
              <a:t>的互动数据，实现</a:t>
            </a:r>
            <a:r>
              <a:rPr lang="en-US" altLang="zh-CN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微软雅黑" panose="020B0503020204020204" pitchFamily="34" charset="-120"/>
              </a:rPr>
              <a:t>“</a:t>
            </a:r>
            <a:r>
              <a:rPr lang="zh-CN" altLang="en-US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微软雅黑" panose="020B0503020204020204" pitchFamily="34" charset="-120"/>
              </a:rPr>
              <a:t>千人千面</a:t>
            </a:r>
            <a:r>
              <a:rPr lang="en-US" altLang="zh-CN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微软雅黑" panose="020B0503020204020204" pitchFamily="34" charset="-120"/>
              </a:rPr>
              <a:t>”</a:t>
            </a:r>
            <a:r>
              <a:rPr lang="zh-CN" altLang="en-US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微软雅黑" panose="020B0503020204020204" pitchFamily="34" charset="-120"/>
              </a:rPr>
              <a:t>的精准营销和个性化搜索</a:t>
            </a:r>
            <a:r>
              <a:rPr lang="en-US" altLang="zh-CN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微软雅黑" panose="020B0503020204020204" pitchFamily="34" charset="-120"/>
              </a:rPr>
              <a:t> </a:t>
            </a:r>
            <a:r>
              <a:rPr lang="zh-CN" altLang="en-US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微软雅黑" panose="020B0503020204020204" pitchFamily="34" charset="-120"/>
              </a:rPr>
              <a:t>，从而提升用户购物体验和平台粘性</a:t>
            </a:r>
            <a:r>
              <a:rPr lang="en-US" altLang="zh-CN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微软雅黑" panose="020B0503020204020204" pitchFamily="34" charset="-120"/>
              </a:rPr>
              <a:t> </a:t>
            </a:r>
            <a:r>
              <a:rPr lang="zh-CN" altLang="en-US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微软雅黑" panose="020B0503020204020204" pitchFamily="34" charset="-120"/>
              </a:rPr>
              <a:t>。</a:t>
            </a:r>
            <a:endParaRPr lang="zh-CN" altLang="en-US" sz="10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微软雅黑" panose="020B0503020204020204" pitchFamily="34" charset="-120"/>
            </a:endParaRPr>
          </a:p>
        </p:txBody>
      </p:sp>
      <p:sp>
        <p:nvSpPr>
          <p:cNvPr id="15" name="Text 5"/>
          <p:cNvSpPr/>
          <p:nvPr>
            <p:custDataLst>
              <p:tags r:id="rId17"/>
            </p:custDataLst>
          </p:nvPr>
        </p:nvSpPr>
        <p:spPr>
          <a:xfrm>
            <a:off x="640994" y="1048069"/>
            <a:ext cx="679728" cy="365760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01</a:t>
            </a:r>
            <a:endParaRPr lang="en-US" sz="1500" dirty="0"/>
          </a:p>
        </p:txBody>
      </p:sp>
      <p:pic>
        <p:nvPicPr>
          <p:cNvPr id="16" name="Image 8" descr="preencoded.png"/>
          <p:cNvPicPr>
            <a:picLocks noChangeAspect="1"/>
          </p:cNvPicPr>
          <p:nvPr>
            <p:custDataLst>
              <p:tags r:id="rId18"/>
            </p:custDataLst>
          </p:nvPr>
        </p:nvPicPr>
        <p:blipFill>
          <a:blip r:embed="rId9"/>
          <a:stretch>
            <a:fillRect/>
          </a:stretch>
        </p:blipFill>
        <p:spPr>
          <a:xfrm>
            <a:off x="3339835" y="1018720"/>
            <a:ext cx="426013" cy="426013"/>
          </a:xfrm>
          <a:prstGeom prst="rect">
            <a:avLst/>
          </a:prstGeom>
        </p:spPr>
      </p:pic>
      <p:sp>
        <p:nvSpPr>
          <p:cNvPr id="17" name="Text 6"/>
          <p:cNvSpPr/>
          <p:nvPr>
            <p:custDataLst>
              <p:tags r:id="rId19"/>
            </p:custDataLst>
          </p:nvPr>
        </p:nvSpPr>
        <p:spPr>
          <a:xfrm>
            <a:off x="3349080" y="1048069"/>
            <a:ext cx="709960" cy="365760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02</a:t>
            </a:r>
            <a:endParaRPr lang="en-US" sz="1500" dirty="0"/>
          </a:p>
        </p:txBody>
      </p:sp>
      <p:pic>
        <p:nvPicPr>
          <p:cNvPr id="18" name="Image 9" descr="preencoded.png"/>
          <p:cNvPicPr>
            <a:picLocks noChangeAspect="1"/>
          </p:cNvPicPr>
          <p:nvPr>
            <p:custDataLst>
              <p:tags r:id="rId20"/>
            </p:custDataLst>
          </p:nvPr>
        </p:nvPicPr>
        <p:blipFill>
          <a:blip r:embed="rId9"/>
          <a:stretch>
            <a:fillRect/>
          </a:stretch>
        </p:blipFill>
        <p:spPr>
          <a:xfrm>
            <a:off x="6015819" y="1018720"/>
            <a:ext cx="426013" cy="426013"/>
          </a:xfrm>
          <a:prstGeom prst="rect">
            <a:avLst/>
          </a:prstGeom>
        </p:spPr>
      </p:pic>
      <p:sp>
        <p:nvSpPr>
          <p:cNvPr id="19" name="Text 7"/>
          <p:cNvSpPr/>
          <p:nvPr>
            <p:custDataLst>
              <p:tags r:id="rId21"/>
            </p:custDataLst>
          </p:nvPr>
        </p:nvSpPr>
        <p:spPr>
          <a:xfrm>
            <a:off x="6016304" y="1048069"/>
            <a:ext cx="723664" cy="365760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03</a:t>
            </a:r>
            <a:endParaRPr lang="en-US" sz="1500" dirty="0"/>
          </a:p>
        </p:txBody>
      </p:sp>
      <p:sp>
        <p:nvSpPr>
          <p:cNvPr id="20" name="Shape 8"/>
          <p:cNvSpPr/>
          <p:nvPr>
            <p:custDataLst>
              <p:tags r:id="rId22"/>
            </p:custDataLst>
          </p:nvPr>
        </p:nvSpPr>
        <p:spPr>
          <a:xfrm>
            <a:off x="4228093" y="1289285"/>
            <a:ext cx="1334304" cy="0"/>
          </a:xfrm>
          <a:custGeom>
            <a:avLst/>
            <a:gdLst/>
            <a:ahLst/>
            <a:cxnLst/>
            <a:rect l="l" t="t" r="r" b="b"/>
            <a:pathLst>
              <a:path w="1334304">
                <a:moveTo>
                  <a:pt x="0" y="0"/>
                </a:moveTo>
                <a:lnTo>
                  <a:pt x="1334304" y="0"/>
                </a:lnTo>
              </a:path>
            </a:pathLst>
          </a:custGeom>
          <a:noFill/>
          <a:ln w="19050">
            <a:solidFill>
              <a:srgbClr val="0055FF"/>
            </a:solidFill>
            <a:prstDash val="solid"/>
            <a:headEnd type="none"/>
            <a:tailEnd type="arrow"/>
          </a:ln>
        </p:spPr>
      </p:sp>
      <p:sp>
        <p:nvSpPr>
          <p:cNvPr id="21" name="Shape 9"/>
          <p:cNvSpPr/>
          <p:nvPr>
            <p:custDataLst>
              <p:tags r:id="rId23"/>
            </p:custDataLst>
          </p:nvPr>
        </p:nvSpPr>
        <p:spPr>
          <a:xfrm>
            <a:off x="6913035" y="1289285"/>
            <a:ext cx="1334304" cy="0"/>
          </a:xfrm>
          <a:custGeom>
            <a:avLst/>
            <a:gdLst/>
            <a:ahLst/>
            <a:cxnLst/>
            <a:rect l="l" t="t" r="r" b="b"/>
            <a:pathLst>
              <a:path w="1334304">
                <a:moveTo>
                  <a:pt x="0" y="0"/>
                </a:moveTo>
                <a:lnTo>
                  <a:pt x="1334304" y="0"/>
                </a:lnTo>
              </a:path>
            </a:pathLst>
          </a:custGeom>
          <a:noFill/>
          <a:ln w="19050">
            <a:solidFill>
              <a:srgbClr val="0055FF"/>
            </a:solidFill>
            <a:prstDash val="solid"/>
            <a:headEnd type="none"/>
            <a:tailEnd type="arrow"/>
          </a:ln>
        </p:spPr>
      </p:sp>
      <p:pic>
        <p:nvPicPr>
          <p:cNvPr id="22" name="Image 10" descr="preencoded.png"/>
          <p:cNvPicPr>
            <a:picLocks noChangeAspect="1"/>
          </p:cNvPicPr>
          <p:nvPr>
            <p:custDataLst>
              <p:tags r:id="rId24"/>
            </p:custDataLst>
          </p:nvPr>
        </p:nvPicPr>
        <p:blipFill>
          <a:blip r:embed="rId7">
            <a:alphaModFix amt="10000"/>
          </a:blip>
          <a:stretch>
            <a:fillRect/>
          </a:stretch>
        </p:blipFill>
        <p:spPr>
          <a:xfrm>
            <a:off x="3765747" y="1534826"/>
            <a:ext cx="530506" cy="257215"/>
          </a:xfrm>
          <a:prstGeom prst="rect">
            <a:avLst/>
          </a:prstGeom>
        </p:spPr>
      </p:pic>
      <p:pic>
        <p:nvPicPr>
          <p:cNvPr id="23" name="Image 11" descr="preencoded.png"/>
          <p:cNvPicPr>
            <a:picLocks noChangeAspect="1"/>
          </p:cNvPicPr>
          <p:nvPr>
            <p:custDataLst>
              <p:tags r:id="rId25"/>
            </p:custDataLst>
          </p:nvPr>
        </p:nvPicPr>
        <p:blipFill>
          <a:blip r:embed="rId7">
            <a:alphaModFix amt="10000"/>
          </a:blip>
          <a:stretch>
            <a:fillRect/>
          </a:stretch>
        </p:blipFill>
        <p:spPr>
          <a:xfrm>
            <a:off x="6441731" y="1534826"/>
            <a:ext cx="530506" cy="25721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370" y="438260"/>
            <a:ext cx="914028" cy="91402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45154" y="1959269"/>
            <a:ext cx="5339328" cy="786384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3300" b="1" dirty="0">
                <a:solidFill>
                  <a:srgbClr val="0055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研究内容方法及功能结构图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345154" y="742055"/>
            <a:ext cx="1356643" cy="941832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4050" b="1" dirty="0">
                <a:solidFill>
                  <a:srgbClr val="002B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03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5128" y="102771"/>
            <a:ext cx="7150733" cy="585216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2100" b="1" dirty="0">
                <a:solidFill>
                  <a:srgbClr val="002B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课题研究的目标和内容</a:t>
            </a:r>
            <a:endParaRPr lang="en-US" sz="15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489" y="222075"/>
            <a:ext cx="346608" cy="346608"/>
          </a:xfrm>
          <a:prstGeom prst="rect">
            <a:avLst/>
          </a:prstGeom>
        </p:spPr>
      </p:pic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897" y="222075"/>
            <a:ext cx="346608" cy="346608"/>
          </a:xfrm>
          <a:prstGeom prst="rect">
            <a:avLst/>
          </a:prstGeom>
        </p:spPr>
      </p:pic>
      <p:pic>
        <p:nvPicPr>
          <p:cNvPr id="5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305" y="222075"/>
            <a:ext cx="346608" cy="346608"/>
          </a:xfrm>
          <a:prstGeom prst="rect">
            <a:avLst/>
          </a:prstGeom>
        </p:spPr>
      </p:pic>
      <p:pic>
        <p:nvPicPr>
          <p:cNvPr id="6" name="Image 3" descr="preencoded.png"/>
          <p:cNvPicPr>
            <a:picLocks noChangeAspect="1"/>
          </p:cNvPicPr>
          <p:nvPr/>
        </p:nvPicPr>
        <p:blipFill>
          <a:blip r:embed="rId4">
            <a:alphaModFix amt="20000"/>
          </a:blip>
          <a:stretch>
            <a:fillRect/>
          </a:stretch>
        </p:blipFill>
        <p:spPr>
          <a:xfrm>
            <a:off x="603401" y="1099566"/>
            <a:ext cx="7497539" cy="1148825"/>
          </a:xfrm>
          <a:prstGeom prst="rect">
            <a:avLst/>
          </a:prstGeom>
        </p:spPr>
      </p:pic>
      <p:pic>
        <p:nvPicPr>
          <p:cNvPr id="7" name="Image 4" descr="preencoded.png"/>
          <p:cNvPicPr>
            <a:picLocks noChangeAspect="1"/>
          </p:cNvPicPr>
          <p:nvPr/>
        </p:nvPicPr>
        <p:blipFill>
          <a:blip r:embed="rId5">
            <a:alphaModFix amt="20000"/>
          </a:blip>
          <a:stretch>
            <a:fillRect/>
          </a:stretch>
        </p:blipFill>
        <p:spPr>
          <a:xfrm rot="-8100000">
            <a:off x="8148204" y="3558047"/>
            <a:ext cx="325055" cy="325055"/>
          </a:xfrm>
          <a:prstGeom prst="rect">
            <a:avLst/>
          </a:prstGeom>
        </p:spPr>
      </p:pic>
      <p:pic>
        <p:nvPicPr>
          <p:cNvPr id="8" name="Image 5" descr="preencoded.png"/>
          <p:cNvPicPr>
            <a:picLocks noChangeAspect="1"/>
          </p:cNvPicPr>
          <p:nvPr/>
        </p:nvPicPr>
        <p:blipFill>
          <a:blip r:embed="rId6">
            <a:alphaModFix amt="20000"/>
          </a:blip>
          <a:stretch>
            <a:fillRect/>
          </a:stretch>
        </p:blipFill>
        <p:spPr>
          <a:xfrm>
            <a:off x="601489" y="2311193"/>
            <a:ext cx="7497539" cy="2557724"/>
          </a:xfrm>
          <a:prstGeom prst="rect">
            <a:avLst/>
          </a:prstGeom>
        </p:spPr>
      </p:pic>
      <p:pic>
        <p:nvPicPr>
          <p:cNvPr id="9" name="Image 6" descr="preencoded.png"/>
          <p:cNvPicPr>
            <a:picLocks noChangeAspect="1"/>
          </p:cNvPicPr>
          <p:nvPr/>
        </p:nvPicPr>
        <p:blipFill>
          <a:blip r:embed="rId5">
            <a:alphaModFix amt="20000"/>
          </a:blip>
          <a:stretch>
            <a:fillRect/>
          </a:stretch>
        </p:blipFill>
        <p:spPr>
          <a:xfrm rot="-8100000">
            <a:off x="8148223" y="2543063"/>
            <a:ext cx="325055" cy="325055"/>
          </a:xfrm>
          <a:prstGeom prst="rect">
            <a:avLst/>
          </a:prstGeom>
        </p:spPr>
      </p:pic>
      <p:pic>
        <p:nvPicPr>
          <p:cNvPr id="10" name="Image 7" descr="preencoded.png"/>
          <p:cNvPicPr>
            <a:picLocks noChangeAspect="1"/>
          </p:cNvPicPr>
          <p:nvPr/>
        </p:nvPicPr>
        <p:blipFill>
          <a:blip r:embed="rId5">
            <a:alphaModFix amt="20000"/>
          </a:blip>
          <a:stretch>
            <a:fillRect/>
          </a:stretch>
        </p:blipFill>
        <p:spPr>
          <a:xfrm rot="-8100000">
            <a:off x="8148185" y="1394239"/>
            <a:ext cx="325055" cy="325055"/>
          </a:xfrm>
          <a:prstGeom prst="rect">
            <a:avLst/>
          </a:prstGeom>
        </p:spPr>
      </p:pic>
      <p:sp>
        <p:nvSpPr>
          <p:cNvPr id="11" name="Text 1"/>
          <p:cNvSpPr/>
          <p:nvPr/>
        </p:nvSpPr>
        <p:spPr>
          <a:xfrm>
            <a:off x="834307" y="1323749"/>
            <a:ext cx="2845133" cy="573106"/>
          </a:xfrm>
          <a:prstGeom prst="rect">
            <a:avLst/>
          </a:prstGeom>
          <a:noFill/>
        </p:spPr>
        <p:txBody>
          <a:bodyPr wrap="square" lIns="95250" tIns="95250" rIns="95250" bIns="95250" rtlCol="0" anchor="ctr">
            <a:sp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0055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课题研究的目标</a:t>
            </a:r>
            <a:endParaRPr lang="en-US" sz="1500" dirty="0"/>
          </a:p>
        </p:txBody>
      </p:sp>
      <p:sp>
        <p:nvSpPr>
          <p:cNvPr id="12" name="Text 2"/>
          <p:cNvSpPr/>
          <p:nvPr/>
        </p:nvSpPr>
        <p:spPr>
          <a:xfrm>
            <a:off x="3586576" y="1371083"/>
            <a:ext cx="4333133" cy="605790"/>
          </a:xfrm>
          <a:prstGeom prst="rect">
            <a:avLst/>
          </a:prstGeom>
          <a:noFill/>
        </p:spPr>
        <p:txBody>
          <a:bodyPr wrap="square" lIns="95250" tIns="95250" rIns="95250" bIns="95250" rtlCol="0" anchor="ctr">
            <a:spAutoFit/>
          </a:bodyPr>
          <a:lstStyle/>
          <a:p>
            <a:pPr indent="0" fontAlgn="auto">
              <a:lnSpc>
                <a:spcPct val="150000"/>
              </a:lnSpc>
              <a:spcBef>
                <a:spcPts val="300"/>
              </a:spcBef>
              <a:buNone/>
            </a:pPr>
            <a:r>
              <a:rPr 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本课题的研究目标是设计并实现一个研究目标： 本设计要求开发一个“星落宠物用品销售网站”平台 。完成一个可运行的宠物用品在线销售网站.</a:t>
            </a:r>
            <a:endParaRPr lang="en-US" sz="9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13" name="Text 3"/>
          <p:cNvSpPr/>
          <p:nvPr/>
        </p:nvSpPr>
        <p:spPr>
          <a:xfrm>
            <a:off x="774793" y="2409000"/>
            <a:ext cx="2531059" cy="2459917"/>
          </a:xfrm>
          <a:prstGeom prst="rect">
            <a:avLst/>
          </a:prstGeom>
          <a:noFill/>
        </p:spPr>
        <p:txBody>
          <a:bodyPr wrap="square" lIns="95250" tIns="95250" rIns="95250" bIns="95250" rtlCol="0" anchor="ctr">
            <a:sp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0055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课题研究的角色内容</a:t>
            </a:r>
            <a:endParaRPr lang="en-US" sz="1500" dirty="0"/>
          </a:p>
        </p:txBody>
      </p:sp>
      <p:sp>
        <p:nvSpPr>
          <p:cNvPr id="14" name="Text 4"/>
          <p:cNvSpPr/>
          <p:nvPr/>
        </p:nvSpPr>
        <p:spPr>
          <a:xfrm>
            <a:off x="3586480" y="2312035"/>
            <a:ext cx="4333240" cy="2557145"/>
          </a:xfrm>
          <a:prstGeom prst="rect">
            <a:avLst/>
          </a:prstGeom>
          <a:noFill/>
        </p:spPr>
        <p:txBody>
          <a:bodyPr wrap="square" lIns="95250" tIns="95250" rIns="95250" bIns="95250" rtlCol="0" anchor="t" anchorCtr="0">
            <a:noAutofit/>
          </a:bodyPr>
          <a:lstStyle/>
          <a:p>
            <a:pPr indent="0" algn="l" fontAlgn="auto">
              <a:lnSpc>
                <a:spcPct val="150000"/>
              </a:lnSpc>
              <a:spcBef>
                <a:spcPts val="300"/>
              </a:spcBef>
              <a:buNone/>
            </a:pPr>
            <a:r>
              <a:rPr 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本系统结合实际需求，设计了</a:t>
            </a:r>
            <a:r>
              <a:rPr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店家</a:t>
            </a:r>
            <a:r>
              <a:rPr 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、管理员和用户三种角色，并分别赋予不同的权限和功能。以下是网站的主要功能概述：</a:t>
            </a:r>
            <a:endParaRPr lang="en-US" sz="1500" dirty="0"/>
          </a:p>
          <a:p>
            <a:pPr indent="0" algn="l" fontAlgn="auto">
              <a:lnSpc>
                <a:spcPct val="150000"/>
              </a:lnSpc>
              <a:spcBef>
                <a:spcPts val="300"/>
              </a:spcBef>
              <a:buNone/>
            </a:pPr>
            <a:r>
              <a:rPr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研究内容：</a:t>
            </a:r>
            <a:r>
              <a:rPr lang="en-US" altLang="zh-CN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 </a:t>
            </a:r>
            <a:r>
              <a:rPr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系统功能主要分为店家端、用户端和管理端</a:t>
            </a:r>
            <a:r>
              <a:rPr lang="en-US" altLang="zh-CN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 </a:t>
            </a:r>
            <a:r>
              <a:rPr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zh-CN" altLang="en-US" sz="9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  <a:p>
            <a:pPr indent="0" algn="l" fontAlgn="auto">
              <a:lnSpc>
                <a:spcPct val="150000"/>
              </a:lnSpc>
              <a:spcBef>
                <a:spcPts val="300"/>
              </a:spcBef>
              <a:buNone/>
            </a:pPr>
            <a:r>
              <a:rPr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店家端：（</a:t>
            </a:r>
            <a:r>
              <a:rPr lang="en-US" altLang="zh-CN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</a:t>
            </a:r>
            <a:r>
              <a:rPr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）店铺与商品管理模块</a:t>
            </a:r>
            <a:r>
              <a:rPr lang="en-US" altLang="zh-CN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 </a:t>
            </a:r>
            <a:r>
              <a:rPr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（</a:t>
            </a:r>
            <a:r>
              <a:rPr lang="en-US" altLang="zh-CN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</a:t>
            </a:r>
            <a:r>
              <a:rPr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）交易与客户服务模块</a:t>
            </a:r>
            <a:r>
              <a:rPr lang="en-US" altLang="zh-CN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 </a:t>
            </a:r>
            <a:r>
              <a:rPr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（</a:t>
            </a:r>
            <a:r>
              <a:rPr lang="en-US" altLang="zh-CN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</a:t>
            </a:r>
            <a:r>
              <a:rPr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）营销推广模块</a:t>
            </a:r>
            <a:r>
              <a:rPr lang="en-US" altLang="zh-CN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 </a:t>
            </a:r>
            <a:endParaRPr lang="en-US" altLang="zh-CN" sz="9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  <a:p>
            <a:pPr indent="0" algn="l" fontAlgn="auto">
              <a:lnSpc>
                <a:spcPct val="150000"/>
              </a:lnSpc>
              <a:spcBef>
                <a:spcPts val="300"/>
              </a:spcBef>
              <a:buNone/>
            </a:pPr>
            <a:r>
              <a:rPr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用户端：（</a:t>
            </a:r>
            <a:r>
              <a:rPr lang="en-US" altLang="zh-CN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</a:t>
            </a:r>
            <a:r>
              <a:rPr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）用户与宠物档案模块</a:t>
            </a:r>
            <a:r>
              <a:rPr lang="en-US" altLang="zh-CN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 </a:t>
            </a:r>
            <a:r>
              <a:rPr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（</a:t>
            </a:r>
            <a:r>
              <a:rPr lang="en-US" altLang="zh-CN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</a:t>
            </a:r>
            <a:r>
              <a:rPr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）商城核心功能模块（含个性化推荐与订阅服务）</a:t>
            </a:r>
            <a:r>
              <a:rPr lang="en-US" altLang="zh-CN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 </a:t>
            </a:r>
            <a:r>
              <a:rPr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（</a:t>
            </a:r>
            <a:r>
              <a:rPr lang="en-US" altLang="zh-CN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</a:t>
            </a:r>
            <a:r>
              <a:rPr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）订单与评价体系</a:t>
            </a:r>
            <a:r>
              <a:rPr lang="en-US" altLang="zh-CN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 </a:t>
            </a:r>
            <a:r>
              <a:rPr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（</a:t>
            </a:r>
            <a:r>
              <a:rPr lang="en-US" altLang="zh-CN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4</a:t>
            </a:r>
            <a:r>
              <a:rPr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）宠物社区模块</a:t>
            </a:r>
            <a:r>
              <a:rPr lang="en-US" altLang="zh-CN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 </a:t>
            </a:r>
            <a:endParaRPr lang="en-US" altLang="zh-CN" sz="9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  <a:p>
            <a:pPr indent="0" algn="l" fontAlgn="auto">
              <a:lnSpc>
                <a:spcPct val="150000"/>
              </a:lnSpc>
              <a:spcBef>
                <a:spcPts val="300"/>
              </a:spcBef>
              <a:buNone/>
            </a:pPr>
            <a:r>
              <a:rPr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管理端：（</a:t>
            </a:r>
            <a:r>
              <a:rPr lang="en-US" altLang="zh-CN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</a:t>
            </a:r>
            <a:r>
              <a:rPr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）基础管理模块（含权限、用户与店家管理）</a:t>
            </a:r>
            <a:r>
              <a:rPr lang="en-US" altLang="zh-CN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 </a:t>
            </a:r>
            <a:r>
              <a:rPr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（</a:t>
            </a:r>
            <a:r>
              <a:rPr lang="en-US" altLang="zh-CN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</a:t>
            </a:r>
            <a:r>
              <a:rPr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）平台运营模块（含商品分类、内容审核、结算管理）</a:t>
            </a:r>
            <a:r>
              <a:rPr lang="en-US" altLang="zh-CN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 </a:t>
            </a:r>
            <a:r>
              <a:rPr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（</a:t>
            </a:r>
            <a:r>
              <a:rPr lang="en-US" altLang="zh-CN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</a:t>
            </a:r>
            <a:r>
              <a:rPr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）数据看板模块</a:t>
            </a:r>
            <a:endParaRPr lang="zh-CN" altLang="en-US" sz="9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5128" y="102771"/>
            <a:ext cx="7150733" cy="585216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2100" b="1" dirty="0">
                <a:solidFill>
                  <a:srgbClr val="002B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课题研究方法</a:t>
            </a:r>
            <a:endParaRPr lang="en-US" sz="15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489" y="222075"/>
            <a:ext cx="346608" cy="346608"/>
          </a:xfrm>
          <a:prstGeom prst="rect">
            <a:avLst/>
          </a:prstGeom>
        </p:spPr>
      </p:pic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897" y="222075"/>
            <a:ext cx="346608" cy="346608"/>
          </a:xfrm>
          <a:prstGeom prst="rect">
            <a:avLst/>
          </a:prstGeom>
        </p:spPr>
      </p:pic>
      <p:pic>
        <p:nvPicPr>
          <p:cNvPr id="5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305" y="222075"/>
            <a:ext cx="346608" cy="346608"/>
          </a:xfrm>
          <a:prstGeom prst="rect">
            <a:avLst/>
          </a:prstGeom>
        </p:spPr>
      </p:pic>
      <p:pic>
        <p:nvPicPr>
          <p:cNvPr id="6" name="Image 3" descr="preencoded.png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5">
            <a:alphaModFix amt="50000"/>
          </a:blip>
          <a:stretch>
            <a:fillRect/>
          </a:stretch>
        </p:blipFill>
        <p:spPr>
          <a:xfrm rot="-366000">
            <a:off x="641874" y="1004724"/>
            <a:ext cx="2450592" cy="3284003"/>
          </a:xfrm>
          <a:prstGeom prst="rect">
            <a:avLst/>
          </a:prstGeom>
        </p:spPr>
      </p:pic>
      <p:pic>
        <p:nvPicPr>
          <p:cNvPr id="7" name="Image 4" descr="preencoded.png"/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679498" y="987328"/>
            <a:ext cx="2450592" cy="3243323"/>
          </a:xfrm>
          <a:prstGeom prst="rect">
            <a:avLst/>
          </a:prstGeom>
        </p:spPr>
      </p:pic>
      <p:pic>
        <p:nvPicPr>
          <p:cNvPr id="8" name="Image 5" descr="preencoded.png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9"/>
          <a:stretch>
            <a:fillRect/>
          </a:stretch>
        </p:blipFill>
        <p:spPr>
          <a:xfrm>
            <a:off x="692065" y="924995"/>
            <a:ext cx="512064" cy="512064"/>
          </a:xfrm>
          <a:prstGeom prst="rect">
            <a:avLst/>
          </a:prstGeom>
        </p:spPr>
      </p:pic>
      <p:sp>
        <p:nvSpPr>
          <p:cNvPr id="9" name="Text 1"/>
          <p:cNvSpPr/>
          <p:nvPr>
            <p:custDataLst>
              <p:tags r:id="rId10"/>
            </p:custDataLst>
          </p:nvPr>
        </p:nvSpPr>
        <p:spPr>
          <a:xfrm>
            <a:off x="541223" y="870131"/>
            <a:ext cx="813748" cy="566928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2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01</a:t>
            </a:r>
            <a:endParaRPr lang="en-US" sz="1500" dirty="0"/>
          </a:p>
        </p:txBody>
      </p:sp>
      <p:pic>
        <p:nvPicPr>
          <p:cNvPr id="10" name="Image 6" descr="preencoded.png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12">
            <a:alphaModFix amt="50000"/>
          </a:blip>
          <a:stretch>
            <a:fillRect/>
          </a:stretch>
        </p:blipFill>
        <p:spPr>
          <a:xfrm rot="-366000">
            <a:off x="3435198" y="987374"/>
            <a:ext cx="2450592" cy="3301402"/>
          </a:xfrm>
          <a:prstGeom prst="rect">
            <a:avLst/>
          </a:prstGeom>
        </p:spPr>
      </p:pic>
      <p:pic>
        <p:nvPicPr>
          <p:cNvPr id="11" name="Image 7" descr="preencoded.png"/>
          <p:cNvPicPr>
            <a:picLocks noChangeAspect="1"/>
          </p:cNvPicPr>
          <p:nvPr>
            <p:custDataLst>
              <p:tags r:id="rId13"/>
            </p:custDataLst>
          </p:nvPr>
        </p:nvPicPr>
        <p:blipFill>
          <a:blip r:embed="rId14"/>
          <a:stretch>
            <a:fillRect/>
          </a:stretch>
        </p:blipFill>
        <p:spPr>
          <a:xfrm>
            <a:off x="3435198" y="883816"/>
            <a:ext cx="2450592" cy="3346835"/>
          </a:xfrm>
          <a:prstGeom prst="rect">
            <a:avLst/>
          </a:prstGeom>
        </p:spPr>
      </p:pic>
      <p:pic>
        <p:nvPicPr>
          <p:cNvPr id="12" name="Image 8" descr="preencoded.png"/>
          <p:cNvPicPr>
            <a:picLocks noChangeAspect="1"/>
          </p:cNvPicPr>
          <p:nvPr>
            <p:custDataLst>
              <p:tags r:id="rId15"/>
            </p:custDataLst>
          </p:nvPr>
        </p:nvPicPr>
        <p:blipFill>
          <a:blip r:embed="rId9"/>
          <a:stretch>
            <a:fillRect/>
          </a:stretch>
        </p:blipFill>
        <p:spPr>
          <a:xfrm>
            <a:off x="3514357" y="924995"/>
            <a:ext cx="512064" cy="512064"/>
          </a:xfrm>
          <a:prstGeom prst="rect">
            <a:avLst/>
          </a:prstGeom>
        </p:spPr>
      </p:pic>
      <p:sp>
        <p:nvSpPr>
          <p:cNvPr id="13" name="Text 2"/>
          <p:cNvSpPr/>
          <p:nvPr>
            <p:custDataLst>
              <p:tags r:id="rId16"/>
            </p:custDataLst>
          </p:nvPr>
        </p:nvSpPr>
        <p:spPr>
          <a:xfrm>
            <a:off x="3363515" y="883816"/>
            <a:ext cx="813748" cy="566928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2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02</a:t>
            </a:r>
            <a:endParaRPr lang="en-US" sz="1500" dirty="0"/>
          </a:p>
        </p:txBody>
      </p:sp>
      <p:pic>
        <p:nvPicPr>
          <p:cNvPr id="14" name="Image 9" descr="preencoded.png"/>
          <p:cNvPicPr>
            <a:picLocks noChangeAspect="1"/>
          </p:cNvPicPr>
          <p:nvPr>
            <p:custDataLst>
              <p:tags r:id="rId17"/>
            </p:custDataLst>
          </p:nvPr>
        </p:nvPicPr>
        <p:blipFill>
          <a:blip r:embed="rId18">
            <a:alphaModFix amt="50000"/>
          </a:blip>
          <a:stretch>
            <a:fillRect/>
          </a:stretch>
        </p:blipFill>
        <p:spPr>
          <a:xfrm rot="-366000">
            <a:off x="6044602" y="931739"/>
            <a:ext cx="2450592" cy="3224893"/>
          </a:xfrm>
          <a:prstGeom prst="rect">
            <a:avLst/>
          </a:prstGeom>
        </p:spPr>
      </p:pic>
      <p:pic>
        <p:nvPicPr>
          <p:cNvPr id="15" name="Image 10" descr="preencoded.png"/>
          <p:cNvPicPr>
            <a:picLocks noChangeAspect="1"/>
          </p:cNvPicPr>
          <p:nvPr>
            <p:custDataLst>
              <p:tags r:id="rId19"/>
            </p:custDataLst>
          </p:nvPr>
        </p:nvPicPr>
        <p:blipFill>
          <a:blip r:embed="rId20"/>
          <a:stretch>
            <a:fillRect/>
          </a:stretch>
        </p:blipFill>
        <p:spPr>
          <a:xfrm>
            <a:off x="6093184" y="883816"/>
            <a:ext cx="2450592" cy="3305655"/>
          </a:xfrm>
          <a:prstGeom prst="rect">
            <a:avLst/>
          </a:prstGeom>
        </p:spPr>
      </p:pic>
      <p:pic>
        <p:nvPicPr>
          <p:cNvPr id="16" name="Image 11" descr="preencoded.png"/>
          <p:cNvPicPr>
            <a:picLocks noChangeAspect="1"/>
          </p:cNvPicPr>
          <p:nvPr>
            <p:custDataLst>
              <p:tags r:id="rId21"/>
            </p:custDataLst>
          </p:nvPr>
        </p:nvPicPr>
        <p:blipFill>
          <a:blip r:embed="rId9"/>
          <a:stretch>
            <a:fillRect/>
          </a:stretch>
        </p:blipFill>
        <p:spPr>
          <a:xfrm>
            <a:off x="6205105" y="987328"/>
            <a:ext cx="512064" cy="512064"/>
          </a:xfrm>
          <a:prstGeom prst="rect">
            <a:avLst/>
          </a:prstGeom>
        </p:spPr>
      </p:pic>
      <p:sp>
        <p:nvSpPr>
          <p:cNvPr id="17" name="Text 3"/>
          <p:cNvSpPr/>
          <p:nvPr>
            <p:custDataLst>
              <p:tags r:id="rId22"/>
            </p:custDataLst>
          </p:nvPr>
        </p:nvSpPr>
        <p:spPr>
          <a:xfrm>
            <a:off x="6054263" y="924995"/>
            <a:ext cx="813748" cy="566928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2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03</a:t>
            </a:r>
            <a:endParaRPr lang="en-US" sz="1500" dirty="0"/>
          </a:p>
        </p:txBody>
      </p:sp>
      <p:sp>
        <p:nvSpPr>
          <p:cNvPr id="18" name="Text 4"/>
          <p:cNvSpPr/>
          <p:nvPr>
            <p:custDataLst>
              <p:tags r:id="rId23"/>
            </p:custDataLst>
          </p:nvPr>
        </p:nvSpPr>
        <p:spPr>
          <a:xfrm>
            <a:off x="601489" y="1275364"/>
            <a:ext cx="2449397" cy="467360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zh-CN" altLang="en-US" sz="1800" b="1" dirty="0">
                <a:solidFill>
                  <a:srgbClr val="0055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文献研究</a:t>
            </a:r>
            <a:r>
              <a:rPr lang="en-US" sz="1800" b="1" dirty="0">
                <a:solidFill>
                  <a:srgbClr val="0055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法</a:t>
            </a:r>
            <a:endParaRPr lang="en-US" sz="1500" dirty="0"/>
          </a:p>
        </p:txBody>
      </p:sp>
      <p:sp>
        <p:nvSpPr>
          <p:cNvPr id="19" name="Text 5"/>
          <p:cNvSpPr/>
          <p:nvPr>
            <p:custDataLst>
              <p:tags r:id="rId24"/>
            </p:custDataLst>
          </p:nvPr>
        </p:nvSpPr>
        <p:spPr>
          <a:xfrm>
            <a:off x="774700" y="1674495"/>
            <a:ext cx="2194560" cy="2640965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noAutofit/>
          </a:bodyPr>
          <a:lstStyle/>
          <a:p>
            <a:pPr indent="254000" algn="just" fontAlgn="auto">
              <a:lnSpc>
                <a:spcPct val="150000"/>
              </a:lnSpc>
              <a:spcBef>
                <a:spcPts val="300"/>
              </a:spcBef>
              <a:buNone/>
              <a:extLst>
                <a:ext uri="{35155182-B16C-46BC-9424-99874614C6A1}">
                  <wpsdc:indentchars xmlns:wpsdc="http://www.wps.cn/officeDocument/2017/drawingmlCustomData" val="200" checksum="3013784323"/>
                </a:ext>
              </a:extLst>
            </a:pPr>
            <a:r>
              <a:rPr lang="zh-CN" altLang="en-US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微软雅黑" panose="020B0503020204020204" pitchFamily="34" charset="-120"/>
              </a:rPr>
              <a:t>广泛查阅国内外关于健身管理系统、</a:t>
            </a:r>
            <a:r>
              <a:rPr lang="en-US" altLang="zh-CN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微软雅黑" panose="020B0503020204020204" pitchFamily="34" charset="-120"/>
              </a:rPr>
              <a:t>Web</a:t>
            </a:r>
            <a:r>
              <a:rPr lang="zh-CN" altLang="en-US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微软雅黑" panose="020B0503020204020204" pitchFamily="34" charset="-120"/>
              </a:rPr>
              <a:t>应用开发、数据库设计等领域的学术论文、书籍和技术文档，借鉴现有研究成果和成熟的技术方案。</a:t>
            </a:r>
            <a:r>
              <a:rPr lang="en-US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微软雅黑" panose="020B0503020204020204" pitchFamily="34" charset="-120"/>
                <a:sym typeface="+mn-ea"/>
              </a:rPr>
              <a:t>将通过查阅相关书籍、期刊、论文和在线资源，了解当前</a:t>
            </a:r>
            <a:r>
              <a:rPr lang="zh-CN" altLang="en-US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微软雅黑" panose="020B0503020204020204" pitchFamily="34" charset="-120"/>
                <a:sym typeface="+mn-ea"/>
              </a:rPr>
              <a:t>宠物用品</a:t>
            </a:r>
            <a:r>
              <a:rPr lang="en-US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微软雅黑" panose="020B0503020204020204" pitchFamily="34" charset="-120"/>
                <a:sym typeface="+mn-ea"/>
              </a:rPr>
              <a:t>市场的趋势、软件开发的最佳实践和用户体验设计的原则。这些理论知识将提供指导，确保在开发过程中遵循最佳实践，避免走弯路。</a:t>
            </a:r>
            <a:endParaRPr lang="en-US" sz="10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indent="254000" algn="just" fontAlgn="auto">
              <a:lnSpc>
                <a:spcPct val="150000"/>
              </a:lnSpc>
              <a:spcBef>
                <a:spcPts val="300"/>
              </a:spcBef>
              <a:buNone/>
              <a:extLst>
                <a:ext uri="{35155182-B16C-46BC-9424-99874614C6A1}">
                  <wpsdc:indentchars xmlns:wpsdc="http://www.wps.cn/officeDocument/2017/drawingmlCustomData" val="200" checksum="3013784323"/>
                </a:ext>
              </a:extLst>
            </a:pPr>
            <a:endParaRPr lang="zh-CN" altLang="en-US" sz="10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微软雅黑" panose="020B0503020204020204" pitchFamily="34" charset="-120"/>
            </a:endParaRPr>
          </a:p>
        </p:txBody>
      </p:sp>
      <p:sp>
        <p:nvSpPr>
          <p:cNvPr id="20" name="Text 6"/>
          <p:cNvSpPr/>
          <p:nvPr>
            <p:custDataLst>
              <p:tags r:id="rId25"/>
            </p:custDataLst>
          </p:nvPr>
        </p:nvSpPr>
        <p:spPr>
          <a:xfrm>
            <a:off x="3435796" y="1275364"/>
            <a:ext cx="2449397" cy="467360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zh-CN" altLang="en-US" sz="1800" b="1" dirty="0">
                <a:solidFill>
                  <a:srgbClr val="0055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系统</a:t>
            </a:r>
            <a:r>
              <a:rPr lang="en-US" sz="1800" b="1" dirty="0">
                <a:solidFill>
                  <a:srgbClr val="0055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处理流程</a:t>
            </a:r>
            <a:endParaRPr lang="en-US" sz="1500" dirty="0"/>
          </a:p>
        </p:txBody>
      </p:sp>
      <p:sp>
        <p:nvSpPr>
          <p:cNvPr id="21" name="Text 7"/>
          <p:cNvSpPr/>
          <p:nvPr>
            <p:custDataLst>
              <p:tags r:id="rId26"/>
            </p:custDataLst>
          </p:nvPr>
        </p:nvSpPr>
        <p:spPr>
          <a:xfrm>
            <a:off x="3562985" y="1517650"/>
            <a:ext cx="2194560" cy="3147695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noAutofit/>
          </a:bodyPr>
          <a:lstStyle/>
          <a:p>
            <a:pPr indent="254000" algn="just" fontAlgn="auto">
              <a:lnSpc>
                <a:spcPct val="150000"/>
              </a:lnSpc>
              <a:spcBef>
                <a:spcPts val="300"/>
              </a:spcBef>
              <a:buNone/>
              <a:extLst>
                <a:ext uri="{35155182-B16C-46BC-9424-99874614C6A1}">
                  <wpsdc:indentchars xmlns:wpsdc="http://www.wps.cn/officeDocument/2017/drawingmlCustomData" val="200" checksum="3013784323"/>
                </a:ext>
              </a:extLst>
            </a:pPr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</a:rPr>
              <a:t>：遵循面向对象范式，开展整体架构规划、模块功能拆解以及数据存储设计。借助</a:t>
            </a:r>
            <a:r>
              <a:rPr lang="en-US" altLang="zh-CN" sz="1000" dirty="0">
                <a:latin typeface="宋体" panose="02010600030101010101" pitchFamily="2" charset="-122"/>
                <a:ea typeface="宋体" panose="02010600030101010101" pitchFamily="2" charset="-122"/>
              </a:rPr>
              <a:t>UML</a:t>
            </a:r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</a:rPr>
              <a:t>（统一建模语言）工具，生成类图、序列图等模型，以精确诠释系统的组织形式与动态交互机制。</a:t>
            </a:r>
            <a:endParaRPr lang="zh-CN" altLang="en-US" sz="10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indent="254000" algn="just" fontAlgn="auto">
              <a:lnSpc>
                <a:spcPct val="150000"/>
              </a:lnSpc>
              <a:spcBef>
                <a:spcPts val="300"/>
              </a:spcBef>
              <a:buNone/>
              <a:extLst>
                <a:ext uri="{35155182-B16C-46BC-9424-99874614C6A1}">
                  <wpsdc:indentchars xmlns:wpsdc="http://www.wps.cn/officeDocument/2017/drawingmlCustomData" val="200" checksum="3013784323"/>
                </a:ext>
              </a:extLst>
            </a:pPr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</a:rPr>
              <a:t>敏捷开发与迭代：实施前后端解耦的构建策略。后端依托</a:t>
            </a:r>
            <a:r>
              <a:rPr lang="en-US" altLang="zh-CN" sz="1000" dirty="0">
                <a:latin typeface="宋体" panose="02010600030101010101" pitchFamily="2" charset="-122"/>
                <a:ea typeface="宋体" panose="02010600030101010101" pitchFamily="2" charset="-122"/>
              </a:rPr>
              <a:t>Java</a:t>
            </a:r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</a:rPr>
              <a:t>语言与</a:t>
            </a:r>
            <a:r>
              <a:rPr lang="en-US" altLang="zh-CN" sz="1000" dirty="0">
                <a:latin typeface="宋体" panose="02010600030101010101" pitchFamily="2" charset="-122"/>
                <a:ea typeface="宋体" panose="02010600030101010101" pitchFamily="2" charset="-122"/>
              </a:rPr>
              <a:t>Spring Boot</a:t>
            </a:r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</a:rPr>
              <a:t>框架，前端采用</a:t>
            </a:r>
            <a:r>
              <a:rPr lang="en-US" altLang="zh-CN" sz="1000" dirty="0">
                <a:latin typeface="宋体" panose="02010600030101010101" pitchFamily="2" charset="-122"/>
                <a:ea typeface="宋体" panose="02010600030101010101" pitchFamily="2" charset="-122"/>
              </a:rPr>
              <a:t>Vue.js</a:t>
            </a:r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</a:rPr>
              <a:t>技术栈。通过周期性的短迭代循环，逐层推进代码实现、验证与融合。</a:t>
            </a:r>
            <a:endParaRPr lang="zh-CN" altLang="en-US" sz="10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2" name="Text 8"/>
          <p:cNvSpPr/>
          <p:nvPr>
            <p:custDataLst>
              <p:tags r:id="rId27"/>
            </p:custDataLst>
          </p:nvPr>
        </p:nvSpPr>
        <p:spPr>
          <a:xfrm>
            <a:off x="6172618" y="1275364"/>
            <a:ext cx="2449397" cy="448056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0055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对比分析法</a:t>
            </a:r>
            <a:endParaRPr lang="en-US" sz="1500" dirty="0"/>
          </a:p>
        </p:txBody>
      </p:sp>
      <p:sp>
        <p:nvSpPr>
          <p:cNvPr id="23" name="Text 9"/>
          <p:cNvSpPr/>
          <p:nvPr>
            <p:custDataLst>
              <p:tags r:id="rId28"/>
            </p:custDataLst>
          </p:nvPr>
        </p:nvSpPr>
        <p:spPr>
          <a:xfrm>
            <a:off x="6221200" y="1614791"/>
            <a:ext cx="2194560" cy="2267585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indent="254000" algn="just" fontAlgn="auto">
              <a:lnSpc>
                <a:spcPct val="150000"/>
              </a:lnSpc>
              <a:spcBef>
                <a:spcPts val="300"/>
              </a:spcBef>
              <a:buNone/>
              <a:extLst>
                <a:ext uri="{35155182-B16C-46BC-9424-99874614C6A1}">
                  <wpsdc:indentchars xmlns:wpsdc="http://www.wps.cn/officeDocument/2017/drawingmlCustomData" val="200" checksum="3013784323"/>
                </a:ext>
              </a:extLst>
            </a:pPr>
            <a:r>
              <a:rPr lang="en-US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微软雅黑" panose="020B0503020204020204" pitchFamily="34" charset="-120"/>
              </a:rPr>
              <a:t>对比分析法将用于评估的系统在功能、性能和用户体验等方面与竞品相比的优势和不足。将选择市场上几个具有代表性的童装电商网站作为竞品，对它们的功能模块、操作流程、界面设计等方面进行详细的分析和比较。通过对比分析，可以发现竞品的长处和短处，从而为系统优化提供方向。</a:t>
            </a:r>
            <a:endParaRPr lang="en-US" sz="10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微软雅黑" panose="020B0503020204020204" pitchFamily="34" charset="-12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5128" y="102771"/>
            <a:ext cx="7150733" cy="585216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2100" b="1" dirty="0">
                <a:solidFill>
                  <a:srgbClr val="002B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功能结构图</a:t>
            </a:r>
            <a:endParaRPr lang="en-US" sz="15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489" y="222075"/>
            <a:ext cx="346608" cy="346608"/>
          </a:xfrm>
          <a:prstGeom prst="rect">
            <a:avLst/>
          </a:prstGeom>
        </p:spPr>
      </p:pic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897" y="222075"/>
            <a:ext cx="346608" cy="346608"/>
          </a:xfrm>
          <a:prstGeom prst="rect">
            <a:avLst/>
          </a:prstGeom>
        </p:spPr>
      </p:pic>
      <p:pic>
        <p:nvPicPr>
          <p:cNvPr id="5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305" y="222075"/>
            <a:ext cx="346608" cy="346608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2690" y="769620"/>
            <a:ext cx="7033260" cy="43738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370" y="438260"/>
            <a:ext cx="914028" cy="91402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63370" y="1959269"/>
            <a:ext cx="5221112" cy="786384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3300" b="1" dirty="0">
                <a:solidFill>
                  <a:srgbClr val="0055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可行性分析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345154" y="742055"/>
            <a:ext cx="1356643" cy="941832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4050" b="1" dirty="0">
                <a:solidFill>
                  <a:srgbClr val="002B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04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5128" y="102771"/>
            <a:ext cx="7150733" cy="585216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2100" b="1" dirty="0">
                <a:solidFill>
                  <a:srgbClr val="002B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可行性分析</a:t>
            </a:r>
            <a:endParaRPr lang="en-US" sz="15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489" y="222075"/>
            <a:ext cx="346608" cy="346608"/>
          </a:xfrm>
          <a:prstGeom prst="rect">
            <a:avLst/>
          </a:prstGeom>
        </p:spPr>
      </p:pic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897" y="222075"/>
            <a:ext cx="346608" cy="346608"/>
          </a:xfrm>
          <a:prstGeom prst="rect">
            <a:avLst/>
          </a:prstGeom>
        </p:spPr>
      </p:pic>
      <p:pic>
        <p:nvPicPr>
          <p:cNvPr id="5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305" y="222075"/>
            <a:ext cx="346608" cy="346608"/>
          </a:xfrm>
          <a:prstGeom prst="rect">
            <a:avLst/>
          </a:prstGeom>
        </p:spPr>
      </p:pic>
      <p:pic>
        <p:nvPicPr>
          <p:cNvPr id="6" name="Image 3" descr="preencoded.png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5">
            <a:alphaModFix amt="50000"/>
          </a:blip>
          <a:stretch>
            <a:fillRect/>
          </a:stretch>
        </p:blipFill>
        <p:spPr>
          <a:xfrm rot="-366000">
            <a:off x="524077" y="1002567"/>
            <a:ext cx="2450592" cy="4045980"/>
          </a:xfrm>
          <a:prstGeom prst="rect">
            <a:avLst/>
          </a:prstGeom>
        </p:spPr>
      </p:pic>
      <p:pic>
        <p:nvPicPr>
          <p:cNvPr id="7" name="Image 4" descr="preencoded.png"/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601489" y="947471"/>
            <a:ext cx="2450592" cy="4156172"/>
          </a:xfrm>
          <a:prstGeom prst="rect">
            <a:avLst/>
          </a:prstGeom>
        </p:spPr>
      </p:pic>
      <p:pic>
        <p:nvPicPr>
          <p:cNvPr id="8" name="Image 5" descr="preencoded.png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9"/>
          <a:stretch>
            <a:fillRect/>
          </a:stretch>
        </p:blipFill>
        <p:spPr>
          <a:xfrm>
            <a:off x="692065" y="924995"/>
            <a:ext cx="512064" cy="512064"/>
          </a:xfrm>
          <a:prstGeom prst="rect">
            <a:avLst/>
          </a:prstGeom>
        </p:spPr>
      </p:pic>
      <p:sp>
        <p:nvSpPr>
          <p:cNvPr id="9" name="Text 1"/>
          <p:cNvSpPr/>
          <p:nvPr>
            <p:custDataLst>
              <p:tags r:id="rId10"/>
            </p:custDataLst>
          </p:nvPr>
        </p:nvSpPr>
        <p:spPr>
          <a:xfrm>
            <a:off x="541223" y="870131"/>
            <a:ext cx="813748" cy="566928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2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01</a:t>
            </a:r>
            <a:endParaRPr lang="en-US" sz="1500" dirty="0"/>
          </a:p>
        </p:txBody>
      </p:sp>
      <p:pic>
        <p:nvPicPr>
          <p:cNvPr id="10" name="Image 6" descr="preencoded.png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12">
            <a:alphaModFix amt="50000"/>
          </a:blip>
          <a:stretch>
            <a:fillRect/>
          </a:stretch>
        </p:blipFill>
        <p:spPr>
          <a:xfrm rot="-366000">
            <a:off x="3471349" y="985448"/>
            <a:ext cx="2450592" cy="3981805"/>
          </a:xfrm>
          <a:prstGeom prst="rect">
            <a:avLst/>
          </a:prstGeom>
        </p:spPr>
      </p:pic>
      <p:pic>
        <p:nvPicPr>
          <p:cNvPr id="11" name="Image 7" descr="preencoded.png"/>
          <p:cNvPicPr>
            <a:picLocks noChangeAspect="1"/>
          </p:cNvPicPr>
          <p:nvPr>
            <p:custDataLst>
              <p:tags r:id="rId13"/>
            </p:custDataLst>
          </p:nvPr>
        </p:nvPicPr>
        <p:blipFill>
          <a:blip r:embed="rId14"/>
          <a:stretch>
            <a:fillRect/>
          </a:stretch>
        </p:blipFill>
        <p:spPr>
          <a:xfrm>
            <a:off x="3435198" y="883816"/>
            <a:ext cx="2450592" cy="4219827"/>
          </a:xfrm>
          <a:prstGeom prst="rect">
            <a:avLst/>
          </a:prstGeom>
        </p:spPr>
      </p:pic>
      <p:pic>
        <p:nvPicPr>
          <p:cNvPr id="12" name="Image 8" descr="preencoded.png"/>
          <p:cNvPicPr>
            <a:picLocks noChangeAspect="1"/>
          </p:cNvPicPr>
          <p:nvPr>
            <p:custDataLst>
              <p:tags r:id="rId15"/>
            </p:custDataLst>
          </p:nvPr>
        </p:nvPicPr>
        <p:blipFill>
          <a:blip r:embed="rId9"/>
          <a:stretch>
            <a:fillRect/>
          </a:stretch>
        </p:blipFill>
        <p:spPr>
          <a:xfrm>
            <a:off x="3514357" y="924995"/>
            <a:ext cx="512064" cy="512064"/>
          </a:xfrm>
          <a:prstGeom prst="rect">
            <a:avLst/>
          </a:prstGeom>
        </p:spPr>
      </p:pic>
      <p:sp>
        <p:nvSpPr>
          <p:cNvPr id="13" name="Text 2"/>
          <p:cNvSpPr/>
          <p:nvPr>
            <p:custDataLst>
              <p:tags r:id="rId16"/>
            </p:custDataLst>
          </p:nvPr>
        </p:nvSpPr>
        <p:spPr>
          <a:xfrm>
            <a:off x="3363515" y="883816"/>
            <a:ext cx="813748" cy="566928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2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02</a:t>
            </a:r>
            <a:endParaRPr lang="en-US" sz="1500" dirty="0"/>
          </a:p>
        </p:txBody>
      </p:sp>
      <p:pic>
        <p:nvPicPr>
          <p:cNvPr id="14" name="Image 9" descr="preencoded.png"/>
          <p:cNvPicPr>
            <a:picLocks noChangeAspect="1"/>
          </p:cNvPicPr>
          <p:nvPr>
            <p:custDataLst>
              <p:tags r:id="rId17"/>
            </p:custDataLst>
          </p:nvPr>
        </p:nvPicPr>
        <p:blipFill>
          <a:blip r:embed="rId18">
            <a:alphaModFix amt="50000"/>
          </a:blip>
          <a:stretch>
            <a:fillRect/>
          </a:stretch>
        </p:blipFill>
        <p:spPr>
          <a:xfrm rot="-366000">
            <a:off x="6089978" y="929321"/>
            <a:ext cx="2450592" cy="4078909"/>
          </a:xfrm>
          <a:prstGeom prst="rect">
            <a:avLst/>
          </a:prstGeom>
        </p:spPr>
      </p:pic>
      <p:pic>
        <p:nvPicPr>
          <p:cNvPr id="15" name="Image 10" descr="preencoded.png"/>
          <p:cNvPicPr>
            <a:picLocks noChangeAspect="1"/>
          </p:cNvPicPr>
          <p:nvPr>
            <p:custDataLst>
              <p:tags r:id="rId19"/>
            </p:custDataLst>
          </p:nvPr>
        </p:nvPicPr>
        <p:blipFill>
          <a:blip r:embed="rId14"/>
          <a:stretch>
            <a:fillRect/>
          </a:stretch>
        </p:blipFill>
        <p:spPr>
          <a:xfrm>
            <a:off x="6093184" y="883816"/>
            <a:ext cx="2450592" cy="4219827"/>
          </a:xfrm>
          <a:prstGeom prst="rect">
            <a:avLst/>
          </a:prstGeom>
        </p:spPr>
      </p:pic>
      <p:pic>
        <p:nvPicPr>
          <p:cNvPr id="16" name="Image 11" descr="preencoded.png"/>
          <p:cNvPicPr>
            <a:picLocks noChangeAspect="1"/>
          </p:cNvPicPr>
          <p:nvPr>
            <p:custDataLst>
              <p:tags r:id="rId20"/>
            </p:custDataLst>
          </p:nvPr>
        </p:nvPicPr>
        <p:blipFill>
          <a:blip r:embed="rId9"/>
          <a:stretch>
            <a:fillRect/>
          </a:stretch>
        </p:blipFill>
        <p:spPr>
          <a:xfrm>
            <a:off x="6205105" y="987328"/>
            <a:ext cx="512064" cy="512064"/>
          </a:xfrm>
          <a:prstGeom prst="rect">
            <a:avLst/>
          </a:prstGeom>
        </p:spPr>
      </p:pic>
      <p:sp>
        <p:nvSpPr>
          <p:cNvPr id="17" name="Text 3"/>
          <p:cNvSpPr/>
          <p:nvPr>
            <p:custDataLst>
              <p:tags r:id="rId21"/>
            </p:custDataLst>
          </p:nvPr>
        </p:nvSpPr>
        <p:spPr>
          <a:xfrm>
            <a:off x="6054263" y="924995"/>
            <a:ext cx="813748" cy="566928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2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03</a:t>
            </a:r>
            <a:endParaRPr lang="en-US" sz="1500" dirty="0"/>
          </a:p>
        </p:txBody>
      </p:sp>
      <p:sp>
        <p:nvSpPr>
          <p:cNvPr id="18" name="Text 4"/>
          <p:cNvSpPr/>
          <p:nvPr>
            <p:custDataLst>
              <p:tags r:id="rId22"/>
            </p:custDataLst>
          </p:nvPr>
        </p:nvSpPr>
        <p:spPr>
          <a:xfrm>
            <a:off x="601489" y="1051336"/>
            <a:ext cx="2449397" cy="467360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zh-CN" altLang="en-US" sz="1800" b="1" dirty="0">
                <a:solidFill>
                  <a:srgbClr val="0055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经济</a:t>
            </a:r>
            <a:r>
              <a:rPr lang="en-US" sz="1800" b="1" dirty="0">
                <a:solidFill>
                  <a:srgbClr val="0055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可行性</a:t>
            </a:r>
            <a:endParaRPr lang="en-US" sz="1500" dirty="0"/>
          </a:p>
        </p:txBody>
      </p:sp>
      <p:sp>
        <p:nvSpPr>
          <p:cNvPr id="19" name="Text 5"/>
          <p:cNvSpPr/>
          <p:nvPr>
            <p:custDataLst>
              <p:tags r:id="rId23"/>
            </p:custDataLst>
          </p:nvPr>
        </p:nvSpPr>
        <p:spPr>
          <a:xfrm>
            <a:off x="692150" y="1695450"/>
            <a:ext cx="2194560" cy="3171825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noAutofit/>
          </a:bodyPr>
          <a:lstStyle/>
          <a:p>
            <a:pPr indent="381000" algn="just" fontAlgn="auto">
              <a:lnSpc>
                <a:spcPct val="100000"/>
              </a:lnSpc>
              <a:spcBef>
                <a:spcPts val="300"/>
              </a:spcBef>
              <a:buNone/>
              <a:extLst>
                <a:ext uri="{35155182-B16C-46BC-9424-99874614C6A1}">
                  <wpsdc:indentchars xmlns:wpsdc="http://www.wps.cn/officeDocument/2017/drawingmlCustomData" val="200" checksum="2033819950"/>
                </a:ext>
              </a:extLst>
            </a:pPr>
            <a:r>
              <a:rPr lang="zh-CN" altLang="en-US" sz="1500" dirty="0"/>
              <a:t>经济可行性：研究所需的软件工具（如</a:t>
            </a:r>
            <a:r>
              <a:rPr lang="en-US" altLang="zh-CN" sz="1500" dirty="0"/>
              <a:t>JDK</a:t>
            </a:r>
            <a:r>
              <a:rPr lang="zh-CN" altLang="en-US" sz="1500" dirty="0"/>
              <a:t>、</a:t>
            </a:r>
            <a:r>
              <a:rPr lang="en-US" altLang="zh-CN" sz="1500" dirty="0"/>
              <a:t>Maven</a:t>
            </a:r>
            <a:r>
              <a:rPr lang="zh-CN" altLang="en-US" sz="1500" dirty="0"/>
              <a:t>、</a:t>
            </a:r>
            <a:r>
              <a:rPr lang="en-US" altLang="zh-CN" sz="1500" dirty="0"/>
              <a:t>MySQL</a:t>
            </a:r>
            <a:r>
              <a:rPr lang="zh-CN" altLang="en-US" sz="1500" dirty="0"/>
              <a:t>、</a:t>
            </a:r>
            <a:r>
              <a:rPr lang="en-US" altLang="zh-CN" sz="1500" dirty="0"/>
              <a:t>IDEA</a:t>
            </a:r>
            <a:r>
              <a:rPr lang="zh-CN" altLang="en-US" sz="1500" dirty="0"/>
              <a:t>社区版等）均为免费或开源软件，硬件方面使用个人计算机即可满足开发要求，无需投入额外的经济成本。</a:t>
            </a:r>
            <a:endParaRPr lang="zh-CN" altLang="en-US" sz="1500" dirty="0"/>
          </a:p>
        </p:txBody>
      </p:sp>
      <p:sp>
        <p:nvSpPr>
          <p:cNvPr id="20" name="Text 6"/>
          <p:cNvSpPr/>
          <p:nvPr>
            <p:custDataLst>
              <p:tags r:id="rId24"/>
            </p:custDataLst>
          </p:nvPr>
        </p:nvSpPr>
        <p:spPr>
          <a:xfrm>
            <a:off x="3435796" y="1051336"/>
            <a:ext cx="2449397" cy="448056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0055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技术可行性</a:t>
            </a:r>
            <a:endParaRPr lang="en-US" sz="1500" dirty="0"/>
          </a:p>
        </p:txBody>
      </p:sp>
      <p:sp>
        <p:nvSpPr>
          <p:cNvPr id="21" name="Text 7"/>
          <p:cNvSpPr/>
          <p:nvPr>
            <p:custDataLst>
              <p:tags r:id="rId25"/>
            </p:custDataLst>
          </p:nvPr>
        </p:nvSpPr>
        <p:spPr>
          <a:xfrm>
            <a:off x="3562985" y="1700530"/>
            <a:ext cx="2194560" cy="2867660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noAutofit/>
          </a:bodyPr>
          <a:lstStyle/>
          <a:p>
            <a:pPr indent="304800" algn="just" fontAlgn="auto">
              <a:lnSpc>
                <a:spcPct val="100000"/>
              </a:lnSpc>
              <a:spcBef>
                <a:spcPts val="300"/>
              </a:spcBef>
              <a:buNone/>
              <a:extLst>
                <a:ext uri="{35155182-B16C-46BC-9424-99874614C6A1}">
                  <wpsdc:indentchars xmlns:wpsdc="http://www.wps.cn/officeDocument/2017/drawingmlCustomData" val="200" checksum="1077528236"/>
                </a:ext>
              </a:extLst>
            </a:pPr>
            <a:r>
              <a:rPr lang="zh-CN" altLang="en-US" sz="1200" dirty="0"/>
              <a:t>技术可行性：本系统计划采用</a:t>
            </a:r>
            <a:r>
              <a:rPr lang="en-US" altLang="zh-CN" sz="1200" dirty="0"/>
              <a:t> SpringBoot + Vue + MySQL </a:t>
            </a:r>
            <a:r>
              <a:rPr lang="zh-CN" altLang="en-US" sz="1200" dirty="0"/>
              <a:t>的技术栈。这些都是当今主流、成熟的</a:t>
            </a:r>
            <a:r>
              <a:rPr lang="en-US" altLang="zh-CN" sz="1200" dirty="0"/>
              <a:t>Web</a:t>
            </a:r>
            <a:r>
              <a:rPr lang="zh-CN" altLang="en-US" sz="1200" dirty="0"/>
              <a:t>开发技术，拥有丰富的开源社区支持和海量的技术文档。开发工具如</a:t>
            </a:r>
            <a:r>
              <a:rPr lang="en-US" altLang="zh-CN" sz="1200" dirty="0"/>
              <a:t>IntelliJ IDEA</a:t>
            </a:r>
            <a:r>
              <a:rPr lang="zh-CN" altLang="en-US" sz="1200" dirty="0"/>
              <a:t>、</a:t>
            </a:r>
            <a:r>
              <a:rPr lang="en-US" altLang="zh-CN" sz="1200" dirty="0"/>
              <a:t>VSCode</a:t>
            </a:r>
            <a:r>
              <a:rPr lang="zh-CN" altLang="en-US" sz="1200" dirty="0"/>
              <a:t>等功能强大且易于获取。因此，从技术角度来看，本课题的实现不存在难以逾越的障碍。</a:t>
            </a:r>
            <a:endParaRPr lang="zh-CN" altLang="en-US" sz="1200" dirty="0"/>
          </a:p>
        </p:txBody>
      </p:sp>
      <p:sp>
        <p:nvSpPr>
          <p:cNvPr id="22" name="Text 8"/>
          <p:cNvSpPr/>
          <p:nvPr>
            <p:custDataLst>
              <p:tags r:id="rId26"/>
            </p:custDataLst>
          </p:nvPr>
        </p:nvSpPr>
        <p:spPr>
          <a:xfrm>
            <a:off x="6210205" y="1153595"/>
            <a:ext cx="2449397" cy="467360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zh-CN" altLang="en-US" sz="1800" b="1" dirty="0">
                <a:solidFill>
                  <a:srgbClr val="0055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操作可行性</a:t>
            </a:r>
            <a:endParaRPr lang="en-US" sz="1500" dirty="0"/>
          </a:p>
        </p:txBody>
      </p:sp>
      <p:sp>
        <p:nvSpPr>
          <p:cNvPr id="23" name="Text 9"/>
          <p:cNvSpPr/>
          <p:nvPr>
            <p:custDataLst>
              <p:tags r:id="rId27"/>
            </p:custDataLst>
          </p:nvPr>
        </p:nvSpPr>
        <p:spPr>
          <a:xfrm>
            <a:off x="6217920" y="1665605"/>
            <a:ext cx="2194560" cy="3134995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noAutofit/>
          </a:bodyPr>
          <a:lstStyle/>
          <a:p>
            <a:pPr indent="304800" algn="just" fontAlgn="auto">
              <a:lnSpc>
                <a:spcPct val="100000"/>
              </a:lnSpc>
              <a:spcBef>
                <a:spcPts val="300"/>
              </a:spcBef>
              <a:buClrTx/>
              <a:buSzTx/>
              <a:buFontTx/>
              <a:buNone/>
              <a:extLst>
                <a:ext uri="{35155182-B16C-46BC-9424-99874614C6A1}">
                  <wpsdc:indentchars xmlns:wpsdc="http://www.wps.cn/officeDocument/2017/drawingmlCustomData" val="200" checksum="1077528236"/>
                </a:ext>
              </a:extLst>
            </a:pPr>
            <a:r>
              <a:rPr lang="zh-CN" altLang="en-US" sz="1200" dirty="0"/>
              <a:t>操作可行性：系统将设计简洁直观的用户界面和清晰的操作流程，使得不同角色的用户都能快速上手。系统部署在服务器上后，用户通过浏览器即可访问，操作便捷，具有良好的可行性。系统界面设计注重简约与用户导向，操作路径逻辑清晰，便于各类用户角色快速适应。</a:t>
            </a:r>
            <a:endParaRPr lang="zh-CN" alt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370" y="438260"/>
            <a:ext cx="914028" cy="91402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63370" y="1959269"/>
            <a:ext cx="5221112" cy="786384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3300" b="1" dirty="0">
                <a:solidFill>
                  <a:srgbClr val="0055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课题特色及预期目标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345154" y="742055"/>
            <a:ext cx="1356643" cy="941832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4050" b="1" dirty="0">
                <a:solidFill>
                  <a:srgbClr val="002B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05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5128" y="102771"/>
            <a:ext cx="7150733" cy="585216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2100" b="1" dirty="0">
                <a:solidFill>
                  <a:srgbClr val="002B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课题特色</a:t>
            </a:r>
            <a:endParaRPr lang="en-US" sz="15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489" y="222075"/>
            <a:ext cx="346608" cy="346608"/>
          </a:xfrm>
          <a:prstGeom prst="rect">
            <a:avLst/>
          </a:prstGeom>
        </p:spPr>
      </p:pic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897" y="222075"/>
            <a:ext cx="346608" cy="346608"/>
          </a:xfrm>
          <a:prstGeom prst="rect">
            <a:avLst/>
          </a:prstGeom>
        </p:spPr>
      </p:pic>
      <p:pic>
        <p:nvPicPr>
          <p:cNvPr id="5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305" y="222075"/>
            <a:ext cx="346608" cy="346608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3809365" y="1210310"/>
            <a:ext cx="4593590" cy="2943225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noAutofit/>
          </a:bodyPr>
          <a:lstStyle/>
          <a:p>
            <a:pPr indent="304800" algn="just" fontAlgn="auto">
              <a:lnSpc>
                <a:spcPct val="150000"/>
              </a:lnSpc>
              <a:spcBef>
                <a:spcPts val="300"/>
              </a:spcBef>
              <a:buNone/>
              <a:extLst>
                <a:ext uri="{35155182-B16C-46BC-9424-99874614C6A1}">
                  <wpsdc:indentchars xmlns:wpsdc="http://www.wps.cn/officeDocument/2017/drawingmlCustomData" val="200" checksum="1077528236"/>
                </a:ext>
              </a:extLst>
            </a:pP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微软雅黑" panose="020B0503020204020204" pitchFamily="34" charset="-120"/>
              </a:rPr>
              <a:t>个性化与精准营销：</a:t>
            </a:r>
            <a:r>
              <a:rPr lang="en-US" altLang="zh-CN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微软雅黑" panose="020B0503020204020204" pitchFamily="34" charset="-120"/>
              </a:rPr>
              <a:t> 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微软雅黑" panose="020B0503020204020204" pitchFamily="34" charset="-120"/>
              </a:rPr>
              <a:t>区别于传统货架式电商</a:t>
            </a:r>
            <a:r>
              <a:rPr lang="en-US" altLang="zh-CN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微软雅黑" panose="020B0503020204020204" pitchFamily="34" charset="-120"/>
              </a:rPr>
              <a:t> 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微软雅黑" panose="020B0503020204020204" pitchFamily="34" charset="-120"/>
              </a:rPr>
              <a:t>，本系统通过建立用户和宠物的专属档案，实现</a:t>
            </a:r>
            <a:r>
              <a:rPr lang="en-US" altLang="zh-CN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微软雅黑" panose="020B0503020204020204" pitchFamily="34" charset="-120"/>
              </a:rPr>
              <a:t>“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微软雅黑" panose="020B0503020204020204" pitchFamily="34" charset="-120"/>
              </a:rPr>
              <a:t>千人千面</a:t>
            </a:r>
            <a:r>
              <a:rPr lang="en-US" altLang="zh-CN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微软雅黑" panose="020B0503020204020204" pitchFamily="34" charset="-120"/>
              </a:rPr>
              <a:t>”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微软雅黑" panose="020B0503020204020204" pitchFamily="34" charset="-120"/>
              </a:rPr>
              <a:t>的精准营销和个性化商品搜索</a:t>
            </a:r>
            <a:r>
              <a:rPr lang="en-US" altLang="zh-CN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微软雅黑" panose="020B0503020204020204" pitchFamily="34" charset="-120"/>
              </a:rPr>
              <a:t> 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微软雅黑" panose="020B0503020204020204" pitchFamily="34" charset="-120"/>
              </a:rPr>
              <a:t>。</a:t>
            </a:r>
            <a:endParaRPr lang="zh-CN" altLang="en-US" sz="12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微软雅黑" panose="020B0503020204020204" pitchFamily="34" charset="-120"/>
            </a:endParaRPr>
          </a:p>
          <a:p>
            <a:pPr indent="304800" algn="just" fontAlgn="auto">
              <a:lnSpc>
                <a:spcPct val="150000"/>
              </a:lnSpc>
              <a:spcBef>
                <a:spcPts val="300"/>
              </a:spcBef>
              <a:buNone/>
              <a:extLst>
                <a:ext uri="{35155182-B16C-46BC-9424-99874614C6A1}">
                  <wpsdc:indentchars xmlns:wpsdc="http://www.wps.cn/officeDocument/2017/drawingmlCustomData" val="200" checksum="1077528236"/>
                </a:ext>
              </a:extLst>
            </a:pP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微软雅黑" panose="020B0503020204020204" pitchFamily="34" charset="-120"/>
              </a:rPr>
              <a:t>社区化电商：</a:t>
            </a:r>
            <a:r>
              <a:rPr lang="en-US" altLang="zh-CN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微软雅黑" panose="020B0503020204020204" pitchFamily="34" charset="-120"/>
              </a:rPr>
              <a:t> 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微软雅黑" panose="020B0503020204020204" pitchFamily="34" charset="-120"/>
              </a:rPr>
              <a:t>系统不仅是销售平台，还重点建设</a:t>
            </a:r>
            <a:r>
              <a:rPr lang="en-US" altLang="zh-CN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微软雅黑" panose="020B0503020204020204" pitchFamily="34" charset="-120"/>
              </a:rPr>
              <a:t>“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微软雅黑" panose="020B0503020204020204" pitchFamily="34" charset="-120"/>
              </a:rPr>
              <a:t>宠物社区模块</a:t>
            </a:r>
            <a:r>
              <a:rPr lang="en-US" altLang="zh-CN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微软雅黑" panose="020B0503020204020204" pitchFamily="34" charset="-120"/>
              </a:rPr>
              <a:t>” 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微软雅黑" panose="020B0503020204020204" pitchFamily="34" charset="-120"/>
              </a:rPr>
              <a:t>，通过社区互动增强用户粘性，满足宠物主的情感与社交需求</a:t>
            </a:r>
            <a:r>
              <a:rPr lang="en-US" altLang="zh-CN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微软雅黑" panose="020B0503020204020204" pitchFamily="34" charset="-120"/>
              </a:rPr>
              <a:t> 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微软雅黑" panose="020B0503020204020204" pitchFamily="34" charset="-120"/>
              </a:rPr>
              <a:t>。</a:t>
            </a:r>
            <a:endParaRPr lang="zh-CN" altLang="en-US" sz="12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微软雅黑" panose="020B0503020204020204" pitchFamily="34" charset="-120"/>
            </a:endParaRPr>
          </a:p>
          <a:p>
            <a:pPr indent="304800" algn="just" fontAlgn="auto">
              <a:lnSpc>
                <a:spcPct val="150000"/>
              </a:lnSpc>
              <a:spcBef>
                <a:spcPts val="300"/>
              </a:spcBef>
              <a:buNone/>
              <a:extLst>
                <a:ext uri="{35155182-B16C-46BC-9424-99874614C6A1}">
                  <wpsdc:indentchars xmlns:wpsdc="http://www.wps.cn/officeDocument/2017/drawingmlCustomData" val="200" checksum="1077528236"/>
                </a:ext>
              </a:extLst>
            </a:pP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微软雅黑" panose="020B0503020204020204" pitchFamily="34" charset="-120"/>
              </a:rPr>
              <a:t>垂直领域整合：</a:t>
            </a:r>
            <a:r>
              <a:rPr lang="en-US" altLang="zh-CN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微软雅黑" panose="020B0503020204020204" pitchFamily="34" charset="-120"/>
              </a:rPr>
              <a:t> 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微软雅黑" panose="020B0503020204020204" pitchFamily="34" charset="-120"/>
              </a:rPr>
              <a:t>专注于</a:t>
            </a:r>
            <a:r>
              <a:rPr lang="en-US" altLang="zh-CN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微软雅黑" panose="020B0503020204020204" pitchFamily="34" charset="-120"/>
              </a:rPr>
              <a:t>“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微软雅黑" panose="020B0503020204020204" pitchFamily="34" charset="-120"/>
              </a:rPr>
              <a:t>宠物经济</a:t>
            </a:r>
            <a:r>
              <a:rPr lang="en-US" altLang="zh-CN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微软雅黑" panose="020B0503020204020204" pitchFamily="34" charset="-120"/>
              </a:rPr>
              <a:t>” 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微软雅黑" panose="020B0503020204020204" pitchFamily="34" charset="-120"/>
              </a:rPr>
              <a:t>，构建一个集购物、社交、服务于一体的垂直领域电商平台。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微软雅黑" panose="020B0503020204020204" pitchFamily="34" charset="-120"/>
              </a:rPr>
              <a:t>前后端分离架构：采用主流的前后端分离开发模式，使得前端和后端可以独立开发、测试和部署，提高了开发效率，也为未来系统功能的扩展和移动端的适配打下了良好基础。</a:t>
            </a:r>
            <a:endParaRPr lang="zh-CN" altLang="en-US" sz="12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微软雅黑" panose="020B0503020204020204" pitchFamily="34" charset="-120"/>
            </a:endParaRPr>
          </a:p>
        </p:txBody>
      </p:sp>
      <p:pic>
        <p:nvPicPr>
          <p:cNvPr id="6" name="图片 5"/>
          <p:cNvPicPr/>
          <p:nvPr/>
        </p:nvPicPr>
        <p:blipFill>
          <a:blip r:embed="rId4"/>
          <a:stretch>
            <a:fillRect/>
          </a:stretch>
        </p:blipFill>
        <p:spPr>
          <a:xfrm>
            <a:off x="307975" y="1224280"/>
            <a:ext cx="3143250" cy="332994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5128" y="102771"/>
            <a:ext cx="7150733" cy="585216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2100" b="1" dirty="0">
                <a:solidFill>
                  <a:srgbClr val="002B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预期目标</a:t>
            </a:r>
            <a:endParaRPr lang="en-US" sz="15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489" y="222075"/>
            <a:ext cx="346608" cy="346608"/>
          </a:xfrm>
          <a:prstGeom prst="rect">
            <a:avLst/>
          </a:prstGeom>
        </p:spPr>
      </p:pic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897" y="222075"/>
            <a:ext cx="346608" cy="346608"/>
          </a:xfrm>
          <a:prstGeom prst="rect">
            <a:avLst/>
          </a:prstGeom>
        </p:spPr>
      </p:pic>
      <p:pic>
        <p:nvPicPr>
          <p:cNvPr id="5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305" y="222075"/>
            <a:ext cx="346608" cy="346608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3809365" y="1251585"/>
            <a:ext cx="4520565" cy="2894965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noAutofit/>
          </a:bodyPr>
          <a:lstStyle/>
          <a:p>
            <a:pPr indent="381000" algn="just" fontAlgn="auto">
              <a:lnSpc>
                <a:spcPct val="150000"/>
              </a:lnSpc>
              <a:spcBef>
                <a:spcPts val="300"/>
              </a:spcBef>
              <a:buNone/>
              <a:extLst>
                <a:ext uri="{35155182-B16C-46BC-9424-99874614C6A1}">
                  <wpsdc:indentchars xmlns:wpsdc="http://www.wps.cn/officeDocument/2017/drawingmlCustomData" val="200" checksum="2033819950"/>
                </a:ext>
              </a:extLst>
            </a:pPr>
            <a:r>
              <a:rPr lang="zh-CN" altLang="en-US" sz="1500" dirty="0">
                <a:latin typeface="宋体" panose="02010600030101010101" pitchFamily="2" charset="-122"/>
                <a:ea typeface="宋体" panose="02010600030101010101" pitchFamily="2" charset="-122"/>
              </a:rPr>
              <a:t>完成一个可运行的宠物用品在线销售网站，包含核心功能（用户注册、宠物档案管理、商品浏览与个性化搜索、购物车管理、在线下单、社区互动等）</a:t>
            </a:r>
            <a:r>
              <a:rPr lang="en-US" altLang="zh-CN" sz="1500" dirty="0">
                <a:latin typeface="宋体" panose="02010600030101010101" pitchFamily="2" charset="-122"/>
                <a:ea typeface="宋体" panose="02010600030101010101" pitchFamily="2" charset="-122"/>
              </a:rPr>
              <a:t> </a:t>
            </a:r>
            <a:r>
              <a:rPr lang="zh-CN" altLang="en-US" sz="1500" dirty="0">
                <a:latin typeface="宋体" panose="02010600030101010101" pitchFamily="2" charset="-122"/>
                <a:ea typeface="宋体" panose="02010600030101010101" pitchFamily="2" charset="-122"/>
              </a:rPr>
              <a:t>。</a:t>
            </a:r>
            <a:endParaRPr lang="zh-CN" altLang="en-US" sz="15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indent="381000" algn="just" fontAlgn="auto">
              <a:lnSpc>
                <a:spcPct val="150000"/>
              </a:lnSpc>
              <a:spcBef>
                <a:spcPts val="300"/>
              </a:spcBef>
              <a:buNone/>
              <a:extLst>
                <a:ext uri="{35155182-B16C-46BC-9424-99874614C6A1}">
                  <wpsdc:indentchars xmlns:wpsdc="http://www.wps.cn/officeDocument/2017/drawingmlCustomData" val="200" checksum="2033819950"/>
                </a:ext>
              </a:extLst>
            </a:pPr>
            <a:r>
              <a:rPr lang="zh-CN" altLang="en-US" sz="1500" dirty="0">
                <a:latin typeface="宋体" panose="02010600030101010101" pitchFamily="2" charset="-122"/>
                <a:ea typeface="宋体" panose="02010600030101010101" pitchFamily="2" charset="-122"/>
              </a:rPr>
              <a:t>开发星落宠物用品销售网站系统平台的程序，保证功能完善</a:t>
            </a:r>
            <a:r>
              <a:rPr lang="en-US" altLang="zh-CN" sz="1500" dirty="0">
                <a:latin typeface="宋体" panose="02010600030101010101" pitchFamily="2" charset="-122"/>
                <a:ea typeface="宋体" panose="02010600030101010101" pitchFamily="2" charset="-122"/>
              </a:rPr>
              <a:t>,</a:t>
            </a:r>
            <a:r>
              <a:rPr lang="zh-CN" altLang="en-US" sz="1500" dirty="0">
                <a:latin typeface="宋体" panose="02010600030101010101" pitchFamily="2" charset="-122"/>
                <a:ea typeface="宋体" panose="02010600030101010101" pitchFamily="2" charset="-122"/>
              </a:rPr>
              <a:t>根据题目，分析背景和意义，做好调研工作并形成文字报告（开题报告）完成所有相关的设计文档，并撰写一篇结构完整、内容详实、符合规范的毕业设计（论文）。</a:t>
            </a:r>
            <a:endParaRPr lang="zh-CN" altLang="en-US" sz="15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0210" y="1031875"/>
            <a:ext cx="2892425" cy="382016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370" y="438260"/>
            <a:ext cx="914028" cy="91402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63370" y="1959269"/>
            <a:ext cx="5221112" cy="786384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3300" b="1" dirty="0">
                <a:solidFill>
                  <a:srgbClr val="0055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课题实施计划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345154" y="742055"/>
            <a:ext cx="1356643" cy="941832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4050" b="1" dirty="0">
                <a:solidFill>
                  <a:srgbClr val="002B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06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5128" y="102771"/>
            <a:ext cx="7150733" cy="585216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2100" b="1" dirty="0">
                <a:solidFill>
                  <a:srgbClr val="002B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课题实施计划</a:t>
            </a:r>
            <a:endParaRPr lang="en-US" sz="15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489" y="222075"/>
            <a:ext cx="346608" cy="346608"/>
          </a:xfrm>
          <a:prstGeom prst="rect">
            <a:avLst/>
          </a:prstGeom>
        </p:spPr>
      </p:pic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897" y="222075"/>
            <a:ext cx="346608" cy="346608"/>
          </a:xfrm>
          <a:prstGeom prst="rect">
            <a:avLst/>
          </a:prstGeom>
        </p:spPr>
      </p:pic>
      <p:pic>
        <p:nvPicPr>
          <p:cNvPr id="5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305" y="222075"/>
            <a:ext cx="346608" cy="346608"/>
          </a:xfrm>
          <a:prstGeom prst="rect">
            <a:avLst/>
          </a:prstGeom>
        </p:spPr>
      </p:pic>
      <p:pic>
        <p:nvPicPr>
          <p:cNvPr id="6" name="Image 3" descr="preencoded.png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5">
            <a:alphaModFix amt="10000"/>
          </a:blip>
          <a:stretch>
            <a:fillRect/>
          </a:stretch>
        </p:blipFill>
        <p:spPr>
          <a:xfrm>
            <a:off x="4294066" y="552732"/>
            <a:ext cx="4279233" cy="512064"/>
          </a:xfrm>
          <a:prstGeom prst="rect">
            <a:avLst/>
          </a:prstGeom>
        </p:spPr>
      </p:pic>
      <p:pic>
        <p:nvPicPr>
          <p:cNvPr id="7" name="Image 4" descr="preencoded.png"/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3882250" y="653062"/>
            <a:ext cx="411480" cy="411480"/>
          </a:xfrm>
          <a:prstGeom prst="rect">
            <a:avLst/>
          </a:prstGeom>
        </p:spPr>
      </p:pic>
      <p:sp>
        <p:nvSpPr>
          <p:cNvPr id="8" name="Text 1"/>
          <p:cNvSpPr/>
          <p:nvPr>
            <p:custDataLst>
              <p:tags r:id="rId8"/>
            </p:custDataLst>
          </p:nvPr>
        </p:nvSpPr>
        <p:spPr>
          <a:xfrm>
            <a:off x="3782321" y="643129"/>
            <a:ext cx="512064" cy="365760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01</a:t>
            </a:r>
            <a:endParaRPr lang="en-US" sz="1500" dirty="0"/>
          </a:p>
        </p:txBody>
      </p:sp>
      <p:pic>
        <p:nvPicPr>
          <p:cNvPr id="9" name="Image 5" descr="preencoded.png"/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10">
            <a:alphaModFix amt="10000"/>
          </a:blip>
          <a:stretch>
            <a:fillRect/>
          </a:stretch>
        </p:blipFill>
        <p:spPr>
          <a:xfrm>
            <a:off x="4320540" y="1116330"/>
            <a:ext cx="4279265" cy="575310"/>
          </a:xfrm>
          <a:prstGeom prst="rect">
            <a:avLst/>
          </a:prstGeom>
        </p:spPr>
      </p:pic>
      <p:pic>
        <p:nvPicPr>
          <p:cNvPr id="10" name="Image 6" descr="preencoded.png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12"/>
          <a:stretch>
            <a:fillRect/>
          </a:stretch>
        </p:blipFill>
        <p:spPr>
          <a:xfrm>
            <a:off x="3908920" y="1253642"/>
            <a:ext cx="411480" cy="411480"/>
          </a:xfrm>
          <a:prstGeom prst="rect">
            <a:avLst/>
          </a:prstGeom>
        </p:spPr>
      </p:pic>
      <p:sp>
        <p:nvSpPr>
          <p:cNvPr id="11" name="Text 2"/>
          <p:cNvSpPr/>
          <p:nvPr>
            <p:custDataLst>
              <p:tags r:id="rId13"/>
            </p:custDataLst>
          </p:nvPr>
        </p:nvSpPr>
        <p:spPr>
          <a:xfrm>
            <a:off x="3858628" y="1207922"/>
            <a:ext cx="512064" cy="365760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02</a:t>
            </a:r>
            <a:endParaRPr lang="en-US" sz="1500" dirty="0"/>
          </a:p>
        </p:txBody>
      </p:sp>
      <p:pic>
        <p:nvPicPr>
          <p:cNvPr id="12" name="Image 7" descr="preencoded.png"/>
          <p:cNvPicPr>
            <a:picLocks noChangeAspect="1"/>
          </p:cNvPicPr>
          <p:nvPr>
            <p:custDataLst>
              <p:tags r:id="rId14"/>
            </p:custDataLst>
          </p:nvPr>
        </p:nvPicPr>
        <p:blipFill>
          <a:blip r:embed="rId15">
            <a:alphaModFix amt="10000"/>
          </a:blip>
          <a:stretch>
            <a:fillRect/>
          </a:stretch>
        </p:blipFill>
        <p:spPr>
          <a:xfrm>
            <a:off x="4347210" y="1672590"/>
            <a:ext cx="4252595" cy="609600"/>
          </a:xfrm>
          <a:prstGeom prst="rect">
            <a:avLst/>
          </a:prstGeom>
        </p:spPr>
      </p:pic>
      <p:pic>
        <p:nvPicPr>
          <p:cNvPr id="13" name="Image 8" descr="preencoded.png"/>
          <p:cNvPicPr>
            <a:picLocks noChangeAspect="1"/>
          </p:cNvPicPr>
          <p:nvPr>
            <p:custDataLst>
              <p:tags r:id="rId16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3908920" y="1854406"/>
            <a:ext cx="411480" cy="411480"/>
          </a:xfrm>
          <a:prstGeom prst="rect">
            <a:avLst/>
          </a:prstGeom>
        </p:spPr>
      </p:pic>
      <p:sp>
        <p:nvSpPr>
          <p:cNvPr id="14" name="Text 3"/>
          <p:cNvSpPr/>
          <p:nvPr>
            <p:custDataLst>
              <p:tags r:id="rId17"/>
            </p:custDataLst>
          </p:nvPr>
        </p:nvSpPr>
        <p:spPr>
          <a:xfrm>
            <a:off x="3858628" y="1854406"/>
            <a:ext cx="512064" cy="365760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03</a:t>
            </a:r>
            <a:endParaRPr lang="en-US" sz="1500" dirty="0"/>
          </a:p>
        </p:txBody>
      </p:sp>
      <p:pic>
        <p:nvPicPr>
          <p:cNvPr id="15" name="Image 9" descr="preencoded.png"/>
          <p:cNvPicPr>
            <a:picLocks noChangeAspect="1"/>
          </p:cNvPicPr>
          <p:nvPr>
            <p:custDataLst>
              <p:tags r:id="rId18"/>
            </p:custDataLst>
          </p:nvPr>
        </p:nvPicPr>
        <p:blipFill>
          <a:blip r:embed="rId19">
            <a:alphaModFix amt="10000"/>
          </a:blip>
          <a:stretch>
            <a:fillRect/>
          </a:stretch>
        </p:blipFill>
        <p:spPr>
          <a:xfrm>
            <a:off x="4320540" y="2302510"/>
            <a:ext cx="4257675" cy="558165"/>
          </a:xfrm>
          <a:prstGeom prst="rect">
            <a:avLst/>
          </a:prstGeom>
        </p:spPr>
      </p:pic>
      <p:pic>
        <p:nvPicPr>
          <p:cNvPr id="16" name="Image 10" descr="preencoded.png"/>
          <p:cNvPicPr>
            <a:picLocks noChangeAspect="1"/>
          </p:cNvPicPr>
          <p:nvPr>
            <p:custDataLst>
              <p:tags r:id="rId20"/>
            </p:custDataLst>
          </p:nvPr>
        </p:nvPicPr>
        <p:blipFill>
          <a:blip r:embed="rId12"/>
          <a:stretch>
            <a:fillRect/>
          </a:stretch>
        </p:blipFill>
        <p:spPr>
          <a:xfrm>
            <a:off x="3908920" y="2311606"/>
            <a:ext cx="411480" cy="411480"/>
          </a:xfrm>
          <a:prstGeom prst="rect">
            <a:avLst/>
          </a:prstGeom>
        </p:spPr>
      </p:pic>
      <p:sp>
        <p:nvSpPr>
          <p:cNvPr id="17" name="Text 4"/>
          <p:cNvSpPr/>
          <p:nvPr>
            <p:custDataLst>
              <p:tags r:id="rId21"/>
            </p:custDataLst>
          </p:nvPr>
        </p:nvSpPr>
        <p:spPr>
          <a:xfrm>
            <a:off x="3858628" y="2311606"/>
            <a:ext cx="512064" cy="365760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04</a:t>
            </a:r>
            <a:endParaRPr lang="en-US" sz="1500" dirty="0"/>
          </a:p>
        </p:txBody>
      </p:sp>
      <p:pic>
        <p:nvPicPr>
          <p:cNvPr id="18" name="Image 11" descr="preencoded.png"/>
          <p:cNvPicPr>
            <a:picLocks noChangeAspect="1"/>
          </p:cNvPicPr>
          <p:nvPr>
            <p:custDataLst>
              <p:tags r:id="rId22"/>
            </p:custDataLst>
          </p:nvPr>
        </p:nvPicPr>
        <p:blipFill>
          <a:blip r:embed="rId23">
            <a:alphaModFix amt="10000"/>
          </a:blip>
          <a:stretch>
            <a:fillRect/>
          </a:stretch>
        </p:blipFill>
        <p:spPr>
          <a:xfrm>
            <a:off x="4397890" y="2880524"/>
            <a:ext cx="4175409" cy="585216"/>
          </a:xfrm>
          <a:prstGeom prst="rect">
            <a:avLst/>
          </a:prstGeom>
        </p:spPr>
      </p:pic>
      <p:pic>
        <p:nvPicPr>
          <p:cNvPr id="19" name="Image 12" descr="preencoded.png"/>
          <p:cNvPicPr>
            <a:picLocks noChangeAspect="1"/>
          </p:cNvPicPr>
          <p:nvPr>
            <p:custDataLst>
              <p:tags r:id="rId24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3908920" y="2971964"/>
            <a:ext cx="411480" cy="411480"/>
          </a:xfrm>
          <a:prstGeom prst="rect">
            <a:avLst/>
          </a:prstGeom>
        </p:spPr>
      </p:pic>
      <p:sp>
        <p:nvSpPr>
          <p:cNvPr id="20" name="Text 5"/>
          <p:cNvSpPr/>
          <p:nvPr>
            <p:custDataLst>
              <p:tags r:id="rId25"/>
            </p:custDataLst>
          </p:nvPr>
        </p:nvSpPr>
        <p:spPr>
          <a:xfrm>
            <a:off x="3858628" y="2994824"/>
            <a:ext cx="512064" cy="365760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05</a:t>
            </a:r>
            <a:endParaRPr lang="en-US" sz="1500" dirty="0"/>
          </a:p>
        </p:txBody>
      </p:sp>
      <p:pic>
        <p:nvPicPr>
          <p:cNvPr id="21" name="Image 13" descr="preencoded.png"/>
          <p:cNvPicPr>
            <a:picLocks noChangeAspect="1"/>
          </p:cNvPicPr>
          <p:nvPr>
            <p:custDataLst>
              <p:tags r:id="rId26"/>
            </p:custDataLst>
          </p:nvPr>
        </p:nvPicPr>
        <p:blipFill>
          <a:blip r:embed="rId27">
            <a:alphaModFix amt="10000"/>
          </a:blip>
          <a:stretch>
            <a:fillRect/>
          </a:stretch>
        </p:blipFill>
        <p:spPr>
          <a:xfrm>
            <a:off x="4375150" y="3491230"/>
            <a:ext cx="4203065" cy="803275"/>
          </a:xfrm>
          <a:prstGeom prst="rect">
            <a:avLst/>
          </a:prstGeom>
        </p:spPr>
      </p:pic>
      <p:pic>
        <p:nvPicPr>
          <p:cNvPr id="22" name="Image 14" descr="preencoded.png"/>
          <p:cNvPicPr>
            <a:picLocks noChangeAspect="1"/>
          </p:cNvPicPr>
          <p:nvPr>
            <p:custDataLst>
              <p:tags r:id="rId28"/>
            </p:custDataLst>
          </p:nvPr>
        </p:nvPicPr>
        <p:blipFill>
          <a:blip r:embed="rId12"/>
          <a:stretch>
            <a:fillRect/>
          </a:stretch>
        </p:blipFill>
        <p:spPr>
          <a:xfrm>
            <a:off x="3908920" y="3694340"/>
            <a:ext cx="411480" cy="411480"/>
          </a:xfrm>
          <a:prstGeom prst="rect">
            <a:avLst/>
          </a:prstGeom>
        </p:spPr>
      </p:pic>
      <p:sp>
        <p:nvSpPr>
          <p:cNvPr id="23" name="Text 6"/>
          <p:cNvSpPr/>
          <p:nvPr>
            <p:custDataLst>
              <p:tags r:id="rId29"/>
            </p:custDataLst>
          </p:nvPr>
        </p:nvSpPr>
        <p:spPr>
          <a:xfrm>
            <a:off x="3858628" y="3717200"/>
            <a:ext cx="512064" cy="365760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06</a:t>
            </a:r>
            <a:endParaRPr lang="en-US" sz="1500" dirty="0"/>
          </a:p>
        </p:txBody>
      </p:sp>
      <p:pic>
        <p:nvPicPr>
          <p:cNvPr id="24" name="Image 15" descr="preencoded.png"/>
          <p:cNvPicPr>
            <a:picLocks noChangeAspect="1"/>
          </p:cNvPicPr>
          <p:nvPr>
            <p:custDataLst>
              <p:tags r:id="rId30"/>
            </p:custDataLst>
          </p:nvPr>
        </p:nvPicPr>
        <p:blipFill>
          <a:blip r:embed="rId31">
            <a:alphaModFix amt="10000"/>
          </a:blip>
          <a:stretch>
            <a:fillRect/>
          </a:stretch>
        </p:blipFill>
        <p:spPr>
          <a:xfrm>
            <a:off x="4398645" y="4319905"/>
            <a:ext cx="4174490" cy="628015"/>
          </a:xfrm>
          <a:prstGeom prst="rect">
            <a:avLst/>
          </a:prstGeom>
        </p:spPr>
      </p:pic>
      <p:pic>
        <p:nvPicPr>
          <p:cNvPr id="25" name="Image 16" descr="preencoded.png"/>
          <p:cNvPicPr>
            <a:picLocks noChangeAspect="1"/>
          </p:cNvPicPr>
          <p:nvPr>
            <p:custDataLst>
              <p:tags r:id="rId32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3908920" y="4383080"/>
            <a:ext cx="411480" cy="411480"/>
          </a:xfrm>
          <a:prstGeom prst="rect">
            <a:avLst/>
          </a:prstGeom>
        </p:spPr>
      </p:pic>
      <p:sp>
        <p:nvSpPr>
          <p:cNvPr id="26" name="Text 7"/>
          <p:cNvSpPr/>
          <p:nvPr>
            <p:custDataLst>
              <p:tags r:id="rId33"/>
            </p:custDataLst>
          </p:nvPr>
        </p:nvSpPr>
        <p:spPr>
          <a:xfrm>
            <a:off x="3858628" y="4301165"/>
            <a:ext cx="512064" cy="365760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07</a:t>
            </a:r>
            <a:endParaRPr lang="en-US" sz="1500" dirty="0"/>
          </a:p>
        </p:txBody>
      </p:sp>
      <p:sp>
        <p:nvSpPr>
          <p:cNvPr id="28" name="Text 8"/>
          <p:cNvSpPr/>
          <p:nvPr>
            <p:custDataLst>
              <p:tags r:id="rId34"/>
            </p:custDataLst>
          </p:nvPr>
        </p:nvSpPr>
        <p:spPr>
          <a:xfrm>
            <a:off x="4370585" y="531142"/>
            <a:ext cx="4071585" cy="548640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500" b="1" dirty="0">
                <a:solidFill>
                  <a:srgbClr val="2D82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第一、二周：确定毕业设计题目、根据题目进行调研。完成开题报告和开题答辩</a:t>
            </a:r>
            <a:endParaRPr lang="en-US" sz="1500" dirty="0"/>
          </a:p>
        </p:txBody>
      </p:sp>
      <p:sp>
        <p:nvSpPr>
          <p:cNvPr id="29" name="Text 9"/>
          <p:cNvSpPr/>
          <p:nvPr>
            <p:custDataLst>
              <p:tags r:id="rId35"/>
            </p:custDataLst>
          </p:nvPr>
        </p:nvSpPr>
        <p:spPr>
          <a:xfrm>
            <a:off x="4398010" y="1118235"/>
            <a:ext cx="4044950" cy="568960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no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500" b="1" dirty="0">
                <a:solidFill>
                  <a:srgbClr val="2D82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第三、四周：查阅资料完成外文翻译、确定思路开发工具及关键技术                                      </a:t>
            </a:r>
            <a:endParaRPr lang="en-US" sz="1500" dirty="0"/>
          </a:p>
        </p:txBody>
      </p:sp>
      <p:sp>
        <p:nvSpPr>
          <p:cNvPr id="30" name="Text 10"/>
          <p:cNvSpPr/>
          <p:nvPr>
            <p:custDataLst>
              <p:tags r:id="rId36"/>
            </p:custDataLst>
          </p:nvPr>
        </p:nvSpPr>
        <p:spPr>
          <a:xfrm>
            <a:off x="4424045" y="1684655"/>
            <a:ext cx="4149725" cy="575945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no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500" b="1" dirty="0">
                <a:solidFill>
                  <a:srgbClr val="2D82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第五、六周：确定各个功能模块，完成总体设计、</a:t>
            </a:r>
            <a:r>
              <a:rPr lang="en-US" sz="1500" b="1" dirty="0">
                <a:solidFill>
                  <a:srgbClr val="2D82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开发各个功能模块，同步撰写论文初稿</a:t>
            </a:r>
            <a:endParaRPr lang="en-US" sz="1500" dirty="0"/>
          </a:p>
        </p:txBody>
      </p:sp>
      <p:sp>
        <p:nvSpPr>
          <p:cNvPr id="31" name="Text 11"/>
          <p:cNvSpPr/>
          <p:nvPr>
            <p:custDataLst>
              <p:tags r:id="rId37"/>
            </p:custDataLst>
          </p:nvPr>
        </p:nvSpPr>
        <p:spPr>
          <a:xfrm>
            <a:off x="4370705" y="2263140"/>
            <a:ext cx="4102100" cy="652145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500" b="1" dirty="0">
                <a:solidFill>
                  <a:srgbClr val="2D82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第七、八周：开发各个功能模块，同步撰写论文初稿、网站测试并记录数据</a:t>
            </a:r>
            <a:r>
              <a:rPr lang="zh-CN" altLang="en-US" sz="1500" b="1" dirty="0">
                <a:solidFill>
                  <a:srgbClr val="2D82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</a:t>
            </a:r>
            <a:r>
              <a:rPr lang="en-US" sz="1500" b="1" dirty="0">
                <a:solidFill>
                  <a:srgbClr val="2D82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保证稳定运行</a:t>
            </a:r>
            <a:endParaRPr lang="en-US" sz="1500" dirty="0"/>
          </a:p>
        </p:txBody>
      </p:sp>
      <p:sp>
        <p:nvSpPr>
          <p:cNvPr id="32" name="Text 12"/>
          <p:cNvSpPr/>
          <p:nvPr>
            <p:custDataLst>
              <p:tags r:id="rId38"/>
            </p:custDataLst>
          </p:nvPr>
        </p:nvSpPr>
        <p:spPr>
          <a:xfrm>
            <a:off x="4397890" y="2880270"/>
            <a:ext cx="3999159" cy="548640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500" b="1" dirty="0">
                <a:solidFill>
                  <a:srgbClr val="2D82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第九、十周：对网站进行封装，完成论文初稿、修改论文完成答辩稿</a:t>
            </a:r>
            <a:endParaRPr lang="en-US" sz="1500" dirty="0"/>
          </a:p>
        </p:txBody>
      </p:sp>
      <p:sp>
        <p:nvSpPr>
          <p:cNvPr id="33" name="Text 13"/>
          <p:cNvSpPr/>
          <p:nvPr>
            <p:custDataLst>
              <p:tags r:id="rId39"/>
            </p:custDataLst>
          </p:nvPr>
        </p:nvSpPr>
        <p:spPr>
          <a:xfrm>
            <a:off x="4424045" y="3475990"/>
            <a:ext cx="4074795" cy="882650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500" b="1" dirty="0">
                <a:solidFill>
                  <a:srgbClr val="2D82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第十一、十二周：完成软件验收并记录结果，继续修订论文答辩稿、完成毕业设计相关材料撰写，继续修订论文答辩稿，通过查重</a:t>
            </a:r>
            <a:endParaRPr lang="en-US" sz="1500" dirty="0"/>
          </a:p>
        </p:txBody>
      </p:sp>
      <p:sp>
        <p:nvSpPr>
          <p:cNvPr id="34" name="Text 14"/>
          <p:cNvSpPr/>
          <p:nvPr>
            <p:custDataLst>
              <p:tags r:id="rId40"/>
            </p:custDataLst>
          </p:nvPr>
        </p:nvSpPr>
        <p:spPr>
          <a:xfrm>
            <a:off x="4481195" y="4289425"/>
            <a:ext cx="4018280" cy="652145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500" b="1" dirty="0">
                <a:solidFill>
                  <a:srgbClr val="2D82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第十三、十四周：准备论文答辩及ppt、毕业设计答辩，整理论文终稿及相关材料进行归档</a:t>
            </a:r>
            <a:endParaRPr lang="en-US" sz="1500" dirty="0"/>
          </a:p>
        </p:txBody>
      </p:sp>
      <p:pic>
        <p:nvPicPr>
          <p:cNvPr id="27" name="图片 26"/>
          <p:cNvPicPr/>
          <p:nvPr/>
        </p:nvPicPr>
        <p:blipFill>
          <a:blip r:embed="rId41"/>
          <a:stretch>
            <a:fillRect/>
          </a:stretch>
        </p:blipFill>
        <p:spPr>
          <a:xfrm>
            <a:off x="300990" y="1118235"/>
            <a:ext cx="2828925" cy="309689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116247" y="2002836"/>
            <a:ext cx="4911506" cy="1746504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8250" b="1" dirty="0">
                <a:solidFill>
                  <a:srgbClr val="001C70">
                    <a:alpha val="10000"/>
                  </a:srgbClr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THANKS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46785" y="1273175"/>
            <a:ext cx="7573010" cy="2115820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5400" b="1" dirty="0">
                <a:solidFill>
                  <a:srgbClr val="002B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谢谢观看</a:t>
            </a:r>
            <a:endParaRPr lang="en-US" sz="1500" dirty="0"/>
          </a:p>
          <a:p>
            <a:pPr marL="0" indent="0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5400" b="1" dirty="0">
                <a:solidFill>
                  <a:srgbClr val="002B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欢迎各位老师指导改正</a:t>
            </a:r>
            <a:endParaRPr lang="en-US" sz="1500" dirty="0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453.9614173228347,&quot;left&quot;:47.35,&quot;top&quot;:80.21417322834645,&quot;width&quot;:622.2}"/>
</p:tagLst>
</file>

<file path=ppt/tags/tag2.xml><?xml version="1.0" encoding="utf-8"?>
<p:tagLst xmlns:p="http://schemas.openxmlformats.org/presentationml/2006/main">
  <p:tag name="KSO_WM_DIAGRAM_VIRTUALLY_FRAME" val="{&quot;height&quot;:453.9614173228347,&quot;left&quot;:47.35,&quot;top&quot;:80.21417322834645,&quot;width&quot;:622.2}"/>
</p:tagLst>
</file>

<file path=ppt/tags/tag3.xml><?xml version="1.0" encoding="utf-8"?>
<p:tagLst xmlns:p="http://schemas.openxmlformats.org/presentationml/2006/main">
  <p:tag name="KSO_WM_DIAGRAM_VIRTUALLY_FRAME" val="{&quot;height&quot;:453.9614173228347,&quot;left&quot;:47.35,&quot;top&quot;:80.21417322834645,&quot;width&quot;:622.2}"/>
</p:tagLst>
</file>

<file path=ppt/tags/tag4.xml><?xml version="1.0" encoding="utf-8"?>
<p:tagLst xmlns:p="http://schemas.openxmlformats.org/presentationml/2006/main">
  <p:tag name="KSO_WM_DIAGRAM_VIRTUALLY_FRAME" val="{&quot;height&quot;:453.9614173228347,&quot;left&quot;:47.35,&quot;top&quot;:80.21417322834645,&quot;width&quot;:622.2}"/>
</p:tagLst>
</file>

<file path=ppt/tags/tag5.xml><?xml version="1.0" encoding="utf-8"?>
<p:tagLst xmlns:p="http://schemas.openxmlformats.org/presentationml/2006/main">
  <p:tag name="KSO_WM_DIAGRAM_VIRTUALLY_FRAME" val="{&quot;height&quot;:453.9614173228347,&quot;left&quot;:47.35,&quot;top&quot;:80.21417322834645,&quot;width&quot;:622.2}"/>
</p:tagLst>
</file>

<file path=ppt/tags/tag6.xml><?xml version="1.0" encoding="utf-8"?>
<p:tagLst xmlns:p="http://schemas.openxmlformats.org/presentationml/2006/main">
  <p:tag name="KSO_WM_DIAGRAM_VIRTUALLY_FRAME" val="{&quot;height&quot;:453.9614173228347,&quot;left&quot;:47.35,&quot;top&quot;:80.21417322834645,&quot;width&quot;:622.2}"/>
</p:tagLst>
</file>

<file path=ppt/tags/tag7.xml><?xml version="1.0" encoding="utf-8"?>
<p:tagLst xmlns:p="http://schemas.openxmlformats.org/presentationml/2006/main">
  <p:tag name="KSO_WM_DIAGRAM_VIRTUALLY_FRAME" val="{&quot;height&quot;:453.9614173228347,&quot;left&quot;:47.35,&quot;top&quot;:80.21417322834645,&quot;width&quot;:622.2}"/>
</p:tagLst>
</file>

<file path=ppt/tags/tag8.xml><?xml version="1.0" encoding="utf-8"?>
<p:tagLst xmlns:p="http://schemas.openxmlformats.org/presentationml/2006/main">
  <p:tag name="KSO_WM_DIAGRAM_VIRTUALLY_FRAME" val="{&quot;height&quot;:453.9614173228347,&quot;left&quot;:47.35,&quot;top&quot;:80.21417322834645,&quot;width&quot;:622.2}"/>
</p:tagLst>
</file>

<file path=ppt/tags/tag9.xml><?xml version="1.0" encoding="utf-8"?>
<p:tagLst xmlns:p="http://schemas.openxmlformats.org/presentationml/2006/main">
  <p:tag name="KSO_WM_DIAGRAM_VIRTUALLY_FRAME" val="{&quot;height&quot;:453.9614173228347,&quot;left&quot;:47.35,&quot;top&quot;:80.21417322834645,&quot;width&quot;:622.2}"/>
</p:tagLst>
</file>

<file path=ppt/tags/tag10.xml><?xml version="1.0" encoding="utf-8"?>
<p:tagLst xmlns:p="http://schemas.openxmlformats.org/presentationml/2006/main">
  <p:tag name="KSO_WM_DIAGRAM_VIRTUALLY_FRAME" val="{&quot;height&quot;:453.9614173228347,&quot;left&quot;:47.35,&quot;top&quot;:80.21417322834645,&quot;width&quot;:622.2}"/>
</p:tagLst>
</file>

<file path=ppt/tags/tag11.xml><?xml version="1.0" encoding="utf-8"?>
<p:tagLst xmlns:p="http://schemas.openxmlformats.org/presentationml/2006/main">
  <p:tag name="KSO_WM_DIAGRAM_VIRTUALLY_FRAME" val="{&quot;height&quot;:453.9614173228347,&quot;left&quot;:47.35,&quot;top&quot;:80.21417322834645,&quot;width&quot;:622.2}"/>
</p:tagLst>
</file>

<file path=ppt/tags/tag12.xml><?xml version="1.0" encoding="utf-8"?>
<p:tagLst xmlns:p="http://schemas.openxmlformats.org/presentationml/2006/main">
  <p:tag name="KSO_WM_DIAGRAM_VIRTUALLY_FRAME" val="{&quot;height&quot;:453.9614173228347,&quot;left&quot;:47.35,&quot;top&quot;:80.21417322834645,&quot;width&quot;:622.2}"/>
</p:tagLst>
</file>

<file path=ppt/tags/tag13.xml><?xml version="1.0" encoding="utf-8"?>
<p:tagLst xmlns:p="http://schemas.openxmlformats.org/presentationml/2006/main">
  <p:tag name="KSO_WM_DIAGRAM_VIRTUALLY_FRAME" val="{&quot;height&quot;:453.9614173228347,&quot;left&quot;:47.35,&quot;top&quot;:80.21417322834645,&quot;width&quot;:622.2}"/>
</p:tagLst>
</file>

<file path=ppt/tags/tag14.xml><?xml version="1.0" encoding="utf-8"?>
<p:tagLst xmlns:p="http://schemas.openxmlformats.org/presentationml/2006/main">
  <p:tag name="KSO_WM_DIAGRAM_VIRTUALLY_FRAME" val="{&quot;height&quot;:453.9614173228347,&quot;left&quot;:47.35,&quot;top&quot;:80.21417322834645,&quot;width&quot;:622.2}"/>
</p:tagLst>
</file>

<file path=ppt/tags/tag15.xml><?xml version="1.0" encoding="utf-8"?>
<p:tagLst xmlns:p="http://schemas.openxmlformats.org/presentationml/2006/main">
  <p:tag name="KSO_WM_DIAGRAM_VIRTUALLY_FRAME" val="{&quot;height&quot;:453.9614173228347,&quot;left&quot;:47.35,&quot;top&quot;:80.21417322834645,&quot;width&quot;:622.2}"/>
</p:tagLst>
</file>

<file path=ppt/tags/tag16.xml><?xml version="1.0" encoding="utf-8"?>
<p:tagLst xmlns:p="http://schemas.openxmlformats.org/presentationml/2006/main">
  <p:tag name="KSO_WM_DIAGRAM_VIRTUALLY_FRAME" val="{&quot;height&quot;:453.9614173228347,&quot;left&quot;:47.35,&quot;top&quot;:80.21417322834645,&quot;width&quot;:622.2}"/>
</p:tagLst>
</file>

<file path=ppt/tags/tag17.xml><?xml version="1.0" encoding="utf-8"?>
<p:tagLst xmlns:p="http://schemas.openxmlformats.org/presentationml/2006/main">
  <p:tag name="KSO_WM_DIAGRAM_VIRTUALLY_FRAME" val="{&quot;height&quot;:453.9614173228347,&quot;left&quot;:47.35,&quot;top&quot;:80.21417322834645,&quot;width&quot;:622.2}"/>
</p:tagLst>
</file>

<file path=ppt/tags/tag18.xml><?xml version="1.0" encoding="utf-8"?>
<p:tagLst xmlns:p="http://schemas.openxmlformats.org/presentationml/2006/main">
  <p:tag name="KSO_WM_DIAGRAM_VIRTUALLY_FRAME" val="{&quot;height&quot;:453.9614173228347,&quot;left&quot;:47.35,&quot;top&quot;:80.21417322834645,&quot;width&quot;:622.2}"/>
</p:tagLst>
</file>

<file path=ppt/tags/tag19.xml><?xml version="1.0" encoding="utf-8"?>
<p:tagLst xmlns:p="http://schemas.openxmlformats.org/presentationml/2006/main">
  <p:tag name="KSO_WM_DIAGRAM_VIRTUALLY_FRAME" val="{&quot;height&quot;:349.11141732283465,&quot;left&quot;:47.35,&quot;top&quot;:80.21417322834645,&quot;width&quot;:622.2}"/>
</p:tagLst>
</file>

<file path=ppt/tags/tag20.xml><?xml version="1.0" encoding="utf-8"?>
<p:tagLst xmlns:p="http://schemas.openxmlformats.org/presentationml/2006/main">
  <p:tag name="KSO_WM_DIAGRAM_VIRTUALLY_FRAME" val="{&quot;height&quot;:349.11141732283465,&quot;left&quot;:47.35,&quot;top&quot;:80.21417322834645,&quot;width&quot;:622.2}"/>
</p:tagLst>
</file>

<file path=ppt/tags/tag21.xml><?xml version="1.0" encoding="utf-8"?>
<p:tagLst xmlns:p="http://schemas.openxmlformats.org/presentationml/2006/main">
  <p:tag name="KSO_WM_DIAGRAM_VIRTUALLY_FRAME" val="{&quot;height&quot;:349.11141732283465,&quot;left&quot;:47.35,&quot;top&quot;:80.21417322834645,&quot;width&quot;:622.2}"/>
</p:tagLst>
</file>

<file path=ppt/tags/tag22.xml><?xml version="1.0" encoding="utf-8"?>
<p:tagLst xmlns:p="http://schemas.openxmlformats.org/presentationml/2006/main">
  <p:tag name="KSO_WM_DIAGRAM_VIRTUALLY_FRAME" val="{&quot;height&quot;:349.11141732283465,&quot;left&quot;:47.35,&quot;top&quot;:80.21417322834645,&quot;width&quot;:622.2}"/>
</p:tagLst>
</file>

<file path=ppt/tags/tag23.xml><?xml version="1.0" encoding="utf-8"?>
<p:tagLst xmlns:p="http://schemas.openxmlformats.org/presentationml/2006/main">
  <p:tag name="KSO_WM_DIAGRAM_VIRTUALLY_FRAME" val="{&quot;height&quot;:349.11141732283465,&quot;left&quot;:47.35,&quot;top&quot;:80.21417322834645,&quot;width&quot;:622.2}"/>
</p:tagLst>
</file>

<file path=ppt/tags/tag24.xml><?xml version="1.0" encoding="utf-8"?>
<p:tagLst xmlns:p="http://schemas.openxmlformats.org/presentationml/2006/main">
  <p:tag name="KSO_WM_DIAGRAM_VIRTUALLY_FRAME" val="{&quot;height&quot;:349.11141732283465,&quot;left&quot;:47.35,&quot;top&quot;:80.21417322834645,&quot;width&quot;:622.2}"/>
</p:tagLst>
</file>

<file path=ppt/tags/tag25.xml><?xml version="1.0" encoding="utf-8"?>
<p:tagLst xmlns:p="http://schemas.openxmlformats.org/presentationml/2006/main">
  <p:tag name="KSO_WM_DIAGRAM_VIRTUALLY_FRAME" val="{&quot;height&quot;:349.11141732283465,&quot;left&quot;:47.35,&quot;top&quot;:80.21417322834645,&quot;width&quot;:622.2}"/>
</p:tagLst>
</file>

<file path=ppt/tags/tag26.xml><?xml version="1.0" encoding="utf-8"?>
<p:tagLst xmlns:p="http://schemas.openxmlformats.org/presentationml/2006/main">
  <p:tag name="KSO_WM_DIAGRAM_VIRTUALLY_FRAME" val="{&quot;height&quot;:349.11141732283465,&quot;left&quot;:47.35,&quot;top&quot;:80.21417322834645,&quot;width&quot;:622.2}"/>
</p:tagLst>
</file>

<file path=ppt/tags/tag27.xml><?xml version="1.0" encoding="utf-8"?>
<p:tagLst xmlns:p="http://schemas.openxmlformats.org/presentationml/2006/main">
  <p:tag name="KSO_WM_DIAGRAM_VIRTUALLY_FRAME" val="{&quot;height&quot;:349.11141732283465,&quot;left&quot;:47.35,&quot;top&quot;:80.21417322834645,&quot;width&quot;:622.2}"/>
</p:tagLst>
</file>

<file path=ppt/tags/tag28.xml><?xml version="1.0" encoding="utf-8"?>
<p:tagLst xmlns:p="http://schemas.openxmlformats.org/presentationml/2006/main">
  <p:tag name="KSO_WM_DIAGRAM_VIRTUALLY_FRAME" val="{&quot;height&quot;:349.11141732283465,&quot;left&quot;:47.35,&quot;top&quot;:80.21417322834645,&quot;width&quot;:622.2}"/>
</p:tagLst>
</file>

<file path=ppt/tags/tag29.xml><?xml version="1.0" encoding="utf-8"?>
<p:tagLst xmlns:p="http://schemas.openxmlformats.org/presentationml/2006/main">
  <p:tag name="KSO_WM_DIAGRAM_VIRTUALLY_FRAME" val="{&quot;height&quot;:349.11141732283465,&quot;left&quot;:47.35,&quot;top&quot;:80.21417322834645,&quot;width&quot;:622.2}"/>
</p:tagLst>
</file>

<file path=ppt/tags/tag30.xml><?xml version="1.0" encoding="utf-8"?>
<p:tagLst xmlns:p="http://schemas.openxmlformats.org/presentationml/2006/main">
  <p:tag name="KSO_WM_DIAGRAM_VIRTUALLY_FRAME" val="{&quot;height&quot;:349.11141732283465,&quot;left&quot;:47.35,&quot;top&quot;:80.21417322834645,&quot;width&quot;:622.2}"/>
</p:tagLst>
</file>

<file path=ppt/tags/tag31.xml><?xml version="1.0" encoding="utf-8"?>
<p:tagLst xmlns:p="http://schemas.openxmlformats.org/presentationml/2006/main">
  <p:tag name="KSO_WM_DIAGRAM_VIRTUALLY_FRAME" val="{&quot;height&quot;:349.11141732283465,&quot;left&quot;:47.35,&quot;top&quot;:80.21417322834645,&quot;width&quot;:622.2}"/>
</p:tagLst>
</file>

<file path=ppt/tags/tag32.xml><?xml version="1.0" encoding="utf-8"?>
<p:tagLst xmlns:p="http://schemas.openxmlformats.org/presentationml/2006/main">
  <p:tag name="KSO_WM_DIAGRAM_VIRTUALLY_FRAME" val="{&quot;height&quot;:349.11141732283465,&quot;left&quot;:47.35,&quot;top&quot;:80.21417322834645,&quot;width&quot;:622.2}"/>
</p:tagLst>
</file>

<file path=ppt/tags/tag33.xml><?xml version="1.0" encoding="utf-8"?>
<p:tagLst xmlns:p="http://schemas.openxmlformats.org/presentationml/2006/main">
  <p:tag name="KSO_WM_DIAGRAM_VIRTUALLY_FRAME" val="{&quot;height&quot;:349.11141732283465,&quot;left&quot;:47.35,&quot;top&quot;:80.21417322834645,&quot;width&quot;:622.2}"/>
</p:tagLst>
</file>

<file path=ppt/tags/tag34.xml><?xml version="1.0" encoding="utf-8"?>
<p:tagLst xmlns:p="http://schemas.openxmlformats.org/presentationml/2006/main">
  <p:tag name="KSO_WM_DIAGRAM_VIRTUALLY_FRAME" val="{&quot;height&quot;:349.11141732283465,&quot;left&quot;:47.35,&quot;top&quot;:80.21417322834645,&quot;width&quot;:622.2}"/>
</p:tagLst>
</file>

<file path=ppt/tags/tag35.xml><?xml version="1.0" encoding="utf-8"?>
<p:tagLst xmlns:p="http://schemas.openxmlformats.org/presentationml/2006/main">
  <p:tag name="KSO_WM_DIAGRAM_VIRTUALLY_FRAME" val="{&quot;height&quot;:349.11141732283465,&quot;left&quot;:47.35,&quot;top&quot;:80.21417322834645,&quot;width&quot;:622.2}"/>
</p:tagLst>
</file>

<file path=ppt/tags/tag36.xml><?xml version="1.0" encoding="utf-8"?>
<p:tagLst xmlns:p="http://schemas.openxmlformats.org/presentationml/2006/main">
  <p:tag name="KSO_WM_DIAGRAM_VIRTUALLY_FRAME" val="{&quot;height&quot;:349.11141732283465,&quot;left&quot;:47.35,&quot;top&quot;:80.21417322834645,&quot;width&quot;:622.2}"/>
</p:tagLst>
</file>

<file path=ppt/tags/tag37.xml><?xml version="1.0" encoding="utf-8"?>
<p:tagLst xmlns:p="http://schemas.openxmlformats.org/presentationml/2006/main">
  <p:tag name="KSO_WM_DIAGRAM_VIRTUALLY_FRAME" val="{&quot;height&quot;:303.537966880849,&quot;left&quot;:37.34849841536686,&quot;top&quot;:63.831796898678554,&quot;width&quot;:644.5098823323889}"/>
</p:tagLst>
</file>

<file path=ppt/tags/tag38.xml><?xml version="1.0" encoding="utf-8"?>
<p:tagLst xmlns:p="http://schemas.openxmlformats.org/presentationml/2006/main">
  <p:tag name="KSO_WM_DIAGRAM_VIRTUALLY_FRAME" val="{&quot;height&quot;:303.537966880849,&quot;left&quot;:37.34849841536686,&quot;top&quot;:63.831796898678554,&quot;width&quot;:644.5098823323889}"/>
</p:tagLst>
</file>

<file path=ppt/tags/tag39.xml><?xml version="1.0" encoding="utf-8"?>
<p:tagLst xmlns:p="http://schemas.openxmlformats.org/presentationml/2006/main">
  <p:tag name="KSO_WM_DIAGRAM_VIRTUALLY_FRAME" val="{&quot;height&quot;:303.537966880849,&quot;left&quot;:37.34849841536686,&quot;top&quot;:63.831796898678554,&quot;width&quot;:644.5098823323889}"/>
</p:tagLst>
</file>

<file path=ppt/tags/tag40.xml><?xml version="1.0" encoding="utf-8"?>
<p:tagLst xmlns:p="http://schemas.openxmlformats.org/presentationml/2006/main">
  <p:tag name="KSO_WM_DIAGRAM_VIRTUALLY_FRAME" val="{&quot;height&quot;:303.537966880849,&quot;left&quot;:37.34849841536686,&quot;top&quot;:63.831796898678554,&quot;width&quot;:644.5098823323889}"/>
</p:tagLst>
</file>

<file path=ppt/tags/tag41.xml><?xml version="1.0" encoding="utf-8"?>
<p:tagLst xmlns:p="http://schemas.openxmlformats.org/presentationml/2006/main">
  <p:tag name="KSO_WM_DIAGRAM_VIRTUALLY_FRAME" val="{&quot;height&quot;:303.537966880849,&quot;left&quot;:37.34849841536686,&quot;top&quot;:63.831796898678554,&quot;width&quot;:644.5098823323889}"/>
</p:tagLst>
</file>

<file path=ppt/tags/tag42.xml><?xml version="1.0" encoding="utf-8"?>
<p:tagLst xmlns:p="http://schemas.openxmlformats.org/presentationml/2006/main">
  <p:tag name="KSO_WM_DIAGRAM_VIRTUALLY_FRAME" val="{&quot;height&quot;:303.537966880849,&quot;left&quot;:37.34849841536686,&quot;top&quot;:63.831796898678554,&quot;width&quot;:644.5098823323889}"/>
</p:tagLst>
</file>

<file path=ppt/tags/tag43.xml><?xml version="1.0" encoding="utf-8"?>
<p:tagLst xmlns:p="http://schemas.openxmlformats.org/presentationml/2006/main">
  <p:tag name="KSO_WM_DIAGRAM_VIRTUALLY_FRAME" val="{&quot;height&quot;:303.537966880849,&quot;left&quot;:37.34849841536686,&quot;top&quot;:63.831796898678554,&quot;width&quot;:644.5098823323889}"/>
</p:tagLst>
</file>

<file path=ppt/tags/tag44.xml><?xml version="1.0" encoding="utf-8"?>
<p:tagLst xmlns:p="http://schemas.openxmlformats.org/presentationml/2006/main">
  <p:tag name="KSO_WM_DIAGRAM_VIRTUALLY_FRAME" val="{&quot;height&quot;:303.537966880849,&quot;left&quot;:37.34849841536686,&quot;top&quot;:63.831796898678554,&quot;width&quot;:644.5098823323889}"/>
</p:tagLst>
</file>

<file path=ppt/tags/tag45.xml><?xml version="1.0" encoding="utf-8"?>
<p:tagLst xmlns:p="http://schemas.openxmlformats.org/presentationml/2006/main">
  <p:tag name="KSO_WM_DIAGRAM_VIRTUALLY_FRAME" val="{&quot;height&quot;:303.537966880849,&quot;left&quot;:37.34849841536686,&quot;top&quot;:63.831796898678554,&quot;width&quot;:644.5098823323889}"/>
</p:tagLst>
</file>

<file path=ppt/tags/tag46.xml><?xml version="1.0" encoding="utf-8"?>
<p:tagLst xmlns:p="http://schemas.openxmlformats.org/presentationml/2006/main">
  <p:tag name="KSO_WM_DIAGRAM_VIRTUALLY_FRAME" val="{&quot;height&quot;:303.537966880849,&quot;left&quot;:37.34849841536686,&quot;top&quot;:63.831796898678554,&quot;width&quot;:644.5098823323889}"/>
</p:tagLst>
</file>

<file path=ppt/tags/tag47.xml><?xml version="1.0" encoding="utf-8"?>
<p:tagLst xmlns:p="http://schemas.openxmlformats.org/presentationml/2006/main">
  <p:tag name="KSO_WM_DIAGRAM_VIRTUALLY_FRAME" val="{&quot;height&quot;:303.537966880849,&quot;left&quot;:37.34849841536686,&quot;top&quot;:63.831796898678554,&quot;width&quot;:644.5098823323889}"/>
</p:tagLst>
</file>

<file path=ppt/tags/tag48.xml><?xml version="1.0" encoding="utf-8"?>
<p:tagLst xmlns:p="http://schemas.openxmlformats.org/presentationml/2006/main">
  <p:tag name="KSO_WM_DIAGRAM_VIRTUALLY_FRAME" val="{&quot;height&quot;:303.537966880849,&quot;left&quot;:37.34849841536686,&quot;top&quot;:63.831796898678554,&quot;width&quot;:644.5098823323889}"/>
</p:tagLst>
</file>

<file path=ppt/tags/tag49.xml><?xml version="1.0" encoding="utf-8"?>
<p:tagLst xmlns:p="http://schemas.openxmlformats.org/presentationml/2006/main">
  <p:tag name="KSO_WM_DIAGRAM_VIRTUALLY_FRAME" val="{&quot;height&quot;:303.537966880849,&quot;left&quot;:37.34849841536686,&quot;top&quot;:63.831796898678554,&quot;width&quot;:644.5098823323889}"/>
</p:tagLst>
</file>

<file path=ppt/tags/tag50.xml><?xml version="1.0" encoding="utf-8"?>
<p:tagLst xmlns:p="http://schemas.openxmlformats.org/presentationml/2006/main">
  <p:tag name="KSO_WM_DIAGRAM_VIRTUALLY_FRAME" val="{&quot;height&quot;:303.537966880849,&quot;left&quot;:37.34849841536686,&quot;top&quot;:63.831796898678554,&quot;width&quot;:644.5098823323889}"/>
</p:tagLst>
</file>

<file path=ppt/tags/tag51.xml><?xml version="1.0" encoding="utf-8"?>
<p:tagLst xmlns:p="http://schemas.openxmlformats.org/presentationml/2006/main">
  <p:tag name="KSO_WM_DIAGRAM_VIRTUALLY_FRAME" val="{&quot;height&quot;:303.537966880849,&quot;left&quot;:37.34849841536686,&quot;top&quot;:63.831796898678554,&quot;width&quot;:644.5098823323889}"/>
</p:tagLst>
</file>

<file path=ppt/tags/tag52.xml><?xml version="1.0" encoding="utf-8"?>
<p:tagLst xmlns:p="http://schemas.openxmlformats.org/presentationml/2006/main">
  <p:tag name="KSO_WM_DIAGRAM_VIRTUALLY_FRAME" val="{&quot;height&quot;:303.537966880849,&quot;left&quot;:37.34849841536686,&quot;top&quot;:63.831796898678554,&quot;width&quot;:644.5098823323889}"/>
</p:tagLst>
</file>

<file path=ppt/tags/tag53.xml><?xml version="1.0" encoding="utf-8"?>
<p:tagLst xmlns:p="http://schemas.openxmlformats.org/presentationml/2006/main">
  <p:tag name="KSO_WM_DIAGRAM_VIRTUALLY_FRAME" val="{&quot;height&quot;:303.537966880849,&quot;left&quot;:37.34849841536686,&quot;top&quot;:63.831796898678554,&quot;width&quot;:644.5098823323889}"/>
</p:tagLst>
</file>

<file path=ppt/tags/tag54.xml><?xml version="1.0" encoding="utf-8"?>
<p:tagLst xmlns:p="http://schemas.openxmlformats.org/presentationml/2006/main">
  <p:tag name="KSO_WM_DIAGRAM_VIRTUALLY_FRAME" val="{&quot;height&quot;:303.537966880849,&quot;left&quot;:37.34849841536686,&quot;top&quot;:63.831796898678554,&quot;width&quot;:644.5098823323889}"/>
</p:tagLst>
</file>

<file path=ppt/tags/tag55.xml><?xml version="1.0" encoding="utf-8"?>
<p:tagLst xmlns:p="http://schemas.openxmlformats.org/presentationml/2006/main">
  <p:tag name="KSO_WM_DIAGRAM_VIRTUALLY_FRAME" val="{&quot;height&quot;:343.0420547550588,&quot;left&quot;:24.885318167942863,&quot;top&quot;:63.83177667439262,&quot;width&quot;:664.1188585304541}"/>
</p:tagLst>
</file>

<file path=ppt/tags/tag56.xml><?xml version="1.0" encoding="utf-8"?>
<p:tagLst xmlns:p="http://schemas.openxmlformats.org/presentationml/2006/main">
  <p:tag name="KSO_WM_DIAGRAM_VIRTUALLY_FRAME" val="{&quot;height&quot;:343.0420547550588,&quot;left&quot;:24.885318167942863,&quot;top&quot;:63.83177667439262,&quot;width&quot;:664.1188585304541}"/>
</p:tagLst>
</file>

<file path=ppt/tags/tag57.xml><?xml version="1.0" encoding="utf-8"?>
<p:tagLst xmlns:p="http://schemas.openxmlformats.org/presentationml/2006/main">
  <p:tag name="KSO_WM_DIAGRAM_VIRTUALLY_FRAME" val="{&quot;height&quot;:343.0420547550588,&quot;left&quot;:24.885318167942863,&quot;top&quot;:63.83177667439262,&quot;width&quot;:664.1188585304541}"/>
</p:tagLst>
</file>

<file path=ppt/tags/tag58.xml><?xml version="1.0" encoding="utf-8"?>
<p:tagLst xmlns:p="http://schemas.openxmlformats.org/presentationml/2006/main">
  <p:tag name="KSO_WM_DIAGRAM_VIRTUALLY_FRAME" val="{&quot;height&quot;:343.0420547550588,&quot;left&quot;:24.885318167942863,&quot;top&quot;:63.83177667439262,&quot;width&quot;:664.1188585304541}"/>
</p:tagLst>
</file>

<file path=ppt/tags/tag59.xml><?xml version="1.0" encoding="utf-8"?>
<p:tagLst xmlns:p="http://schemas.openxmlformats.org/presentationml/2006/main">
  <p:tag name="KSO_WM_DIAGRAM_VIRTUALLY_FRAME" val="{&quot;height&quot;:343.0420547550588,&quot;left&quot;:24.885318167942863,&quot;top&quot;:63.83177667439262,&quot;width&quot;:664.1188585304541}"/>
</p:tagLst>
</file>

<file path=ppt/tags/tag60.xml><?xml version="1.0" encoding="utf-8"?>
<p:tagLst xmlns:p="http://schemas.openxmlformats.org/presentationml/2006/main">
  <p:tag name="KSO_WM_DIAGRAM_VIRTUALLY_FRAME" val="{&quot;height&quot;:343.0420547550588,&quot;left&quot;:24.885318167942863,&quot;top&quot;:63.83177667439262,&quot;width&quot;:664.1188585304541}"/>
</p:tagLst>
</file>

<file path=ppt/tags/tag61.xml><?xml version="1.0" encoding="utf-8"?>
<p:tagLst xmlns:p="http://schemas.openxmlformats.org/presentationml/2006/main">
  <p:tag name="KSO_WM_DIAGRAM_VIRTUALLY_FRAME" val="{&quot;height&quot;:343.0420547550588,&quot;left&quot;:24.885318167942863,&quot;top&quot;:63.83177667439262,&quot;width&quot;:664.1188585304541}"/>
</p:tagLst>
</file>

<file path=ppt/tags/tag62.xml><?xml version="1.0" encoding="utf-8"?>
<p:tagLst xmlns:p="http://schemas.openxmlformats.org/presentationml/2006/main">
  <p:tag name="KSO_WM_DIAGRAM_VIRTUALLY_FRAME" val="{&quot;height&quot;:343.0420547550588,&quot;left&quot;:24.885318167942863,&quot;top&quot;:63.83177667439262,&quot;width&quot;:664.1188585304541}"/>
</p:tagLst>
</file>

<file path=ppt/tags/tag63.xml><?xml version="1.0" encoding="utf-8"?>
<p:tagLst xmlns:p="http://schemas.openxmlformats.org/presentationml/2006/main">
  <p:tag name="KSO_WM_DIAGRAM_VIRTUALLY_FRAME" val="{&quot;height&quot;:343.0420547550588,&quot;left&quot;:24.885318167942863,&quot;top&quot;:63.83177667439262,&quot;width&quot;:664.1188585304541}"/>
</p:tagLst>
</file>

<file path=ppt/tags/tag64.xml><?xml version="1.0" encoding="utf-8"?>
<p:tagLst xmlns:p="http://schemas.openxmlformats.org/presentationml/2006/main">
  <p:tag name="KSO_WM_DIAGRAM_VIRTUALLY_FRAME" val="{&quot;height&quot;:343.0420547550588,&quot;left&quot;:24.885318167942863,&quot;top&quot;:63.83177667439262,&quot;width&quot;:664.1188585304541}"/>
</p:tagLst>
</file>

<file path=ppt/tags/tag65.xml><?xml version="1.0" encoding="utf-8"?>
<p:tagLst xmlns:p="http://schemas.openxmlformats.org/presentationml/2006/main">
  <p:tag name="KSO_WM_DIAGRAM_VIRTUALLY_FRAME" val="{&quot;height&quot;:343.0420547550588,&quot;left&quot;:24.885318167942863,&quot;top&quot;:63.83177667439262,&quot;width&quot;:664.1188585304541}"/>
</p:tagLst>
</file>

<file path=ppt/tags/tag66.xml><?xml version="1.0" encoding="utf-8"?>
<p:tagLst xmlns:p="http://schemas.openxmlformats.org/presentationml/2006/main">
  <p:tag name="KSO_WM_DIAGRAM_VIRTUALLY_FRAME" val="{&quot;height&quot;:343.0420547550588,&quot;left&quot;:24.885318167942863,&quot;top&quot;:63.83177667439262,&quot;width&quot;:664.1188585304541}"/>
</p:tagLst>
</file>

<file path=ppt/tags/tag67.xml><?xml version="1.0" encoding="utf-8"?>
<p:tagLst xmlns:p="http://schemas.openxmlformats.org/presentationml/2006/main">
  <p:tag name="KSO_WM_DIAGRAM_VIRTUALLY_FRAME" val="{&quot;height&quot;:343.0420547550588,&quot;left&quot;:24.885318167942863,&quot;top&quot;:63.83177667439262,&quot;width&quot;:664.1188585304541}"/>
</p:tagLst>
</file>

<file path=ppt/tags/tag68.xml><?xml version="1.0" encoding="utf-8"?>
<p:tagLst xmlns:p="http://schemas.openxmlformats.org/presentationml/2006/main">
  <p:tag name="KSO_WM_DIAGRAM_VIRTUALLY_FRAME" val="{&quot;height&quot;:343.0420547550588,&quot;left&quot;:24.885318167942863,&quot;top&quot;:63.83177667439262,&quot;width&quot;:664.1188585304541}"/>
</p:tagLst>
</file>

<file path=ppt/tags/tag69.xml><?xml version="1.0" encoding="utf-8"?>
<p:tagLst xmlns:p="http://schemas.openxmlformats.org/presentationml/2006/main">
  <p:tag name="KSO_WM_DIAGRAM_VIRTUALLY_FRAME" val="{&quot;height&quot;:343.0420547550588,&quot;left&quot;:24.885318167942863,&quot;top&quot;:63.83177667439262,&quot;width&quot;:664.1188585304541}"/>
</p:tagLst>
</file>

<file path=ppt/tags/tag70.xml><?xml version="1.0" encoding="utf-8"?>
<p:tagLst xmlns:p="http://schemas.openxmlformats.org/presentationml/2006/main">
  <p:tag name="KSO_WM_DIAGRAM_VIRTUALLY_FRAME" val="{&quot;height&quot;:343.0420547550588,&quot;left&quot;:24.885318167942863,&quot;top&quot;:63.83177667439262,&quot;width&quot;:664.1188585304541}"/>
</p:tagLst>
</file>

<file path=ppt/tags/tag71.xml><?xml version="1.0" encoding="utf-8"?>
<p:tagLst xmlns:p="http://schemas.openxmlformats.org/presentationml/2006/main">
  <p:tag name="KSO_WM_DIAGRAM_VIRTUALLY_FRAME" val="{&quot;height&quot;:343.0420547550588,&quot;left&quot;:24.885318167942863,&quot;top&quot;:63.83177667439262,&quot;width&quot;:664.1188585304541}"/>
</p:tagLst>
</file>

<file path=ppt/tags/tag72.xml><?xml version="1.0" encoding="utf-8"?>
<p:tagLst xmlns:p="http://schemas.openxmlformats.org/presentationml/2006/main">
  <p:tag name="KSO_WM_DIAGRAM_VIRTUALLY_FRAME" val="{&quot;height&quot;:343.0420547550588,&quot;left&quot;:24.885318167942863,&quot;top&quot;:63.83177667439262,&quot;width&quot;:664.1188585304541}"/>
</p:tagLst>
</file>

<file path=ppt/tags/tag73.xml><?xml version="1.0" encoding="utf-8"?>
<p:tagLst xmlns:p="http://schemas.openxmlformats.org/presentationml/2006/main">
  <p:tag name="KSO_WM_DIAGRAM_VIRTUALLY_FRAME" val="{&quot;height&quot;:363.1122047244095,&quot;left&quot;:291.32055118110236,&quot;top&quot;:41.572204724409445,&quot;width&quot;:385.8423622047245}"/>
</p:tagLst>
</file>

<file path=ppt/tags/tag74.xml><?xml version="1.0" encoding="utf-8"?>
<p:tagLst xmlns:p="http://schemas.openxmlformats.org/presentationml/2006/main">
  <p:tag name="KSO_WM_DIAGRAM_VIRTUALLY_FRAME" val="{&quot;height&quot;:363.1122047244095,&quot;left&quot;:291.32055118110236,&quot;top&quot;:41.572204724409445,&quot;width&quot;:385.8423622047245}"/>
</p:tagLst>
</file>

<file path=ppt/tags/tag75.xml><?xml version="1.0" encoding="utf-8"?>
<p:tagLst xmlns:p="http://schemas.openxmlformats.org/presentationml/2006/main">
  <p:tag name="KSO_WM_DIAGRAM_VIRTUALLY_FRAME" val="{&quot;height&quot;:363.1122047244095,&quot;left&quot;:291.32055118110236,&quot;top&quot;:41.572204724409445,&quot;width&quot;:385.8423622047245}"/>
</p:tagLst>
</file>

<file path=ppt/tags/tag76.xml><?xml version="1.0" encoding="utf-8"?>
<p:tagLst xmlns:p="http://schemas.openxmlformats.org/presentationml/2006/main">
  <p:tag name="KSO_WM_DIAGRAM_VIRTUALLY_FRAME" val="{&quot;height&quot;:363.1122047244095,&quot;left&quot;:291.32055118110236,&quot;top&quot;:41.572204724409445,&quot;width&quot;:385.8423622047245}"/>
</p:tagLst>
</file>

<file path=ppt/tags/tag77.xml><?xml version="1.0" encoding="utf-8"?>
<p:tagLst xmlns:p="http://schemas.openxmlformats.org/presentationml/2006/main">
  <p:tag name="KSO_WM_DIAGRAM_VIRTUALLY_FRAME" val="{&quot;height&quot;:363.1122047244095,&quot;left&quot;:291.32055118110236,&quot;top&quot;:41.572204724409445,&quot;width&quot;:385.8423622047245}"/>
</p:tagLst>
</file>

<file path=ppt/tags/tag78.xml><?xml version="1.0" encoding="utf-8"?>
<p:tagLst xmlns:p="http://schemas.openxmlformats.org/presentationml/2006/main">
  <p:tag name="KSO_WM_DIAGRAM_VIRTUALLY_FRAME" val="{&quot;height&quot;:363.1122047244095,&quot;left&quot;:291.32055118110236,&quot;top&quot;:41.572204724409445,&quot;width&quot;:385.8423622047245}"/>
</p:tagLst>
</file>

<file path=ppt/tags/tag79.xml><?xml version="1.0" encoding="utf-8"?>
<p:tagLst xmlns:p="http://schemas.openxmlformats.org/presentationml/2006/main">
  <p:tag name="KSO_WM_DIAGRAM_VIRTUALLY_FRAME" val="{&quot;height&quot;:363.1122047244095,&quot;left&quot;:291.32055118110236,&quot;top&quot;:41.572204724409445,&quot;width&quot;:385.8423622047245}"/>
</p:tagLst>
</file>

<file path=ppt/tags/tag80.xml><?xml version="1.0" encoding="utf-8"?>
<p:tagLst xmlns:p="http://schemas.openxmlformats.org/presentationml/2006/main">
  <p:tag name="KSO_WM_DIAGRAM_VIRTUALLY_FRAME" val="{&quot;height&quot;:363.1122047244095,&quot;left&quot;:291.32055118110236,&quot;top&quot;:41.572204724409445,&quot;width&quot;:385.8423622047245}"/>
</p:tagLst>
</file>

<file path=ppt/tags/tag81.xml><?xml version="1.0" encoding="utf-8"?>
<p:tagLst xmlns:p="http://schemas.openxmlformats.org/presentationml/2006/main">
  <p:tag name="KSO_WM_DIAGRAM_VIRTUALLY_FRAME" val="{&quot;height&quot;:363.1122047244095,&quot;left&quot;:291.32055118110236,&quot;top&quot;:41.572204724409445,&quot;width&quot;:385.8423622047245}"/>
</p:tagLst>
</file>

<file path=ppt/tags/tag82.xml><?xml version="1.0" encoding="utf-8"?>
<p:tagLst xmlns:p="http://schemas.openxmlformats.org/presentationml/2006/main">
  <p:tag name="KSO_WM_DIAGRAM_VIRTUALLY_FRAME" val="{&quot;height&quot;:363.1122047244095,&quot;left&quot;:291.32055118110236,&quot;top&quot;:41.572204724409445,&quot;width&quot;:385.8423622047245}"/>
</p:tagLst>
</file>

<file path=ppt/tags/tag83.xml><?xml version="1.0" encoding="utf-8"?>
<p:tagLst xmlns:p="http://schemas.openxmlformats.org/presentationml/2006/main">
  <p:tag name="KSO_WM_DIAGRAM_VIRTUALLY_FRAME" val="{&quot;height&quot;:363.1122047244095,&quot;left&quot;:291.32055118110236,&quot;top&quot;:41.572204724409445,&quot;width&quot;:385.8423622047245}"/>
</p:tagLst>
</file>

<file path=ppt/tags/tag84.xml><?xml version="1.0" encoding="utf-8"?>
<p:tagLst xmlns:p="http://schemas.openxmlformats.org/presentationml/2006/main">
  <p:tag name="KSO_WM_DIAGRAM_VIRTUALLY_FRAME" val="{&quot;height&quot;:363.1122047244095,&quot;left&quot;:291.32055118110236,&quot;top&quot;:41.572204724409445,&quot;width&quot;:385.8423622047245}"/>
</p:tagLst>
</file>

<file path=ppt/tags/tag85.xml><?xml version="1.0" encoding="utf-8"?>
<p:tagLst xmlns:p="http://schemas.openxmlformats.org/presentationml/2006/main">
  <p:tag name="KSO_WM_DIAGRAM_VIRTUALLY_FRAME" val="{&quot;height&quot;:363.1122047244095,&quot;left&quot;:291.32055118110236,&quot;top&quot;:41.572204724409445,&quot;width&quot;:385.8423622047245}"/>
</p:tagLst>
</file>

<file path=ppt/tags/tag86.xml><?xml version="1.0" encoding="utf-8"?>
<p:tagLst xmlns:p="http://schemas.openxmlformats.org/presentationml/2006/main">
  <p:tag name="KSO_WM_DIAGRAM_VIRTUALLY_FRAME" val="{&quot;height&quot;:363.1122047244095,&quot;left&quot;:291.32055118110236,&quot;top&quot;:41.572204724409445,&quot;width&quot;:385.8423622047245}"/>
</p:tagLst>
</file>

<file path=ppt/tags/tag87.xml><?xml version="1.0" encoding="utf-8"?>
<p:tagLst xmlns:p="http://schemas.openxmlformats.org/presentationml/2006/main">
  <p:tag name="KSO_WM_DIAGRAM_VIRTUALLY_FRAME" val="{&quot;height&quot;:363.1122047244095,&quot;left&quot;:291.32055118110236,&quot;top&quot;:41.572204724409445,&quot;width&quot;:385.8423622047245}"/>
</p:tagLst>
</file>

<file path=ppt/tags/tag88.xml><?xml version="1.0" encoding="utf-8"?>
<p:tagLst xmlns:p="http://schemas.openxmlformats.org/presentationml/2006/main">
  <p:tag name="KSO_WM_DIAGRAM_VIRTUALLY_FRAME" val="{&quot;height&quot;:363.1122047244095,&quot;left&quot;:291.32055118110236,&quot;top&quot;:41.572204724409445,&quot;width&quot;:385.8423622047245}"/>
</p:tagLst>
</file>

<file path=ppt/tags/tag89.xml><?xml version="1.0" encoding="utf-8"?>
<p:tagLst xmlns:p="http://schemas.openxmlformats.org/presentationml/2006/main">
  <p:tag name="KSO_WM_DIAGRAM_VIRTUALLY_FRAME" val="{&quot;height&quot;:363.1122047244095,&quot;left&quot;:291.32055118110236,&quot;top&quot;:41.572204724409445,&quot;width&quot;:385.8423622047245}"/>
</p:tagLst>
</file>

<file path=ppt/tags/tag90.xml><?xml version="1.0" encoding="utf-8"?>
<p:tagLst xmlns:p="http://schemas.openxmlformats.org/presentationml/2006/main">
  <p:tag name="KSO_WM_DIAGRAM_VIRTUALLY_FRAME" val="{&quot;height&quot;:363.1122047244095,&quot;left&quot;:291.32055118110236,&quot;top&quot;:41.572204724409445,&quot;width&quot;:385.8423622047245}"/>
</p:tagLst>
</file>

<file path=ppt/tags/tag91.xml><?xml version="1.0" encoding="utf-8"?>
<p:tagLst xmlns:p="http://schemas.openxmlformats.org/presentationml/2006/main">
  <p:tag name="KSO_WM_DIAGRAM_VIRTUALLY_FRAME" val="{&quot;height&quot;:363.1122047244095,&quot;left&quot;:291.32055118110236,&quot;top&quot;:41.572204724409445,&quot;width&quot;:385.8423622047245}"/>
</p:tagLst>
</file>

<file path=ppt/tags/tag92.xml><?xml version="1.0" encoding="utf-8"?>
<p:tagLst xmlns:p="http://schemas.openxmlformats.org/presentationml/2006/main">
  <p:tag name="KSO_WM_DIAGRAM_VIRTUALLY_FRAME" val="{&quot;height&quot;:363.1122047244095,&quot;left&quot;:291.32055118110236,&quot;top&quot;:41.572204724409445,&quot;width&quot;:385.8423622047245}"/>
</p:tagLst>
</file>

<file path=ppt/tags/tag93.xml><?xml version="1.0" encoding="utf-8"?>
<p:tagLst xmlns:p="http://schemas.openxmlformats.org/presentationml/2006/main">
  <p:tag name="KSO_WM_DIAGRAM_VIRTUALLY_FRAME" val="{&quot;height&quot;:363.1122047244095,&quot;left&quot;:291.32055118110236,&quot;top&quot;:41.572204724409445,&quot;width&quot;:385.8423622047245}"/>
</p:tagLst>
</file>

<file path=ppt/tags/tag94.xml><?xml version="1.0" encoding="utf-8"?>
<p:tagLst xmlns:p="http://schemas.openxmlformats.org/presentationml/2006/main">
  <p:tag name="KSO_WM_DIAGRAM_VIRTUALLY_FRAME" val="{&quot;height&quot;:363.1122047244095,&quot;left&quot;:291.32055118110236,&quot;top&quot;:41.572204724409445,&quot;width&quot;:385.8423622047245}"/>
</p:tagLst>
</file>

<file path=ppt/tags/tag95.xml><?xml version="1.0" encoding="utf-8"?>
<p:tagLst xmlns:p="http://schemas.openxmlformats.org/presentationml/2006/main">
  <p:tag name="KSO_WM_DIAGRAM_VIRTUALLY_FRAME" val="{&quot;height&quot;:363.1122047244095,&quot;left&quot;:291.32055118110236,&quot;top&quot;:41.572204724409445,&quot;width&quot;:385.8423622047245}"/>
</p:tagLst>
</file>

<file path=ppt/tags/tag96.xml><?xml version="1.0" encoding="utf-8"?>
<p:tagLst xmlns:p="http://schemas.openxmlformats.org/presentationml/2006/main">
  <p:tag name="KSO_WM_DIAGRAM_VIRTUALLY_FRAME" val="{&quot;height&quot;:363.1122047244095,&quot;left&quot;:291.32055118110236,&quot;top&quot;:41.572204724409445,&quot;width&quot;:385.8423622047245}"/>
</p:tagLst>
</file>

<file path=ppt/tags/tag97.xml><?xml version="1.0" encoding="utf-8"?>
<p:tagLst xmlns:p="http://schemas.openxmlformats.org/presentationml/2006/main">
  <p:tag name="KSO_WM_DIAGRAM_VIRTUALLY_FRAME" val="{&quot;height&quot;:363.1122047244095,&quot;left&quot;:291.32055118110236,&quot;top&quot;:41.572204724409445,&quot;width&quot;:385.8423622047245}"/>
</p:tagLst>
</file>

<file path=ppt/tags/tag98.xml><?xml version="1.0" encoding="utf-8"?>
<p:tagLst xmlns:p="http://schemas.openxmlformats.org/presentationml/2006/main">
  <p:tag name="KSO_WM_DIAGRAM_VIRTUALLY_FRAME" val="{&quot;height&quot;:363.1122047244095,&quot;left&quot;:291.32055118110236,&quot;top&quot;:41.572204724409445,&quot;width&quot;:385.8423622047245}"/>
</p:tagLst>
</file>

<file path=ppt/tags/tag99.xml><?xml version="1.0" encoding="utf-8"?>
<p:tagLst xmlns:p="http://schemas.openxmlformats.org/presentationml/2006/main">
  <p:tag name="KSO_WM_DIAGRAM_VIRTUALLY_FRAME" val="{&quot;height&quot;:363.1122047244095,&quot;left&quot;:291.32055118110236,&quot;top&quot;:41.572204724409445,&quot;width&quot;:385.8423622047245}"/>
</p:tagLst>
</file>

<file path=ppt/tags/tag100.xml><?xml version="1.0" encoding="utf-8"?>
<p:tagLst xmlns:p="http://schemas.openxmlformats.org/presentationml/2006/main">
  <p:tag name="KSO_WM_DIAGRAM_VIRTUALLY_FRAME" val="{&quot;height&quot;:363.1122047244095,&quot;left&quot;:291.32055118110236,&quot;top&quot;:41.572204724409445,&quot;width&quot;:385.8423622047245}"/>
</p:tagLst>
</file>

<file path=ppt/tags/tag101.xml><?xml version="1.0" encoding="utf-8"?>
<p:tagLst xmlns:p="http://schemas.openxmlformats.org/presentationml/2006/main">
  <p:tag name="commondata" val="eyJoZGlkIjoiM2MxZDVhZTVhNTA4MmRhYTM2ZjU1NGY0ZTE2NDYwYzkifQ==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3450</Words>
  <Application>WPS 演示</Application>
  <PresentationFormat>On-screen Show (16:9)</PresentationFormat>
  <Paragraphs>199</Paragraphs>
  <Slides>19</Slides>
  <Notes>19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31" baseType="lpstr">
      <vt:lpstr>Arial</vt:lpstr>
      <vt:lpstr>宋体</vt:lpstr>
      <vt:lpstr>Wingdings</vt:lpstr>
      <vt:lpstr>Arial</vt:lpstr>
      <vt:lpstr>Arial</vt:lpstr>
      <vt:lpstr>黑体</vt:lpstr>
      <vt:lpstr>微软雅黑</vt:lpstr>
      <vt:lpstr>微软雅黑</vt:lpstr>
      <vt:lpstr>Calibri</vt:lpstr>
      <vt:lpstr>Arial Unicode MS</vt:lpstr>
      <vt:lpstr>等线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#%Code</cp:lastModifiedBy>
  <cp:revision>32</cp:revision>
  <dcterms:created xsi:type="dcterms:W3CDTF">2024-11-03T09:44:00Z</dcterms:created>
  <dcterms:modified xsi:type="dcterms:W3CDTF">2025-11-03T07:09:06Z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9C6A723EC0F94FDBBF0A46969540C211_12</vt:lpwstr>
  </property>
  <property fmtid="{D5CDD505-2E9C-101B-9397-08002B2CF9AE}" pid="3" name="KSOProductBuildVer">
    <vt:lpwstr>2052-12.1.0.23122</vt:lpwstr>
  </property>
</Properties>
</file>