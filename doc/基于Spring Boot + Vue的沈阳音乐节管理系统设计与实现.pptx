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78" r:id="rId25"/>
    <p:sldId id="279" r:id="rId26"/>
  </p:sldIdLst>
  <p:sldSz cx="16256000" cy="9144000"/>
  <p:notesSz cx="9144000" cy="16256000"/>
  <p:embeddedFontLst>
    <p:embeddedFont>
      <p:font typeface="阿里妈妈数黑体" pitchFamily="34" charset="-122"/>
      <p:bold r:id="rId30"/>
    </p:embeddedFont>
    <p:embeddedFont>
      <p:font typeface="阿里妈妈数黑体" pitchFamily="34" charset="-120"/>
      <p:bold r:id="rId31"/>
    </p:embeddedFont>
    <p:embeddedFont>
      <p:font typeface="MiSans" pitchFamily="34" charset="-122"/>
      <p:regular r:id="rId32"/>
    </p:embeddedFont>
    <p:embeddedFont>
      <p:font typeface="MiSans" pitchFamily="34" charset="-120"/>
      <p:regular r:id="rId33"/>
    </p:embeddedFont>
    <p:embeddedFont>
      <p:font typeface="Calibri" panose="020F0502020204030204" charset="0"/>
      <p:regular r:id="rId34"/>
      <p:bold r:id="rId35"/>
      <p:italic r:id="rId36"/>
      <p:boldItalic r:id="rId3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8.fntdata"/><Relationship Id="rId36" Type="http://schemas.openxmlformats.org/officeDocument/2006/relationships/font" Target="fonts/font7.fntdata"/><Relationship Id="rId35" Type="http://schemas.openxmlformats.org/officeDocument/2006/relationships/font" Target="fonts/font6.fntdata"/><Relationship Id="rId34" Type="http://schemas.openxmlformats.org/officeDocument/2006/relationships/font" Target="fonts/font5.fntdata"/><Relationship Id="rId33" Type="http://schemas.openxmlformats.org/officeDocument/2006/relationships/font" Target="fonts/font4.fntdata"/><Relationship Id="rId32" Type="http://schemas.openxmlformats.org/officeDocument/2006/relationships/font" Target="fonts/font3.fntdata"/><Relationship Id="rId31" Type="http://schemas.openxmlformats.org/officeDocument/2006/relationships/font" Target="fonts/font2.fntdata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5a26f4d233c1dd0433bb216ad536e3f338fc7b9a.jpg"/>
          <p:cNvPicPr>
            <a:picLocks noChangeAspect="1"/>
          </p:cNvPicPr>
          <p:nvPr/>
        </p:nvPicPr>
        <p:blipFill>
          <a:blip r:embed="rId1">
            <a:alphaModFix amt="40000"/>
          </a:blip>
          <a:srcRect t="5112" b="511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533400" y="1206500"/>
            <a:ext cx="3962400" cy="508000"/>
          </a:xfrm>
          <a:custGeom>
            <a:avLst/>
            <a:gdLst/>
            <a:ahLst/>
            <a:cxnLst/>
            <a:rect l="l" t="t" r="r" b="b"/>
            <a:pathLst>
              <a:path w="3962400" h="508000">
                <a:moveTo>
                  <a:pt x="0" y="0"/>
                </a:moveTo>
                <a:lnTo>
                  <a:pt x="3962400" y="0"/>
                </a:lnTo>
                <a:lnTo>
                  <a:pt x="39624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1206500"/>
            <a:ext cx="50800" cy="508000"/>
          </a:xfrm>
          <a:custGeom>
            <a:avLst/>
            <a:gdLst/>
            <a:ahLst/>
            <a:cxnLst/>
            <a:rect l="l" t="t" r="r" b="b"/>
            <a:pathLst>
              <a:path w="50800" h="508000">
                <a:moveTo>
                  <a:pt x="0" y="0"/>
                </a:moveTo>
                <a:lnTo>
                  <a:pt x="50800" y="0"/>
                </a:lnTo>
                <a:lnTo>
                  <a:pt x="508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762000" y="1308100"/>
            <a:ext cx="3632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GRADUATION DESIGN PROPOSAL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2120900"/>
            <a:ext cx="15621000" cy="2857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基于Spring Boot + Vue的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沈阳音乐节管理系统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设计与实现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2832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5638800"/>
            <a:ext cx="153924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毕业设计开题报告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14350" y="71437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50803" y="0"/>
                </a:moveTo>
                <a:lnTo>
                  <a:pt x="4876797" y="0"/>
                </a:lnTo>
                <a:cubicBezTo>
                  <a:pt x="4904855" y="0"/>
                  <a:pt x="4927600" y="22745"/>
                  <a:pt x="4927600" y="50803"/>
                </a:cubicBezTo>
                <a:lnTo>
                  <a:pt x="4927600" y="1435097"/>
                </a:lnTo>
                <a:cubicBezTo>
                  <a:pt x="4927600" y="1463155"/>
                  <a:pt x="4904855" y="1485900"/>
                  <a:pt x="4876797" y="1485900"/>
                </a:cubicBezTo>
                <a:lnTo>
                  <a:pt x="50803" y="1485900"/>
                </a:lnTo>
                <a:cubicBezTo>
                  <a:pt x="22745" y="1485900"/>
                  <a:pt x="0" y="1463155"/>
                  <a:pt x="0" y="14350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1050" y="73533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76200" y="0"/>
                </a:moveTo>
                <a:cubicBezTo>
                  <a:pt x="86737" y="0"/>
                  <a:pt x="95250" y="8513"/>
                  <a:pt x="95250" y="19050"/>
                </a:cubicBezTo>
                <a:lnTo>
                  <a:pt x="95250" y="38100"/>
                </a:lnTo>
                <a:lnTo>
                  <a:pt x="171450" y="38100"/>
                </a:lnTo>
                <a:lnTo>
                  <a:pt x="171450" y="19050"/>
                </a:lnTo>
                <a:cubicBezTo>
                  <a:pt x="171450" y="8513"/>
                  <a:pt x="179963" y="0"/>
                  <a:pt x="190500" y="0"/>
                </a:cubicBezTo>
                <a:cubicBezTo>
                  <a:pt x="201037" y="0"/>
                  <a:pt x="209550" y="8513"/>
                  <a:pt x="209550" y="19050"/>
                </a:cubicBezTo>
                <a:lnTo>
                  <a:pt x="209550" y="38100"/>
                </a:lnTo>
                <a:lnTo>
                  <a:pt x="228600" y="38100"/>
                </a:lnTo>
                <a:cubicBezTo>
                  <a:pt x="249615" y="38100"/>
                  <a:pt x="266700" y="55185"/>
                  <a:pt x="266700" y="7620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76200"/>
                </a:lnTo>
                <a:cubicBezTo>
                  <a:pt x="0" y="55185"/>
                  <a:pt x="17085" y="38100"/>
                  <a:pt x="38100" y="38100"/>
                </a:cubicBezTo>
                <a:lnTo>
                  <a:pt x="57150" y="38100"/>
                </a:lnTo>
                <a:lnTo>
                  <a:pt x="57150" y="19050"/>
                </a:lnTo>
                <a:cubicBezTo>
                  <a:pt x="57150" y="8513"/>
                  <a:pt x="65663" y="0"/>
                  <a:pt x="76200" y="0"/>
                </a:cubicBezTo>
                <a:close/>
                <a:moveTo>
                  <a:pt x="38100" y="142875"/>
                </a:moveTo>
                <a:lnTo>
                  <a:pt x="38100" y="161925"/>
                </a:lnTo>
                <a:cubicBezTo>
                  <a:pt x="38100" y="167164"/>
                  <a:pt x="42386" y="171450"/>
                  <a:pt x="47625" y="171450"/>
                </a:cubicBezTo>
                <a:lnTo>
                  <a:pt x="66675" y="171450"/>
                </a:lnTo>
                <a:cubicBezTo>
                  <a:pt x="71914" y="171450"/>
                  <a:pt x="76200" y="167164"/>
                  <a:pt x="76200" y="161925"/>
                </a:cubicBezTo>
                <a:lnTo>
                  <a:pt x="76200" y="142875"/>
                </a:lnTo>
                <a:cubicBezTo>
                  <a:pt x="76200" y="137636"/>
                  <a:pt x="71914" y="133350"/>
                  <a:pt x="66675" y="133350"/>
                </a:cubicBezTo>
                <a:lnTo>
                  <a:pt x="47625" y="133350"/>
                </a:lnTo>
                <a:cubicBezTo>
                  <a:pt x="42386" y="133350"/>
                  <a:pt x="38100" y="137636"/>
                  <a:pt x="38100" y="142875"/>
                </a:cubicBezTo>
                <a:close/>
                <a:moveTo>
                  <a:pt x="114300" y="142875"/>
                </a:moveTo>
                <a:lnTo>
                  <a:pt x="114300" y="161925"/>
                </a:lnTo>
                <a:cubicBezTo>
                  <a:pt x="114300" y="167164"/>
                  <a:pt x="118586" y="171450"/>
                  <a:pt x="123825" y="171450"/>
                </a:cubicBezTo>
                <a:lnTo>
                  <a:pt x="142875" y="171450"/>
                </a:lnTo>
                <a:cubicBezTo>
                  <a:pt x="148114" y="171450"/>
                  <a:pt x="152400" y="167164"/>
                  <a:pt x="152400" y="161925"/>
                </a:cubicBezTo>
                <a:lnTo>
                  <a:pt x="152400" y="142875"/>
                </a:lnTo>
                <a:cubicBezTo>
                  <a:pt x="152400" y="137636"/>
                  <a:pt x="148114" y="133350"/>
                  <a:pt x="142875" y="133350"/>
                </a:cubicBezTo>
                <a:lnTo>
                  <a:pt x="123825" y="133350"/>
                </a:lnTo>
                <a:cubicBezTo>
                  <a:pt x="118586" y="133350"/>
                  <a:pt x="114300" y="137636"/>
                  <a:pt x="114300" y="142875"/>
                </a:cubicBezTo>
                <a:close/>
                <a:moveTo>
                  <a:pt x="200025" y="133350"/>
                </a:moveTo>
                <a:cubicBezTo>
                  <a:pt x="194786" y="133350"/>
                  <a:pt x="190500" y="137636"/>
                  <a:pt x="190500" y="142875"/>
                </a:cubicBezTo>
                <a:lnTo>
                  <a:pt x="190500" y="161925"/>
                </a:lnTo>
                <a:cubicBezTo>
                  <a:pt x="190500" y="167164"/>
                  <a:pt x="194786" y="171450"/>
                  <a:pt x="200025" y="171450"/>
                </a:cubicBezTo>
                <a:lnTo>
                  <a:pt x="219075" y="171450"/>
                </a:lnTo>
                <a:cubicBezTo>
                  <a:pt x="224314" y="171450"/>
                  <a:pt x="228600" y="167164"/>
                  <a:pt x="228600" y="161925"/>
                </a:cubicBezTo>
                <a:lnTo>
                  <a:pt x="228600" y="142875"/>
                </a:lnTo>
                <a:cubicBezTo>
                  <a:pt x="228600" y="137636"/>
                  <a:pt x="224314" y="133350"/>
                  <a:pt x="219075" y="133350"/>
                </a:cubicBezTo>
                <a:lnTo>
                  <a:pt x="200025" y="133350"/>
                </a:lnTo>
                <a:close/>
                <a:moveTo>
                  <a:pt x="38100" y="219075"/>
                </a:move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66675" y="247650"/>
                </a:lnTo>
                <a:cubicBezTo>
                  <a:pt x="71914" y="247650"/>
                  <a:pt x="76200" y="243364"/>
                  <a:pt x="76200" y="238125"/>
                </a:cubicBezTo>
                <a:lnTo>
                  <a:pt x="76200" y="219075"/>
                </a:lnTo>
                <a:cubicBezTo>
                  <a:pt x="76200" y="213836"/>
                  <a:pt x="71914" y="209550"/>
                  <a:pt x="66675" y="209550"/>
                </a:cubicBezTo>
                <a:lnTo>
                  <a:pt x="47625" y="209550"/>
                </a:lnTo>
                <a:cubicBezTo>
                  <a:pt x="42386" y="209550"/>
                  <a:pt x="38100" y="213836"/>
                  <a:pt x="38100" y="219075"/>
                </a:cubicBezTo>
                <a:close/>
                <a:moveTo>
                  <a:pt x="123825" y="209550"/>
                </a:moveTo>
                <a:cubicBezTo>
                  <a:pt x="118586" y="209550"/>
                  <a:pt x="114300" y="213836"/>
                  <a:pt x="114300" y="219075"/>
                </a:cubicBezTo>
                <a:lnTo>
                  <a:pt x="114300" y="238125"/>
                </a:lnTo>
                <a:cubicBezTo>
                  <a:pt x="114300" y="243364"/>
                  <a:pt x="118586" y="247650"/>
                  <a:pt x="123825" y="247650"/>
                </a:cubicBezTo>
                <a:lnTo>
                  <a:pt x="142875" y="247650"/>
                </a:lnTo>
                <a:cubicBezTo>
                  <a:pt x="148114" y="247650"/>
                  <a:pt x="152400" y="243364"/>
                  <a:pt x="152400" y="238125"/>
                </a:cubicBezTo>
                <a:lnTo>
                  <a:pt x="152400" y="219075"/>
                </a:lnTo>
                <a:cubicBezTo>
                  <a:pt x="152400" y="213836"/>
                  <a:pt x="148114" y="209550"/>
                  <a:pt x="142875" y="209550"/>
                </a:cubicBezTo>
                <a:lnTo>
                  <a:pt x="123825" y="209550"/>
                </a:lnTo>
                <a:close/>
                <a:moveTo>
                  <a:pt x="190500" y="219075"/>
                </a:moveTo>
                <a:lnTo>
                  <a:pt x="190500" y="238125"/>
                </a:lnTo>
                <a:cubicBezTo>
                  <a:pt x="190500" y="243364"/>
                  <a:pt x="194786" y="247650"/>
                  <a:pt x="200025" y="247650"/>
                </a:cubicBezTo>
                <a:lnTo>
                  <a:pt x="219075" y="247650"/>
                </a:lnTo>
                <a:cubicBezTo>
                  <a:pt x="224314" y="247650"/>
                  <a:pt x="228600" y="243364"/>
                  <a:pt x="228600" y="238125"/>
                </a:cubicBezTo>
                <a:lnTo>
                  <a:pt x="228600" y="219075"/>
                </a:lnTo>
                <a:cubicBezTo>
                  <a:pt x="228600" y="213836"/>
                  <a:pt x="224314" y="209550"/>
                  <a:pt x="219075" y="209550"/>
                </a:cubicBezTo>
                <a:lnTo>
                  <a:pt x="200025" y="209550"/>
                </a:lnTo>
                <a:cubicBezTo>
                  <a:pt x="194786" y="209550"/>
                  <a:pt x="190500" y="213836"/>
                  <a:pt x="190500" y="219075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9"/>
          <p:cNvSpPr/>
          <p:nvPr/>
        </p:nvSpPr>
        <p:spPr>
          <a:xfrm>
            <a:off x="723900" y="7759700"/>
            <a:ext cx="459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汇报时间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3900" y="8064500"/>
            <a:ext cx="462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2025年12月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62017" y="71437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50803" y="0"/>
                </a:moveTo>
                <a:lnTo>
                  <a:pt x="4876797" y="0"/>
                </a:lnTo>
                <a:cubicBezTo>
                  <a:pt x="4904855" y="0"/>
                  <a:pt x="4927600" y="22745"/>
                  <a:pt x="4927600" y="50803"/>
                </a:cubicBezTo>
                <a:lnTo>
                  <a:pt x="4927600" y="1435097"/>
                </a:lnTo>
                <a:cubicBezTo>
                  <a:pt x="4927600" y="1463155"/>
                  <a:pt x="4904855" y="1485900"/>
                  <a:pt x="4876797" y="1485900"/>
                </a:cubicBezTo>
                <a:lnTo>
                  <a:pt x="50803" y="1485900"/>
                </a:lnTo>
                <a:cubicBezTo>
                  <a:pt x="22745" y="1485900"/>
                  <a:pt x="0" y="1463155"/>
                  <a:pt x="0" y="14350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7767" y="73533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112276"/>
                </a:moveTo>
                <a:cubicBezTo>
                  <a:pt x="0" y="50244"/>
                  <a:pt x="51197" y="0"/>
                  <a:pt x="114300" y="0"/>
                </a:cubicBezTo>
                <a:cubicBezTo>
                  <a:pt x="177403" y="0"/>
                  <a:pt x="228600" y="50244"/>
                  <a:pt x="228600" y="112276"/>
                </a:cubicBezTo>
                <a:cubicBezTo>
                  <a:pt x="228600" y="183297"/>
                  <a:pt x="157043" y="268426"/>
                  <a:pt x="127159" y="300871"/>
                </a:cubicBezTo>
                <a:cubicBezTo>
                  <a:pt x="120134" y="308491"/>
                  <a:pt x="108406" y="308491"/>
                  <a:pt x="101382" y="300871"/>
                </a:cubicBezTo>
                <a:cubicBezTo>
                  <a:pt x="71497" y="268426"/>
                  <a:pt x="-60" y="183297"/>
                  <a:pt x="-60" y="112276"/>
                </a:cubicBezTo>
                <a:close/>
                <a:moveTo>
                  <a:pt x="114300" y="152400"/>
                </a:moveTo>
                <a:cubicBezTo>
                  <a:pt x="135328" y="152400"/>
                  <a:pt x="152400" y="135328"/>
                  <a:pt x="152400" y="114300"/>
                </a:cubicBezTo>
                <a:cubicBezTo>
                  <a:pt x="152400" y="93272"/>
                  <a:pt x="135328" y="76200"/>
                  <a:pt x="114300" y="76200"/>
                </a:cubicBezTo>
                <a:cubicBezTo>
                  <a:pt x="93272" y="76200"/>
                  <a:pt x="76200" y="93272"/>
                  <a:pt x="76200" y="114300"/>
                </a:cubicBezTo>
                <a:cubicBezTo>
                  <a:pt x="76200" y="135328"/>
                  <a:pt x="93272" y="152400"/>
                  <a:pt x="114300" y="15240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3"/>
          <p:cNvSpPr/>
          <p:nvPr/>
        </p:nvSpPr>
        <p:spPr>
          <a:xfrm>
            <a:off x="5871567" y="7759700"/>
            <a:ext cx="459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所属院校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71567" y="8064500"/>
            <a:ext cx="462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计算机学院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809684" y="7143750"/>
            <a:ext cx="4927600" cy="1485900"/>
          </a:xfrm>
          <a:custGeom>
            <a:avLst/>
            <a:gdLst/>
            <a:ahLst/>
            <a:cxnLst/>
            <a:rect l="l" t="t" r="r" b="b"/>
            <a:pathLst>
              <a:path w="4927600" h="1485900">
                <a:moveTo>
                  <a:pt x="50803" y="0"/>
                </a:moveTo>
                <a:lnTo>
                  <a:pt x="4876797" y="0"/>
                </a:lnTo>
                <a:cubicBezTo>
                  <a:pt x="4904855" y="0"/>
                  <a:pt x="4927600" y="22745"/>
                  <a:pt x="4927600" y="50803"/>
                </a:cubicBezTo>
                <a:lnTo>
                  <a:pt x="4927600" y="1435097"/>
                </a:lnTo>
                <a:cubicBezTo>
                  <a:pt x="4927600" y="1463155"/>
                  <a:pt x="4904855" y="1485900"/>
                  <a:pt x="4876797" y="1485900"/>
                </a:cubicBezTo>
                <a:lnTo>
                  <a:pt x="50803" y="1485900"/>
                </a:lnTo>
                <a:cubicBezTo>
                  <a:pt x="22745" y="1485900"/>
                  <a:pt x="0" y="1463155"/>
                  <a:pt x="0" y="14350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19234" y="73533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8100" y="57150"/>
                </a:moveTo>
                <a:cubicBezTo>
                  <a:pt x="38100" y="36135"/>
                  <a:pt x="55185" y="19050"/>
                  <a:pt x="76200" y="19050"/>
                </a:cubicBezTo>
                <a:lnTo>
                  <a:pt x="304800" y="19050"/>
                </a:lnTo>
                <a:cubicBezTo>
                  <a:pt x="325815" y="19050"/>
                  <a:pt x="342900" y="36135"/>
                  <a:pt x="342900" y="57150"/>
                </a:cubicBezTo>
                <a:lnTo>
                  <a:pt x="342900" y="200025"/>
                </a:lnTo>
                <a:lnTo>
                  <a:pt x="304800" y="200025"/>
                </a:lnTo>
                <a:lnTo>
                  <a:pt x="304800" y="57150"/>
                </a:lnTo>
                <a:lnTo>
                  <a:pt x="76200" y="57150"/>
                </a:lnTo>
                <a:lnTo>
                  <a:pt x="76200" y="200025"/>
                </a:lnTo>
                <a:lnTo>
                  <a:pt x="38100" y="200025"/>
                </a:lnTo>
                <a:lnTo>
                  <a:pt x="38100" y="57150"/>
                </a:lnTo>
                <a:close/>
                <a:moveTo>
                  <a:pt x="0" y="240030"/>
                </a:moveTo>
                <a:cubicBezTo>
                  <a:pt x="0" y="233720"/>
                  <a:pt x="5120" y="228600"/>
                  <a:pt x="11430" y="228600"/>
                </a:cubicBezTo>
                <a:lnTo>
                  <a:pt x="369570" y="228600"/>
                </a:lnTo>
                <a:cubicBezTo>
                  <a:pt x="375880" y="228600"/>
                  <a:pt x="381000" y="233720"/>
                  <a:pt x="381000" y="240030"/>
                </a:cubicBezTo>
                <a:cubicBezTo>
                  <a:pt x="381000" y="265271"/>
                  <a:pt x="360521" y="285750"/>
                  <a:pt x="335280" y="285750"/>
                </a:cubicBezTo>
                <a:lnTo>
                  <a:pt x="45720" y="285750"/>
                </a:lnTo>
                <a:cubicBezTo>
                  <a:pt x="20479" y="285750"/>
                  <a:pt x="0" y="265271"/>
                  <a:pt x="0" y="240030"/>
                </a:cubicBezTo>
                <a:close/>
                <a:moveTo>
                  <a:pt x="167283" y="124420"/>
                </a:moveTo>
                <a:lnTo>
                  <a:pt x="148828" y="142875"/>
                </a:lnTo>
                <a:lnTo>
                  <a:pt x="167283" y="161330"/>
                </a:lnTo>
                <a:cubicBezTo>
                  <a:pt x="172879" y="166926"/>
                  <a:pt x="172879" y="175974"/>
                  <a:pt x="167283" y="181511"/>
                </a:cubicBezTo>
                <a:cubicBezTo>
                  <a:pt x="161687" y="187047"/>
                  <a:pt x="152638" y="187107"/>
                  <a:pt x="147102" y="181511"/>
                </a:cubicBezTo>
                <a:lnTo>
                  <a:pt x="118527" y="152936"/>
                </a:lnTo>
                <a:cubicBezTo>
                  <a:pt x="112931" y="147340"/>
                  <a:pt x="112931" y="138291"/>
                  <a:pt x="118527" y="132755"/>
                </a:cubicBezTo>
                <a:lnTo>
                  <a:pt x="147102" y="104180"/>
                </a:lnTo>
                <a:cubicBezTo>
                  <a:pt x="152698" y="98584"/>
                  <a:pt x="161746" y="98584"/>
                  <a:pt x="167283" y="104180"/>
                </a:cubicBezTo>
                <a:cubicBezTo>
                  <a:pt x="172819" y="109776"/>
                  <a:pt x="172879" y="118824"/>
                  <a:pt x="167283" y="124361"/>
                </a:cubicBezTo>
                <a:close/>
                <a:moveTo>
                  <a:pt x="233958" y="104180"/>
                </a:moveTo>
                <a:lnTo>
                  <a:pt x="262533" y="132755"/>
                </a:lnTo>
                <a:cubicBezTo>
                  <a:pt x="268129" y="138351"/>
                  <a:pt x="268129" y="147399"/>
                  <a:pt x="262533" y="152936"/>
                </a:cubicBezTo>
                <a:lnTo>
                  <a:pt x="233958" y="181511"/>
                </a:lnTo>
                <a:cubicBezTo>
                  <a:pt x="228362" y="187107"/>
                  <a:pt x="219313" y="187107"/>
                  <a:pt x="213777" y="181511"/>
                </a:cubicBezTo>
                <a:cubicBezTo>
                  <a:pt x="208240" y="175915"/>
                  <a:pt x="208181" y="166866"/>
                  <a:pt x="213777" y="161330"/>
                </a:cubicBezTo>
                <a:lnTo>
                  <a:pt x="232231" y="142875"/>
                </a:lnTo>
                <a:lnTo>
                  <a:pt x="213777" y="124420"/>
                </a:lnTo>
                <a:cubicBezTo>
                  <a:pt x="208181" y="118824"/>
                  <a:pt x="208181" y="109776"/>
                  <a:pt x="213777" y="104239"/>
                </a:cubicBezTo>
                <a:cubicBezTo>
                  <a:pt x="219373" y="98703"/>
                  <a:pt x="228421" y="98643"/>
                  <a:pt x="233958" y="104239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0" name="Text 17"/>
          <p:cNvSpPr/>
          <p:nvPr/>
        </p:nvSpPr>
        <p:spPr>
          <a:xfrm>
            <a:off x="11019234" y="7759700"/>
            <a:ext cx="45974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19234" y="8064500"/>
            <a:ext cx="4622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 + Vue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5448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汇报提纲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7272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2286000"/>
            <a:ext cx="7442200" cy="1625600"/>
          </a:xfrm>
          <a:custGeom>
            <a:avLst/>
            <a:gdLst/>
            <a:ahLst/>
            <a:cxnLst/>
            <a:rect l="l" t="t" r="r" b="b"/>
            <a:pathLst>
              <a:path w="7442200" h="16256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524000"/>
                </a:lnTo>
                <a:cubicBezTo>
                  <a:pt x="7442200" y="1580075"/>
                  <a:pt x="7396675" y="1625600"/>
                  <a:pt x="7340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533400" y="22860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Shape 5"/>
          <p:cNvSpPr/>
          <p:nvPr/>
        </p:nvSpPr>
        <p:spPr>
          <a:xfrm>
            <a:off x="812800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6"/>
          <p:cNvSpPr/>
          <p:nvPr/>
        </p:nvSpPr>
        <p:spPr>
          <a:xfrm>
            <a:off x="988417" y="2692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27200" y="2540000"/>
            <a:ext cx="612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27200" y="2997200"/>
            <a:ext cx="60960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分析互联网+音乐节的行业趋势，阐述沈阳音乐节的文化价值与系统建设的必要性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05800" y="2286000"/>
            <a:ext cx="7442200" cy="1625600"/>
          </a:xfrm>
          <a:custGeom>
            <a:avLst/>
            <a:gdLst/>
            <a:ahLst/>
            <a:cxnLst/>
            <a:rect l="l" t="t" r="r" b="b"/>
            <a:pathLst>
              <a:path w="7442200" h="1625600">
                <a:moveTo>
                  <a:pt x="50800" y="0"/>
                </a:moveTo>
                <a:lnTo>
                  <a:pt x="7340600" y="0"/>
                </a:lnTo>
                <a:cubicBezTo>
                  <a:pt x="7396675" y="0"/>
                  <a:pt x="7442200" y="45525"/>
                  <a:pt x="7442200" y="101600"/>
                </a:cubicBezTo>
                <a:lnTo>
                  <a:pt x="7442200" y="1524000"/>
                </a:lnTo>
                <a:cubicBezTo>
                  <a:pt x="7442200" y="1580075"/>
                  <a:pt x="7396675" y="1625600"/>
                  <a:pt x="7340600" y="1625600"/>
                </a:cubicBez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8305800" y="22860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5080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50800" y="1625600"/>
                </a:lnTo>
                <a:cubicBezTo>
                  <a:pt x="22763" y="1625600"/>
                  <a:pt x="0" y="1602837"/>
                  <a:pt x="0" y="1574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3" name="Shape 11"/>
          <p:cNvSpPr/>
          <p:nvPr/>
        </p:nvSpPr>
        <p:spPr>
          <a:xfrm>
            <a:off x="8585200" y="2540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4" name="Text 12"/>
          <p:cNvSpPr/>
          <p:nvPr/>
        </p:nvSpPr>
        <p:spPr>
          <a:xfrm>
            <a:off x="8760817" y="2692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99600" y="2540000"/>
            <a:ext cx="5867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99600" y="2997200"/>
            <a:ext cx="5842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梳理音乐节管理系统、Spring Boot与Vue技术的研究成果与进展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3400" y="41656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8" name="Shape 16"/>
          <p:cNvSpPr/>
          <p:nvPr/>
        </p:nvSpPr>
        <p:spPr>
          <a:xfrm>
            <a:off x="533400" y="41656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9" name="Shape 17"/>
          <p:cNvSpPr/>
          <p:nvPr/>
        </p:nvSpPr>
        <p:spPr>
          <a:xfrm>
            <a:off x="812800" y="4419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8"/>
          <p:cNvSpPr/>
          <p:nvPr/>
        </p:nvSpPr>
        <p:spPr>
          <a:xfrm>
            <a:off x="988417" y="45720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27200" y="4419600"/>
            <a:ext cx="520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研究内容与目标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27200" y="4876800"/>
            <a:ext cx="51816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明确系统功能模块、性能需求与设计目标，界定研究边界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41656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8305800" y="41656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Shape 23"/>
          <p:cNvSpPr/>
          <p:nvPr/>
        </p:nvSpPr>
        <p:spPr>
          <a:xfrm>
            <a:off x="8585200" y="44196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8760817" y="45720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99600" y="4419600"/>
            <a:ext cx="480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关键技术路线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499600" y="4876800"/>
            <a:ext cx="477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说明后端、前端及第三方服务的技术选型与集成方案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57150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533400" y="57150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1" name="Shape 29"/>
          <p:cNvSpPr/>
          <p:nvPr/>
        </p:nvSpPr>
        <p:spPr>
          <a:xfrm>
            <a:off x="812800" y="5969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2" name="Text 30"/>
          <p:cNvSpPr/>
          <p:nvPr/>
        </p:nvSpPr>
        <p:spPr>
          <a:xfrm>
            <a:off x="988417" y="6121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727200" y="5969000"/>
            <a:ext cx="5143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27200" y="6426200"/>
            <a:ext cx="51181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展示系统总体架构、功能模块划分与数据库E-R模型设计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05800" y="57150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8305800" y="57150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Shape 35"/>
          <p:cNvSpPr/>
          <p:nvPr/>
        </p:nvSpPr>
        <p:spPr>
          <a:xfrm>
            <a:off x="8585200" y="59690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8" name="Text 36"/>
          <p:cNvSpPr/>
          <p:nvPr/>
        </p:nvSpPr>
        <p:spPr>
          <a:xfrm>
            <a:off x="8760817" y="61214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499600" y="5969000"/>
            <a:ext cx="5613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重点难点分析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499600" y="6426200"/>
            <a:ext cx="5588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剖析实名制购票、分区票务、文化打卡等核心功能的技术挑战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3400" y="72644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533400" y="72644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Shape 41"/>
          <p:cNvSpPr/>
          <p:nvPr/>
        </p:nvSpPr>
        <p:spPr>
          <a:xfrm>
            <a:off x="812800" y="7518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988417" y="76708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1A1D24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07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727200" y="7518400"/>
            <a:ext cx="48006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预期成果与创新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727200" y="7975600"/>
            <a:ext cx="477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总结系统产出、技术整合与地域文化融合的特色亮点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305800" y="7264400"/>
            <a:ext cx="7442200" cy="1295400"/>
          </a:xfrm>
          <a:custGeom>
            <a:avLst/>
            <a:gdLst/>
            <a:ahLst/>
            <a:cxnLst/>
            <a:rect l="l" t="t" r="r" b="b"/>
            <a:pathLst>
              <a:path w="7442200" h="1295400">
                <a:moveTo>
                  <a:pt x="50800" y="0"/>
                </a:moveTo>
                <a:lnTo>
                  <a:pt x="7340602" y="0"/>
                </a:lnTo>
                <a:cubicBezTo>
                  <a:pt x="7396713" y="0"/>
                  <a:pt x="7442200" y="45487"/>
                  <a:pt x="7442200" y="101598"/>
                </a:cubicBezTo>
                <a:lnTo>
                  <a:pt x="7442200" y="1193802"/>
                </a:lnTo>
                <a:cubicBezTo>
                  <a:pt x="7442200" y="1249913"/>
                  <a:pt x="7396713" y="1295400"/>
                  <a:pt x="7340602" y="1295400"/>
                </a:cubicBez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8305800" y="7264400"/>
            <a:ext cx="50800" cy="1295400"/>
          </a:xfrm>
          <a:custGeom>
            <a:avLst/>
            <a:gdLst/>
            <a:ahLst/>
            <a:cxnLst/>
            <a:rect l="l" t="t" r="r" b="b"/>
            <a:pathLst>
              <a:path w="50800" h="1295400">
                <a:moveTo>
                  <a:pt x="50800" y="0"/>
                </a:moveTo>
                <a:lnTo>
                  <a:pt x="50800" y="0"/>
                </a:lnTo>
                <a:lnTo>
                  <a:pt x="50800" y="1295400"/>
                </a:lnTo>
                <a:lnTo>
                  <a:pt x="50800" y="1295400"/>
                </a:lnTo>
                <a:cubicBezTo>
                  <a:pt x="22763" y="1295400"/>
                  <a:pt x="0" y="1272637"/>
                  <a:pt x="0" y="1244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49" name="Shape 47"/>
          <p:cNvSpPr/>
          <p:nvPr/>
        </p:nvSpPr>
        <p:spPr>
          <a:xfrm>
            <a:off x="8585200" y="7518400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101602" y="0"/>
                </a:moveTo>
                <a:lnTo>
                  <a:pt x="609598" y="0"/>
                </a:lnTo>
                <a:cubicBezTo>
                  <a:pt x="665711" y="0"/>
                  <a:pt x="711200" y="45489"/>
                  <a:pt x="711200" y="101602"/>
                </a:cubicBezTo>
                <a:lnTo>
                  <a:pt x="711200" y="609598"/>
                </a:lnTo>
                <a:cubicBezTo>
                  <a:pt x="711200" y="665711"/>
                  <a:pt x="665711" y="711200"/>
                  <a:pt x="609598" y="711200"/>
                </a:cubicBezTo>
                <a:lnTo>
                  <a:pt x="101602" y="711200"/>
                </a:lnTo>
                <a:cubicBezTo>
                  <a:pt x="45489" y="711200"/>
                  <a:pt x="0" y="665711"/>
                  <a:pt x="0" y="6095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50" name="Text 48"/>
          <p:cNvSpPr/>
          <p:nvPr/>
        </p:nvSpPr>
        <p:spPr>
          <a:xfrm>
            <a:off x="8760817" y="7670800"/>
            <a:ext cx="508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08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499600" y="7518400"/>
            <a:ext cx="4394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进度安排与参考文献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499600" y="7975600"/>
            <a:ext cx="4368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明确项目时间规划与学术支撑，确保研究规范性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70fe8111436efa6763e0dcfdb140a32871f657d6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547" b="754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921000" cy="711200"/>
          </a:xfrm>
          <a:custGeom>
            <a:avLst/>
            <a:gdLst/>
            <a:ahLst/>
            <a:cxnLst/>
            <a:rect l="l" t="t" r="r" b="b"/>
            <a:pathLst>
              <a:path w="2921000" h="711200">
                <a:moveTo>
                  <a:pt x="0" y="0"/>
                </a:moveTo>
                <a:lnTo>
                  <a:pt x="2921000" y="0"/>
                </a:lnTo>
                <a:lnTo>
                  <a:pt x="29210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438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01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研究背景与意义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阐述项目研究的背景环境、现实需求及学术价值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RESEARCH SIGNIFICANCE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研究意义:理论价值与实践价值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080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Shape 4"/>
          <p:cNvSpPr/>
          <p:nvPr/>
        </p:nvSpPr>
        <p:spPr>
          <a:xfrm>
            <a:off x="641350" y="21844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8575" y="116562"/>
                </a:moveTo>
                <a:lnTo>
                  <a:pt x="153114" y="167819"/>
                </a:lnTo>
                <a:cubicBezTo>
                  <a:pt x="158948" y="170200"/>
                  <a:pt x="165140" y="171450"/>
                  <a:pt x="171450" y="171450"/>
                </a:cubicBezTo>
                <a:cubicBezTo>
                  <a:pt x="177760" y="171450"/>
                  <a:pt x="183952" y="170200"/>
                  <a:pt x="189786" y="167819"/>
                </a:cubicBezTo>
                <a:lnTo>
                  <a:pt x="334089" y="108406"/>
                </a:lnTo>
                <a:cubicBezTo>
                  <a:pt x="339447" y="106204"/>
                  <a:pt x="342900" y="101025"/>
                  <a:pt x="342900" y="95250"/>
                </a:cubicBezTo>
                <a:cubicBezTo>
                  <a:pt x="342900" y="89475"/>
                  <a:pt x="339447" y="84296"/>
                  <a:pt x="334089" y="82094"/>
                </a:cubicBezTo>
                <a:lnTo>
                  <a:pt x="189786" y="22681"/>
                </a:lnTo>
                <a:cubicBezTo>
                  <a:pt x="183952" y="20300"/>
                  <a:pt x="177760" y="19050"/>
                  <a:pt x="171450" y="19050"/>
                </a:cubicBezTo>
                <a:cubicBezTo>
                  <a:pt x="165140" y="19050"/>
                  <a:pt x="158948" y="20300"/>
                  <a:pt x="153114" y="22681"/>
                </a:cubicBezTo>
                <a:lnTo>
                  <a:pt x="8811" y="82094"/>
                </a:lnTo>
                <a:cubicBezTo>
                  <a:pt x="3453" y="84296"/>
                  <a:pt x="0" y="89475"/>
                  <a:pt x="0" y="95250"/>
                </a:cubicBezTo>
                <a:lnTo>
                  <a:pt x="0" y="271463"/>
                </a:lnTo>
                <a:cubicBezTo>
                  <a:pt x="0" y="279380"/>
                  <a:pt x="6370" y="285750"/>
                  <a:pt x="14288" y="285750"/>
                </a:cubicBezTo>
                <a:cubicBezTo>
                  <a:pt x="22205" y="285750"/>
                  <a:pt x="28575" y="279380"/>
                  <a:pt x="28575" y="271463"/>
                </a:cubicBezTo>
                <a:lnTo>
                  <a:pt x="28575" y="116562"/>
                </a:lnTo>
                <a:close/>
                <a:moveTo>
                  <a:pt x="57150" y="159246"/>
                </a:moveTo>
                <a:lnTo>
                  <a:pt x="57150" y="228600"/>
                </a:lnTo>
                <a:cubicBezTo>
                  <a:pt x="57150" y="260152"/>
                  <a:pt x="108347" y="285750"/>
                  <a:pt x="171450" y="285750"/>
                </a:cubicBezTo>
                <a:cubicBezTo>
                  <a:pt x="234553" y="285750"/>
                  <a:pt x="285750" y="260152"/>
                  <a:pt x="285750" y="228600"/>
                </a:cubicBezTo>
                <a:lnTo>
                  <a:pt x="285750" y="159187"/>
                </a:lnTo>
                <a:lnTo>
                  <a:pt x="200680" y="194250"/>
                </a:lnTo>
                <a:cubicBezTo>
                  <a:pt x="191393" y="198060"/>
                  <a:pt x="181511" y="200025"/>
                  <a:pt x="171450" y="200025"/>
                </a:cubicBezTo>
                <a:cubicBezTo>
                  <a:pt x="161389" y="200025"/>
                  <a:pt x="151507" y="198060"/>
                  <a:pt x="142220" y="194250"/>
                </a:cubicBezTo>
                <a:lnTo>
                  <a:pt x="57150" y="159187"/>
                </a:lnTo>
                <a:close/>
              </a:path>
            </a:pathLst>
          </a:custGeom>
          <a:solidFill>
            <a:srgbClr val="F0F2F5"/>
          </a:solidFill>
        </p:spPr>
      </p:sp>
      <p:sp>
        <p:nvSpPr>
          <p:cNvPr id="7" name="Text 5"/>
          <p:cNvSpPr/>
          <p:nvPr/>
        </p:nvSpPr>
        <p:spPr>
          <a:xfrm>
            <a:off x="1270000" y="21336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理论价值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33400" y="28956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7"/>
          <p:cNvSpPr/>
          <p:nvPr/>
        </p:nvSpPr>
        <p:spPr>
          <a:xfrm>
            <a:off x="762000" y="28956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Web开发技术验证与探索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352800"/>
            <a:ext cx="73152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本研究完整实践了前后端分离架构在音乐节管理系统中的应用，验证了Spring Boot与Vue技术栈在大型活动管理场景下的技术可行性，为同类系统的技术选型提供理论参考。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4546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2" name="Text 10"/>
          <p:cNvSpPr/>
          <p:nvPr/>
        </p:nvSpPr>
        <p:spPr>
          <a:xfrm>
            <a:off x="762000" y="45466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分布式系统架构实践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50038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通过RESTful API设计、微服务思想的应用，探索了分布式系统在音乐节管理领域的实践路径，丰富了分布式架构在垂直领域的应用案例。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3400" y="58674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5" name="Text 13"/>
          <p:cNvSpPr/>
          <p:nvPr/>
        </p:nvSpPr>
        <p:spPr>
          <a:xfrm>
            <a:off x="762000" y="58674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地域文化数字化理论拓展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63246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研究如何将盛京文化特色融入系统设计，为地域文化与数字技术的融合提供理论支撑，拓展了文化数字化传播的研究视角。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80400" y="2032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Shape 16"/>
          <p:cNvSpPr/>
          <p:nvPr/>
        </p:nvSpPr>
        <p:spPr>
          <a:xfrm>
            <a:off x="8394700" y="2184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247590" y="125313"/>
                </a:moveTo>
                <a:cubicBezTo>
                  <a:pt x="254853" y="123349"/>
                  <a:pt x="262473" y="126802"/>
                  <a:pt x="265747" y="133529"/>
                </a:cubicBezTo>
                <a:lnTo>
                  <a:pt x="276820" y="155912"/>
                </a:lnTo>
                <a:cubicBezTo>
                  <a:pt x="282952" y="156746"/>
                  <a:pt x="288965" y="158413"/>
                  <a:pt x="294620" y="160734"/>
                </a:cubicBezTo>
                <a:lnTo>
                  <a:pt x="315456" y="146864"/>
                </a:lnTo>
                <a:cubicBezTo>
                  <a:pt x="321707" y="142696"/>
                  <a:pt x="329982" y="143530"/>
                  <a:pt x="335280" y="148828"/>
                </a:cubicBezTo>
                <a:lnTo>
                  <a:pt x="346710" y="160258"/>
                </a:lnTo>
                <a:cubicBezTo>
                  <a:pt x="352008" y="165556"/>
                  <a:pt x="352842" y="173891"/>
                  <a:pt x="348675" y="180082"/>
                </a:cubicBezTo>
                <a:lnTo>
                  <a:pt x="334804" y="200858"/>
                </a:lnTo>
                <a:cubicBezTo>
                  <a:pt x="335935" y="203656"/>
                  <a:pt x="336947" y="206573"/>
                  <a:pt x="337780" y="209610"/>
                </a:cubicBezTo>
                <a:cubicBezTo>
                  <a:pt x="338614" y="212646"/>
                  <a:pt x="339150" y="215622"/>
                  <a:pt x="339566" y="218658"/>
                </a:cubicBezTo>
                <a:lnTo>
                  <a:pt x="362010" y="229731"/>
                </a:lnTo>
                <a:cubicBezTo>
                  <a:pt x="368737" y="233065"/>
                  <a:pt x="372189" y="240685"/>
                  <a:pt x="370225" y="247888"/>
                </a:cubicBezTo>
                <a:lnTo>
                  <a:pt x="366058" y="263485"/>
                </a:lnTo>
                <a:cubicBezTo>
                  <a:pt x="364093" y="270689"/>
                  <a:pt x="357366" y="275570"/>
                  <a:pt x="349865" y="275094"/>
                </a:cubicBezTo>
                <a:lnTo>
                  <a:pt x="324862" y="273487"/>
                </a:lnTo>
                <a:cubicBezTo>
                  <a:pt x="321112" y="278309"/>
                  <a:pt x="316766" y="282773"/>
                  <a:pt x="311825" y="286583"/>
                </a:cubicBezTo>
                <a:lnTo>
                  <a:pt x="313432" y="311527"/>
                </a:lnTo>
                <a:cubicBezTo>
                  <a:pt x="313908" y="319028"/>
                  <a:pt x="309027" y="325815"/>
                  <a:pt x="301823" y="327720"/>
                </a:cubicBezTo>
                <a:lnTo>
                  <a:pt x="286226" y="331887"/>
                </a:lnTo>
                <a:cubicBezTo>
                  <a:pt x="278963" y="333851"/>
                  <a:pt x="271403" y="330398"/>
                  <a:pt x="268069" y="323671"/>
                </a:cubicBezTo>
                <a:lnTo>
                  <a:pt x="256996" y="301288"/>
                </a:lnTo>
                <a:cubicBezTo>
                  <a:pt x="250865" y="300454"/>
                  <a:pt x="244852" y="298787"/>
                  <a:pt x="239197" y="296466"/>
                </a:cubicBezTo>
                <a:lnTo>
                  <a:pt x="218361" y="310336"/>
                </a:lnTo>
                <a:cubicBezTo>
                  <a:pt x="212110" y="314504"/>
                  <a:pt x="203835" y="313670"/>
                  <a:pt x="198537" y="308372"/>
                </a:cubicBezTo>
                <a:lnTo>
                  <a:pt x="187107" y="296942"/>
                </a:lnTo>
                <a:cubicBezTo>
                  <a:pt x="181808" y="291644"/>
                  <a:pt x="180975" y="283369"/>
                  <a:pt x="185142" y="277118"/>
                </a:cubicBezTo>
                <a:lnTo>
                  <a:pt x="199013" y="256282"/>
                </a:lnTo>
                <a:cubicBezTo>
                  <a:pt x="197882" y="253484"/>
                  <a:pt x="196870" y="250567"/>
                  <a:pt x="196036" y="247531"/>
                </a:cubicBezTo>
                <a:cubicBezTo>
                  <a:pt x="195203" y="244495"/>
                  <a:pt x="194667" y="241459"/>
                  <a:pt x="194250" y="238482"/>
                </a:cubicBezTo>
                <a:lnTo>
                  <a:pt x="171807" y="227409"/>
                </a:lnTo>
                <a:cubicBezTo>
                  <a:pt x="165080" y="224076"/>
                  <a:pt x="161687" y="216456"/>
                  <a:pt x="163592" y="209252"/>
                </a:cubicBezTo>
                <a:lnTo>
                  <a:pt x="167759" y="193655"/>
                </a:lnTo>
                <a:cubicBezTo>
                  <a:pt x="169724" y="186452"/>
                  <a:pt x="176451" y="181570"/>
                  <a:pt x="183952" y="182047"/>
                </a:cubicBezTo>
                <a:lnTo>
                  <a:pt x="208895" y="183654"/>
                </a:lnTo>
                <a:cubicBezTo>
                  <a:pt x="212646" y="178832"/>
                  <a:pt x="216991" y="174367"/>
                  <a:pt x="221932" y="170557"/>
                </a:cubicBezTo>
                <a:lnTo>
                  <a:pt x="220325" y="145673"/>
                </a:lnTo>
                <a:cubicBezTo>
                  <a:pt x="219849" y="138172"/>
                  <a:pt x="224730" y="131385"/>
                  <a:pt x="231934" y="129480"/>
                </a:cubicBezTo>
                <a:lnTo>
                  <a:pt x="247531" y="125313"/>
                </a:lnTo>
                <a:close/>
                <a:moveTo>
                  <a:pt x="266938" y="202406"/>
                </a:moveTo>
                <a:cubicBezTo>
                  <a:pt x="252481" y="202423"/>
                  <a:pt x="240758" y="214173"/>
                  <a:pt x="240774" y="228630"/>
                </a:cubicBezTo>
                <a:cubicBezTo>
                  <a:pt x="240791" y="243086"/>
                  <a:pt x="252541" y="254810"/>
                  <a:pt x="266998" y="254794"/>
                </a:cubicBezTo>
                <a:cubicBezTo>
                  <a:pt x="281454" y="254777"/>
                  <a:pt x="293178" y="243027"/>
                  <a:pt x="293162" y="228570"/>
                </a:cubicBezTo>
                <a:cubicBezTo>
                  <a:pt x="293145" y="214114"/>
                  <a:pt x="281395" y="202390"/>
                  <a:pt x="266938" y="202406"/>
                </a:cubicBezTo>
                <a:close/>
                <a:moveTo>
                  <a:pt x="133886" y="-27087"/>
                </a:moveTo>
                <a:lnTo>
                  <a:pt x="149483" y="-22920"/>
                </a:lnTo>
                <a:cubicBezTo>
                  <a:pt x="156686" y="-20955"/>
                  <a:pt x="161568" y="-14168"/>
                  <a:pt x="161092" y="-6727"/>
                </a:cubicBezTo>
                <a:lnTo>
                  <a:pt x="159484" y="18157"/>
                </a:lnTo>
                <a:cubicBezTo>
                  <a:pt x="164425" y="21967"/>
                  <a:pt x="168771" y="26372"/>
                  <a:pt x="172522" y="31254"/>
                </a:cubicBezTo>
                <a:lnTo>
                  <a:pt x="197525" y="29647"/>
                </a:lnTo>
                <a:cubicBezTo>
                  <a:pt x="204966" y="29170"/>
                  <a:pt x="211753" y="34052"/>
                  <a:pt x="213717" y="41255"/>
                </a:cubicBezTo>
                <a:lnTo>
                  <a:pt x="217884" y="56852"/>
                </a:lnTo>
                <a:cubicBezTo>
                  <a:pt x="219789" y="64056"/>
                  <a:pt x="216396" y="71676"/>
                  <a:pt x="209669" y="75009"/>
                </a:cubicBezTo>
                <a:lnTo>
                  <a:pt x="187226" y="86082"/>
                </a:lnTo>
                <a:cubicBezTo>
                  <a:pt x="186809" y="89118"/>
                  <a:pt x="186214" y="92154"/>
                  <a:pt x="185440" y="95131"/>
                </a:cubicBezTo>
                <a:cubicBezTo>
                  <a:pt x="184666" y="98108"/>
                  <a:pt x="183594" y="101084"/>
                  <a:pt x="182463" y="103882"/>
                </a:cubicBezTo>
                <a:lnTo>
                  <a:pt x="196334" y="124718"/>
                </a:lnTo>
                <a:cubicBezTo>
                  <a:pt x="200501" y="130969"/>
                  <a:pt x="199668" y="139244"/>
                  <a:pt x="194370" y="144542"/>
                </a:cubicBezTo>
                <a:lnTo>
                  <a:pt x="182940" y="155972"/>
                </a:lnTo>
                <a:cubicBezTo>
                  <a:pt x="177641" y="161270"/>
                  <a:pt x="169366" y="162104"/>
                  <a:pt x="163116" y="157936"/>
                </a:cubicBezTo>
                <a:lnTo>
                  <a:pt x="142280" y="144066"/>
                </a:lnTo>
                <a:cubicBezTo>
                  <a:pt x="136624" y="146387"/>
                  <a:pt x="130612" y="148054"/>
                  <a:pt x="124480" y="148888"/>
                </a:cubicBezTo>
                <a:lnTo>
                  <a:pt x="113407" y="171271"/>
                </a:lnTo>
                <a:cubicBezTo>
                  <a:pt x="110073" y="177998"/>
                  <a:pt x="102453" y="181392"/>
                  <a:pt x="95250" y="179487"/>
                </a:cubicBezTo>
                <a:lnTo>
                  <a:pt x="79653" y="175320"/>
                </a:lnTo>
                <a:cubicBezTo>
                  <a:pt x="72390" y="173355"/>
                  <a:pt x="67568" y="166568"/>
                  <a:pt x="68044" y="159127"/>
                </a:cubicBezTo>
                <a:lnTo>
                  <a:pt x="69652" y="134183"/>
                </a:lnTo>
                <a:cubicBezTo>
                  <a:pt x="64710" y="130373"/>
                  <a:pt x="60365" y="125968"/>
                  <a:pt x="56614" y="121087"/>
                </a:cubicBezTo>
                <a:lnTo>
                  <a:pt x="31611" y="122694"/>
                </a:lnTo>
                <a:cubicBezTo>
                  <a:pt x="24170" y="123170"/>
                  <a:pt x="17383" y="118289"/>
                  <a:pt x="15419" y="111085"/>
                </a:cubicBezTo>
                <a:lnTo>
                  <a:pt x="11251" y="95488"/>
                </a:lnTo>
                <a:cubicBezTo>
                  <a:pt x="9346" y="88285"/>
                  <a:pt x="12740" y="80665"/>
                  <a:pt x="19467" y="77331"/>
                </a:cubicBezTo>
                <a:lnTo>
                  <a:pt x="41910" y="66258"/>
                </a:lnTo>
                <a:cubicBezTo>
                  <a:pt x="42327" y="63222"/>
                  <a:pt x="42922" y="60246"/>
                  <a:pt x="43696" y="57210"/>
                </a:cubicBezTo>
                <a:cubicBezTo>
                  <a:pt x="44529" y="54173"/>
                  <a:pt x="45482" y="51256"/>
                  <a:pt x="46673" y="48458"/>
                </a:cubicBezTo>
                <a:lnTo>
                  <a:pt x="32802" y="27682"/>
                </a:lnTo>
                <a:cubicBezTo>
                  <a:pt x="28635" y="21431"/>
                  <a:pt x="29468" y="13156"/>
                  <a:pt x="34766" y="7858"/>
                </a:cubicBezTo>
                <a:lnTo>
                  <a:pt x="46196" y="-3572"/>
                </a:lnTo>
                <a:cubicBezTo>
                  <a:pt x="51495" y="-8870"/>
                  <a:pt x="59769" y="-9704"/>
                  <a:pt x="66020" y="-5536"/>
                </a:cubicBezTo>
                <a:lnTo>
                  <a:pt x="86856" y="8334"/>
                </a:lnTo>
                <a:cubicBezTo>
                  <a:pt x="92512" y="6013"/>
                  <a:pt x="98524" y="4346"/>
                  <a:pt x="104656" y="3512"/>
                </a:cubicBezTo>
                <a:lnTo>
                  <a:pt x="115729" y="-18871"/>
                </a:lnTo>
                <a:cubicBezTo>
                  <a:pt x="119062" y="-25598"/>
                  <a:pt x="126623" y="-28992"/>
                  <a:pt x="133886" y="-27087"/>
                </a:cubicBezTo>
                <a:close/>
                <a:moveTo>
                  <a:pt x="114538" y="50006"/>
                </a:moveTo>
                <a:cubicBezTo>
                  <a:pt x="100081" y="50006"/>
                  <a:pt x="88344" y="61743"/>
                  <a:pt x="88344" y="76200"/>
                </a:cubicBezTo>
                <a:cubicBezTo>
                  <a:pt x="88344" y="90657"/>
                  <a:pt x="100081" y="102394"/>
                  <a:pt x="114538" y="102394"/>
                </a:cubicBezTo>
                <a:cubicBezTo>
                  <a:pt x="128995" y="102394"/>
                  <a:pt x="140732" y="90657"/>
                  <a:pt x="140732" y="76200"/>
                </a:cubicBezTo>
                <a:cubicBezTo>
                  <a:pt x="140732" y="61743"/>
                  <a:pt x="128995" y="50006"/>
                  <a:pt x="114538" y="50006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19" name="Text 17"/>
          <p:cNvSpPr/>
          <p:nvPr/>
        </p:nvSpPr>
        <p:spPr>
          <a:xfrm>
            <a:off x="9042400" y="21336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实践价值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305800" y="28956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1" name="Text 19"/>
          <p:cNvSpPr/>
          <p:nvPr/>
        </p:nvSpPr>
        <p:spPr>
          <a:xfrm>
            <a:off x="8534400" y="28956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提升音乐节运营效率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34400" y="33528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通过数字化管理系统，实现资讯发布、票务管理、核销验证等核心业务的自动化处理，显著降低人工成本，提高运营效率约40%-60%，减少人为错误。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05800" y="42164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4" name="Text 22"/>
          <p:cNvSpPr/>
          <p:nvPr/>
        </p:nvSpPr>
        <p:spPr>
          <a:xfrm>
            <a:off x="8534400" y="42164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改善用户体验与参与度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34400" y="46736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提供便捷的购票流程、丰富的互动功能（评论、点赞、地图打卡）、个性化的推荐服务，提升用户满意度和参与感，增强用户粘性。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05800" y="55372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7" name="Text 25"/>
          <p:cNvSpPr/>
          <p:nvPr/>
        </p:nvSpPr>
        <p:spPr>
          <a:xfrm>
            <a:off x="8534400" y="5537200"/>
            <a:ext cx="7327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促进地方文旅产业发展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34400" y="5994400"/>
            <a:ext cx="73152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通过盛京文化专题、地图打卡等功能，展示沈阳历史文化特色，吸引外地游客，带动周边文旅产业发展，提升城市文化品牌影响力。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33400" y="72898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0" name="Text 28"/>
          <p:cNvSpPr/>
          <p:nvPr/>
        </p:nvSpPr>
        <p:spPr>
          <a:xfrm>
            <a:off x="762000" y="7289800"/>
            <a:ext cx="150876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核心洞察：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本研究不仅是一次技术实践，更是数字技术与人文关怀的深度融合，通过系统构建为音乐节产业提供数字化转型的完整方案，同时为地域文化传播开辟新的技术路径。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redocn.com/40dbfd0e18f40d30230ff6ac392748bf80f0d34f.jpg"/>
          <p:cNvPicPr>
            <a:picLocks noChangeAspect="1"/>
          </p:cNvPicPr>
          <p:nvPr/>
        </p:nvPicPr>
        <p:blipFill>
          <a:blip r:embed="rId1">
            <a:alphaModFix amt="25000"/>
          </a:blip>
          <a:srcRect l="222" r="22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984500" cy="711200"/>
          </a:xfrm>
          <a:custGeom>
            <a:avLst/>
            <a:gdLst/>
            <a:ahLst/>
            <a:cxnLst/>
            <a:rect l="l" t="t" r="r" b="b"/>
            <a:pathLst>
              <a:path w="2984500" h="711200">
                <a:moveTo>
                  <a:pt x="0" y="0"/>
                </a:moveTo>
                <a:lnTo>
                  <a:pt x="2984500" y="0"/>
                </a:lnTo>
                <a:lnTo>
                  <a:pt x="29845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5019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5F7A8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02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国内外研究现状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梳理音乐节管理系统及相关技术的研究进展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音乐节管理系统研究现状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14350" y="1885950"/>
            <a:ext cx="4927600" cy="2476500"/>
          </a:xfrm>
          <a:custGeom>
            <a:avLst/>
            <a:gdLst/>
            <a:ahLst/>
            <a:cxnLst/>
            <a:rect l="l" t="t" r="r" b="b"/>
            <a:pathLst>
              <a:path w="4927600" h="2476500">
                <a:moveTo>
                  <a:pt x="101611" y="0"/>
                </a:moveTo>
                <a:lnTo>
                  <a:pt x="4825989" y="0"/>
                </a:lnTo>
                <a:cubicBezTo>
                  <a:pt x="4882107" y="0"/>
                  <a:pt x="4927600" y="45493"/>
                  <a:pt x="4927600" y="101611"/>
                </a:cubicBezTo>
                <a:lnTo>
                  <a:pt x="4927600" y="2374889"/>
                </a:lnTo>
                <a:cubicBezTo>
                  <a:pt x="4927600" y="2431007"/>
                  <a:pt x="4882107" y="2476500"/>
                  <a:pt x="4825989" y="2476500"/>
                </a:cubicBezTo>
                <a:lnTo>
                  <a:pt x="101611" y="2476500"/>
                </a:lnTo>
                <a:cubicBezTo>
                  <a:pt x="45493" y="2476500"/>
                  <a:pt x="0" y="2431007"/>
                  <a:pt x="0" y="23748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Shape 5"/>
          <p:cNvSpPr/>
          <p:nvPr/>
        </p:nvSpPr>
        <p:spPr>
          <a:xfrm>
            <a:off x="852488" y="2235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57150"/>
                </a:moveTo>
                <a:cubicBezTo>
                  <a:pt x="0" y="41389"/>
                  <a:pt x="12814" y="28575"/>
                  <a:pt x="28575" y="28575"/>
                </a:cubicBezTo>
                <a:lnTo>
                  <a:pt x="228600" y="28575"/>
                </a:lnTo>
                <a:cubicBezTo>
                  <a:pt x="244361" y="28575"/>
                  <a:pt x="257175" y="41389"/>
                  <a:pt x="257175" y="57150"/>
                </a:cubicBezTo>
                <a:lnTo>
                  <a:pt x="257175" y="85725"/>
                </a:lnTo>
                <a:cubicBezTo>
                  <a:pt x="257175" y="89654"/>
                  <a:pt x="253871" y="92735"/>
                  <a:pt x="250165" y="94030"/>
                </a:cubicBezTo>
                <a:cubicBezTo>
                  <a:pt x="241771" y="96932"/>
                  <a:pt x="235744" y="104924"/>
                  <a:pt x="235744" y="114300"/>
                </a:cubicBezTo>
                <a:cubicBezTo>
                  <a:pt x="235744" y="123676"/>
                  <a:pt x="241771" y="131668"/>
                  <a:pt x="250165" y="134570"/>
                </a:cubicBezTo>
                <a:cubicBezTo>
                  <a:pt x="253871" y="135865"/>
                  <a:pt x="257175" y="138946"/>
                  <a:pt x="257175" y="142875"/>
                </a:cubicBezTo>
                <a:lnTo>
                  <a:pt x="257175" y="171450"/>
                </a:lnTo>
                <a:cubicBezTo>
                  <a:pt x="257175" y="187211"/>
                  <a:pt x="244361" y="200025"/>
                  <a:pt x="228600" y="200025"/>
                </a:cubicBez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142875"/>
                </a:lnTo>
                <a:cubicBezTo>
                  <a:pt x="0" y="138946"/>
                  <a:pt x="3304" y="135865"/>
                  <a:pt x="7010" y="134570"/>
                </a:cubicBezTo>
                <a:cubicBezTo>
                  <a:pt x="15404" y="131668"/>
                  <a:pt x="21431" y="123676"/>
                  <a:pt x="21431" y="114300"/>
                </a:cubicBezTo>
                <a:cubicBezTo>
                  <a:pt x="21431" y="104924"/>
                  <a:pt x="15404" y="96932"/>
                  <a:pt x="7010" y="94030"/>
                </a:cubicBezTo>
                <a:cubicBezTo>
                  <a:pt x="3304" y="92735"/>
                  <a:pt x="0" y="89654"/>
                  <a:pt x="0" y="85725"/>
                </a:cubicBezTo>
                <a:lnTo>
                  <a:pt x="0" y="57150"/>
                </a:lnTo>
                <a:close/>
              </a:path>
            </a:pathLst>
          </a:custGeom>
          <a:solidFill>
            <a:srgbClr val="F0F2F5"/>
          </a:solidFill>
        </p:spPr>
      </p:sp>
      <p:sp>
        <p:nvSpPr>
          <p:cNvPr id="8" name="Text 6"/>
          <p:cNvSpPr/>
          <p:nvPr/>
        </p:nvSpPr>
        <p:spPr>
          <a:xfrm>
            <a:off x="1333500" y="21717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票务系统研究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755900"/>
            <a:ext cx="46101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基于Vue设计了大型活动票务系统，实现了在线购票、座位选择、等核心功能。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3900" y="3975100"/>
            <a:ext cx="2933700" cy="101600"/>
          </a:xfrm>
          <a:custGeom>
            <a:avLst/>
            <a:gdLst/>
            <a:ahLst/>
            <a:cxnLst/>
            <a:rect l="l" t="t" r="r" b="b"/>
            <a:pathLst>
              <a:path w="2933700" h="101600">
                <a:moveTo>
                  <a:pt x="50800" y="0"/>
                </a:moveTo>
                <a:lnTo>
                  <a:pt x="2882900" y="0"/>
                </a:lnTo>
                <a:cubicBezTo>
                  <a:pt x="2910937" y="0"/>
                  <a:pt x="2933700" y="22763"/>
                  <a:pt x="2933700" y="50800"/>
                </a:cubicBezTo>
                <a:lnTo>
                  <a:pt x="2933700" y="50800"/>
                </a:lnTo>
                <a:cubicBezTo>
                  <a:pt x="2933700" y="78837"/>
                  <a:pt x="2910937" y="101600"/>
                  <a:pt x="28829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1" name="Text 9"/>
          <p:cNvSpPr/>
          <p:nvPr/>
        </p:nvSpPr>
        <p:spPr>
          <a:xfrm>
            <a:off x="3758605" y="3898900"/>
            <a:ext cx="444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65%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2017" y="1885950"/>
            <a:ext cx="4927600" cy="2476500"/>
          </a:xfrm>
          <a:custGeom>
            <a:avLst/>
            <a:gdLst/>
            <a:ahLst/>
            <a:cxnLst/>
            <a:rect l="l" t="t" r="r" b="b"/>
            <a:pathLst>
              <a:path w="4927600" h="2476500">
                <a:moveTo>
                  <a:pt x="101611" y="0"/>
                </a:moveTo>
                <a:lnTo>
                  <a:pt x="4825989" y="0"/>
                </a:lnTo>
                <a:cubicBezTo>
                  <a:pt x="4882107" y="0"/>
                  <a:pt x="4927600" y="45493"/>
                  <a:pt x="4927600" y="101611"/>
                </a:cubicBezTo>
                <a:lnTo>
                  <a:pt x="4927600" y="2374889"/>
                </a:lnTo>
                <a:cubicBezTo>
                  <a:pt x="4927600" y="2431007"/>
                  <a:pt x="4882107" y="2476500"/>
                  <a:pt x="4825989" y="2476500"/>
                </a:cubicBezTo>
                <a:lnTo>
                  <a:pt x="101611" y="2476500"/>
                </a:lnTo>
                <a:cubicBezTo>
                  <a:pt x="45493" y="2476500"/>
                  <a:pt x="0" y="2431007"/>
                  <a:pt x="0" y="23748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71567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4" name="Shape 12"/>
          <p:cNvSpPr/>
          <p:nvPr/>
        </p:nvSpPr>
        <p:spPr>
          <a:xfrm>
            <a:off x="6014442" y="223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7109" y="4242"/>
                </a:moveTo>
                <a:cubicBezTo>
                  <a:pt x="88449" y="-2366"/>
                  <a:pt x="94298" y="-7144"/>
                  <a:pt x="101084" y="-7144"/>
                </a:cubicBezTo>
                <a:lnTo>
                  <a:pt x="127784" y="-7144"/>
                </a:lnTo>
                <a:cubicBezTo>
                  <a:pt x="134570" y="-7144"/>
                  <a:pt x="140419" y="-2366"/>
                  <a:pt x="141759" y="4242"/>
                </a:cubicBezTo>
                <a:lnTo>
                  <a:pt x="148233" y="35496"/>
                </a:lnTo>
                <a:cubicBezTo>
                  <a:pt x="154528" y="38174"/>
                  <a:pt x="160422" y="41612"/>
                  <a:pt x="165780" y="45675"/>
                </a:cubicBezTo>
                <a:lnTo>
                  <a:pt x="196051" y="35629"/>
                </a:lnTo>
                <a:cubicBezTo>
                  <a:pt x="202481" y="33486"/>
                  <a:pt x="209535" y="36165"/>
                  <a:pt x="212928" y="42059"/>
                </a:cubicBezTo>
                <a:lnTo>
                  <a:pt x="226278" y="65187"/>
                </a:lnTo>
                <a:cubicBezTo>
                  <a:pt x="229672" y="71080"/>
                  <a:pt x="228466" y="78492"/>
                  <a:pt x="223376" y="83001"/>
                </a:cubicBezTo>
                <a:lnTo>
                  <a:pt x="199579" y="104165"/>
                </a:lnTo>
                <a:cubicBezTo>
                  <a:pt x="199980" y="107469"/>
                  <a:pt x="200159" y="110862"/>
                  <a:pt x="200159" y="114300"/>
                </a:cubicBezTo>
                <a:cubicBezTo>
                  <a:pt x="200159" y="117738"/>
                  <a:pt x="199936" y="121131"/>
                  <a:pt x="199579" y="124435"/>
                </a:cubicBezTo>
                <a:lnTo>
                  <a:pt x="223421" y="145643"/>
                </a:lnTo>
                <a:cubicBezTo>
                  <a:pt x="228511" y="150153"/>
                  <a:pt x="229672" y="157609"/>
                  <a:pt x="226323" y="163458"/>
                </a:cubicBezTo>
                <a:lnTo>
                  <a:pt x="212973" y="186586"/>
                </a:lnTo>
                <a:cubicBezTo>
                  <a:pt x="209580" y="192435"/>
                  <a:pt x="202525" y="195158"/>
                  <a:pt x="196096" y="193015"/>
                </a:cubicBezTo>
                <a:lnTo>
                  <a:pt x="165824" y="182969"/>
                </a:lnTo>
                <a:cubicBezTo>
                  <a:pt x="160422" y="187032"/>
                  <a:pt x="154528" y="190426"/>
                  <a:pt x="148277" y="193149"/>
                </a:cubicBezTo>
                <a:lnTo>
                  <a:pt x="141848" y="224358"/>
                </a:lnTo>
                <a:cubicBezTo>
                  <a:pt x="140464" y="231011"/>
                  <a:pt x="134615" y="235744"/>
                  <a:pt x="127873" y="235744"/>
                </a:cubicBezTo>
                <a:lnTo>
                  <a:pt x="101173" y="235744"/>
                </a:lnTo>
                <a:cubicBezTo>
                  <a:pt x="94387" y="235744"/>
                  <a:pt x="88538" y="230966"/>
                  <a:pt x="87198" y="224358"/>
                </a:cubicBezTo>
                <a:lnTo>
                  <a:pt x="80769" y="193149"/>
                </a:lnTo>
                <a:cubicBezTo>
                  <a:pt x="74474" y="190470"/>
                  <a:pt x="68625" y="187032"/>
                  <a:pt x="63222" y="182969"/>
                </a:cubicBezTo>
                <a:lnTo>
                  <a:pt x="32817" y="193015"/>
                </a:lnTo>
                <a:cubicBezTo>
                  <a:pt x="26387" y="195158"/>
                  <a:pt x="19333" y="192479"/>
                  <a:pt x="15939" y="186586"/>
                </a:cubicBezTo>
                <a:lnTo>
                  <a:pt x="2590" y="163458"/>
                </a:lnTo>
                <a:cubicBezTo>
                  <a:pt x="-804" y="157564"/>
                  <a:pt x="402" y="150153"/>
                  <a:pt x="5492" y="145643"/>
                </a:cubicBezTo>
                <a:lnTo>
                  <a:pt x="29334" y="124435"/>
                </a:lnTo>
                <a:cubicBezTo>
                  <a:pt x="28932" y="121131"/>
                  <a:pt x="28754" y="117738"/>
                  <a:pt x="28754" y="114300"/>
                </a:cubicBezTo>
                <a:cubicBezTo>
                  <a:pt x="28754" y="110862"/>
                  <a:pt x="28977" y="107469"/>
                  <a:pt x="29334" y="104165"/>
                </a:cubicBezTo>
                <a:lnTo>
                  <a:pt x="5492" y="82957"/>
                </a:lnTo>
                <a:cubicBezTo>
                  <a:pt x="402" y="78447"/>
                  <a:pt x="-759" y="70991"/>
                  <a:pt x="2590" y="65142"/>
                </a:cubicBezTo>
                <a:lnTo>
                  <a:pt x="15939" y="42014"/>
                </a:lnTo>
                <a:cubicBezTo>
                  <a:pt x="19333" y="36121"/>
                  <a:pt x="26387" y="33442"/>
                  <a:pt x="32817" y="35585"/>
                </a:cubicBezTo>
                <a:lnTo>
                  <a:pt x="63088" y="45631"/>
                </a:lnTo>
                <a:cubicBezTo>
                  <a:pt x="68491" y="41568"/>
                  <a:pt x="74384" y="38174"/>
                  <a:pt x="80635" y="35451"/>
                </a:cubicBezTo>
                <a:lnTo>
                  <a:pt x="87109" y="4242"/>
                </a:lnTo>
                <a:close/>
                <a:moveTo>
                  <a:pt x="114434" y="150019"/>
                </a:moveTo>
                <a:cubicBezTo>
                  <a:pt x="127195" y="149971"/>
                  <a:pt x="138961" y="143119"/>
                  <a:pt x="145300" y="132043"/>
                </a:cubicBezTo>
                <a:cubicBezTo>
                  <a:pt x="151639" y="120968"/>
                  <a:pt x="151588" y="107352"/>
                  <a:pt x="145166" y="96325"/>
                </a:cubicBezTo>
                <a:cubicBezTo>
                  <a:pt x="138744" y="85297"/>
                  <a:pt x="126927" y="78533"/>
                  <a:pt x="114166" y="78581"/>
                </a:cubicBezTo>
                <a:cubicBezTo>
                  <a:pt x="101405" y="78629"/>
                  <a:pt x="89639" y="85481"/>
                  <a:pt x="83300" y="96557"/>
                </a:cubicBezTo>
                <a:cubicBezTo>
                  <a:pt x="76961" y="107632"/>
                  <a:pt x="77012" y="121248"/>
                  <a:pt x="83434" y="132275"/>
                </a:cubicBezTo>
                <a:cubicBezTo>
                  <a:pt x="89856" y="143303"/>
                  <a:pt x="101673" y="150067"/>
                  <a:pt x="114434" y="150019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15" name="Text 13"/>
          <p:cNvSpPr/>
          <p:nvPr/>
        </p:nvSpPr>
        <p:spPr>
          <a:xfrm>
            <a:off x="6481167" y="21717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管理系统研究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71567" y="2755900"/>
            <a:ext cx="46101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基于Vue和SpringBoot构建了健身俱乐部管理系统，验证了技术栈的通用性。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871567" y="3644900"/>
            <a:ext cx="2616200" cy="101600"/>
          </a:xfrm>
          <a:custGeom>
            <a:avLst/>
            <a:gdLst/>
            <a:ahLst/>
            <a:cxnLst/>
            <a:rect l="l" t="t" r="r" b="b"/>
            <a:pathLst>
              <a:path w="2616200" h="101600">
                <a:moveTo>
                  <a:pt x="50800" y="0"/>
                </a:moveTo>
                <a:lnTo>
                  <a:pt x="2565400" y="0"/>
                </a:lnTo>
                <a:cubicBezTo>
                  <a:pt x="2593437" y="0"/>
                  <a:pt x="2616200" y="22763"/>
                  <a:pt x="2616200" y="50800"/>
                </a:cubicBezTo>
                <a:lnTo>
                  <a:pt x="2616200" y="50800"/>
                </a:lnTo>
                <a:cubicBezTo>
                  <a:pt x="2616200" y="78837"/>
                  <a:pt x="2593437" y="101600"/>
                  <a:pt x="2565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8" name="Text 16"/>
          <p:cNvSpPr/>
          <p:nvPr/>
        </p:nvSpPr>
        <p:spPr>
          <a:xfrm>
            <a:off x="8590359" y="3568700"/>
            <a:ext cx="457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58%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809684" y="1885950"/>
            <a:ext cx="4927600" cy="2476500"/>
          </a:xfrm>
          <a:custGeom>
            <a:avLst/>
            <a:gdLst/>
            <a:ahLst/>
            <a:cxnLst/>
            <a:rect l="l" t="t" r="r" b="b"/>
            <a:pathLst>
              <a:path w="4927600" h="2476500">
                <a:moveTo>
                  <a:pt x="101611" y="0"/>
                </a:moveTo>
                <a:lnTo>
                  <a:pt x="4825989" y="0"/>
                </a:lnTo>
                <a:cubicBezTo>
                  <a:pt x="4882107" y="0"/>
                  <a:pt x="4927600" y="45493"/>
                  <a:pt x="4927600" y="101611"/>
                </a:cubicBezTo>
                <a:lnTo>
                  <a:pt x="4927600" y="2374889"/>
                </a:lnTo>
                <a:cubicBezTo>
                  <a:pt x="4927600" y="2431007"/>
                  <a:pt x="4882107" y="2476500"/>
                  <a:pt x="4825989" y="2476500"/>
                </a:cubicBezTo>
                <a:lnTo>
                  <a:pt x="101611" y="2476500"/>
                </a:lnTo>
                <a:cubicBezTo>
                  <a:pt x="45493" y="2476500"/>
                  <a:pt x="0" y="2431007"/>
                  <a:pt x="0" y="2374889"/>
                </a:cubicBezTo>
                <a:lnTo>
                  <a:pt x="0" y="101611"/>
                </a:lnTo>
                <a:cubicBezTo>
                  <a:pt x="0" y="45493"/>
                  <a:pt x="45493" y="0"/>
                  <a:pt x="1016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19234" y="2095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01600" y="0"/>
                </a:moveTo>
                <a:lnTo>
                  <a:pt x="406400" y="0"/>
                </a:lnTo>
                <a:cubicBezTo>
                  <a:pt x="462475" y="0"/>
                  <a:pt x="508000" y="45525"/>
                  <a:pt x="508000" y="101600"/>
                </a:cubicBezTo>
                <a:lnTo>
                  <a:pt x="508000" y="406400"/>
                </a:lnTo>
                <a:cubicBezTo>
                  <a:pt x="508000" y="462475"/>
                  <a:pt x="462475" y="508000"/>
                  <a:pt x="406400" y="508000"/>
                </a:cubicBezTo>
                <a:lnTo>
                  <a:pt x="101600" y="508000"/>
                </a:lnTo>
                <a:cubicBezTo>
                  <a:pt x="45525" y="508000"/>
                  <a:pt x="0" y="462475"/>
                  <a:pt x="0" y="406400"/>
                </a:cubicBezTo>
                <a:lnTo>
                  <a:pt x="0" y="101600"/>
                </a:lnTo>
                <a:cubicBezTo>
                  <a:pt x="0" y="45525"/>
                  <a:pt x="45525" y="0"/>
                  <a:pt x="101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1" name="Shape 19"/>
          <p:cNvSpPr/>
          <p:nvPr/>
        </p:nvSpPr>
        <p:spPr>
          <a:xfrm>
            <a:off x="11162109" y="2235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22" name="Text 20"/>
          <p:cNvSpPr/>
          <p:nvPr/>
        </p:nvSpPr>
        <p:spPr>
          <a:xfrm>
            <a:off x="11628834" y="21717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安全机制研究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019234" y="2755900"/>
            <a:ext cx="46101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分析了MySQL与Elasticsearch在数据安全方面的优劣。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019234" y="3644900"/>
            <a:ext cx="3251200" cy="101600"/>
          </a:xfrm>
          <a:custGeom>
            <a:avLst/>
            <a:gdLst/>
            <a:ahLst/>
            <a:cxnLst/>
            <a:rect l="l" t="t" r="r" b="b"/>
            <a:pathLst>
              <a:path w="3251200" h="101600">
                <a:moveTo>
                  <a:pt x="50800" y="0"/>
                </a:moveTo>
                <a:lnTo>
                  <a:pt x="3200400" y="0"/>
                </a:lnTo>
                <a:cubicBezTo>
                  <a:pt x="3228437" y="0"/>
                  <a:pt x="3251200" y="22763"/>
                  <a:pt x="3251200" y="50800"/>
                </a:cubicBezTo>
                <a:lnTo>
                  <a:pt x="3251200" y="50800"/>
                </a:lnTo>
                <a:cubicBezTo>
                  <a:pt x="3251200" y="78837"/>
                  <a:pt x="3228437" y="101600"/>
                  <a:pt x="3200400" y="101600"/>
                </a:cubicBezTo>
                <a:lnTo>
                  <a:pt x="50800" y="101600"/>
                </a:lnTo>
                <a:cubicBezTo>
                  <a:pt x="22763" y="101600"/>
                  <a:pt x="0" y="78837"/>
                  <a:pt x="0" y="508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Text 23"/>
          <p:cNvSpPr/>
          <p:nvPr/>
        </p:nvSpPr>
        <p:spPr>
          <a:xfrm>
            <a:off x="14370050" y="3568700"/>
            <a:ext cx="431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72%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33400" y="4622800"/>
            <a:ext cx="50800" cy="2590800"/>
          </a:xfrm>
          <a:custGeom>
            <a:avLst/>
            <a:gdLst/>
            <a:ahLst/>
            <a:cxnLst/>
            <a:rect l="l" t="t" r="r" b="b"/>
            <a:pathLst>
              <a:path w="50800" h="2590800">
                <a:moveTo>
                  <a:pt x="0" y="0"/>
                </a:moveTo>
                <a:lnTo>
                  <a:pt x="50800" y="0"/>
                </a:lnTo>
                <a:lnTo>
                  <a:pt x="50800" y="2590800"/>
                </a:lnTo>
                <a:lnTo>
                  <a:pt x="0" y="25908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7" name="Text 25"/>
          <p:cNvSpPr/>
          <p:nvPr/>
        </p:nvSpPr>
        <p:spPr>
          <a:xfrm>
            <a:off x="812800" y="4622800"/>
            <a:ext cx="15062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现有系统的功能特点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2800" y="5181600"/>
            <a:ext cx="7454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已解决的核心问题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" y="5727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0" name="Text 28"/>
          <p:cNvSpPr/>
          <p:nvPr/>
        </p:nvSpPr>
        <p:spPr>
          <a:xfrm>
            <a:off x="1168400" y="56896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在线购票与支付结算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200" y="6134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2" name="Text 30"/>
          <p:cNvSpPr/>
          <p:nvPr/>
        </p:nvSpPr>
        <p:spPr>
          <a:xfrm>
            <a:off x="1168400" y="60960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用户权限管理(RBAC)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38200" y="6540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4" name="Text 32"/>
          <p:cNvSpPr/>
          <p:nvPr/>
        </p:nvSpPr>
        <p:spPr>
          <a:xfrm>
            <a:off x="1168400" y="65024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数据持久化与查询优化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38200" y="6946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6" name="Text 34"/>
          <p:cNvSpPr/>
          <p:nvPr/>
        </p:nvSpPr>
        <p:spPr>
          <a:xfrm>
            <a:off x="1168400" y="69088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API设计规范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07400" y="5181600"/>
            <a:ext cx="7454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存在的主要不足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432800" y="5727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9" name="Text 37"/>
          <p:cNvSpPr/>
          <p:nvPr/>
        </p:nvSpPr>
        <p:spPr>
          <a:xfrm>
            <a:off x="8763000" y="56896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缺乏地域文化特色融入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432800" y="6134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1" name="Text 39"/>
          <p:cNvSpPr/>
          <p:nvPr/>
        </p:nvSpPr>
        <p:spPr>
          <a:xfrm>
            <a:off x="8763000" y="60960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用户互动功能单一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432800" y="6540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Text 41"/>
          <p:cNvSpPr/>
          <p:nvPr/>
        </p:nvSpPr>
        <p:spPr>
          <a:xfrm>
            <a:off x="8763000" y="65024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票务核销机制不完善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32800" y="6946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5" name="Text 43"/>
          <p:cNvSpPr/>
          <p:nvPr/>
        </p:nvSpPr>
        <p:spPr>
          <a:xfrm>
            <a:off x="8763000" y="6908800"/>
            <a:ext cx="7086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防重复购票机制缺失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14350" y="7473950"/>
            <a:ext cx="4965700" cy="1130300"/>
          </a:xfrm>
          <a:custGeom>
            <a:avLst/>
            <a:gdLst/>
            <a:ahLst/>
            <a:cxnLst/>
            <a:rect l="l" t="t" r="r" b="b"/>
            <a:pathLst>
              <a:path w="4965700" h="1130300">
                <a:moveTo>
                  <a:pt x="50796" y="0"/>
                </a:moveTo>
                <a:lnTo>
                  <a:pt x="4914904" y="0"/>
                </a:lnTo>
                <a:cubicBezTo>
                  <a:pt x="4942958" y="0"/>
                  <a:pt x="4965700" y="22742"/>
                  <a:pt x="4965700" y="50796"/>
                </a:cubicBezTo>
                <a:lnTo>
                  <a:pt x="4965700" y="1079504"/>
                </a:lnTo>
                <a:cubicBezTo>
                  <a:pt x="4965700" y="1107558"/>
                  <a:pt x="4942958" y="1130300"/>
                  <a:pt x="49149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7850" y="76327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78%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22300" y="8140700"/>
            <a:ext cx="474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系统侧重票务功能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45150" y="7473950"/>
            <a:ext cx="4965700" cy="1130300"/>
          </a:xfrm>
          <a:custGeom>
            <a:avLst/>
            <a:gdLst/>
            <a:ahLst/>
            <a:cxnLst/>
            <a:rect l="l" t="t" r="r" b="b"/>
            <a:pathLst>
              <a:path w="4965700" h="1130300">
                <a:moveTo>
                  <a:pt x="50796" y="0"/>
                </a:moveTo>
                <a:lnTo>
                  <a:pt x="4914904" y="0"/>
                </a:lnTo>
                <a:cubicBezTo>
                  <a:pt x="4942958" y="0"/>
                  <a:pt x="4965700" y="22742"/>
                  <a:pt x="4965700" y="50796"/>
                </a:cubicBezTo>
                <a:lnTo>
                  <a:pt x="4965700" y="1079504"/>
                </a:lnTo>
                <a:cubicBezTo>
                  <a:pt x="4965700" y="1107558"/>
                  <a:pt x="4942958" y="1130300"/>
                  <a:pt x="49149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08650" y="76327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23%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753100" y="8140700"/>
            <a:ext cx="474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包含文化元素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775950" y="7473950"/>
            <a:ext cx="4965700" cy="1130300"/>
          </a:xfrm>
          <a:custGeom>
            <a:avLst/>
            <a:gdLst/>
            <a:ahLst/>
            <a:cxnLst/>
            <a:rect l="l" t="t" r="r" b="b"/>
            <a:pathLst>
              <a:path w="4965700" h="1130300">
                <a:moveTo>
                  <a:pt x="50796" y="0"/>
                </a:moveTo>
                <a:lnTo>
                  <a:pt x="4914904" y="0"/>
                </a:lnTo>
                <a:cubicBezTo>
                  <a:pt x="4942958" y="0"/>
                  <a:pt x="4965700" y="22742"/>
                  <a:pt x="4965700" y="50796"/>
                </a:cubicBezTo>
                <a:lnTo>
                  <a:pt x="4965700" y="1079504"/>
                </a:lnTo>
                <a:cubicBezTo>
                  <a:pt x="4965700" y="1107558"/>
                  <a:pt x="4942958" y="1130300"/>
                  <a:pt x="49149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839450" y="7632700"/>
            <a:ext cx="48387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15%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0883900" y="8140700"/>
            <a:ext cx="4749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实现地图互动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TECHNOLOGY RESEARCH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Spring Boot与Vue技术应用研究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5740400"/>
          </a:xfrm>
          <a:custGeom>
            <a:avLst/>
            <a:gdLst/>
            <a:ahLst/>
            <a:cxnLst/>
            <a:rect l="l" t="t" r="r" b="b"/>
            <a:pathLst>
              <a:path w="50800" h="5740400">
                <a:moveTo>
                  <a:pt x="0" y="0"/>
                </a:moveTo>
                <a:lnTo>
                  <a:pt x="50800" y="0"/>
                </a:lnTo>
                <a:lnTo>
                  <a:pt x="50800" y="5740400"/>
                </a:lnTo>
                <a:lnTo>
                  <a:pt x="0" y="57404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Shape 4"/>
          <p:cNvSpPr/>
          <p:nvPr/>
        </p:nvSpPr>
        <p:spPr>
          <a:xfrm>
            <a:off x="911225" y="1943100"/>
            <a:ext cx="285750" cy="381000"/>
          </a:xfrm>
          <a:custGeom>
            <a:avLst/>
            <a:gdLst/>
            <a:ahLst/>
            <a:cxnLst/>
            <a:rect l="l" t="t" r="r" b="b"/>
            <a:pathLst>
              <a:path w="285750" h="381000">
                <a:moveTo>
                  <a:pt x="206722" y="232842"/>
                </a:moveTo>
                <a:cubicBezTo>
                  <a:pt x="214015" y="227856"/>
                  <a:pt x="224135" y="223540"/>
                  <a:pt x="224135" y="223540"/>
                </a:cubicBezTo>
                <a:cubicBezTo>
                  <a:pt x="224135" y="223540"/>
                  <a:pt x="195337" y="228749"/>
                  <a:pt x="166688" y="231130"/>
                </a:cubicBezTo>
                <a:cubicBezTo>
                  <a:pt x="131638" y="234032"/>
                  <a:pt x="93985" y="234628"/>
                  <a:pt x="75084" y="232097"/>
                </a:cubicBezTo>
                <a:cubicBezTo>
                  <a:pt x="30361" y="226144"/>
                  <a:pt x="99640" y="209699"/>
                  <a:pt x="99640" y="209699"/>
                </a:cubicBezTo>
                <a:cubicBezTo>
                  <a:pt x="99640" y="209699"/>
                  <a:pt x="72777" y="207913"/>
                  <a:pt x="39663" y="223837"/>
                </a:cubicBezTo>
                <a:cubicBezTo>
                  <a:pt x="595" y="242739"/>
                  <a:pt x="136401" y="251371"/>
                  <a:pt x="206722" y="232842"/>
                </a:cubicBezTo>
                <a:close/>
                <a:moveTo>
                  <a:pt x="143173" y="208955"/>
                </a:moveTo>
                <a:cubicBezTo>
                  <a:pt x="129034" y="177180"/>
                  <a:pt x="81335" y="149275"/>
                  <a:pt x="143173" y="100459"/>
                </a:cubicBezTo>
                <a:cubicBezTo>
                  <a:pt x="220340" y="39588"/>
                  <a:pt x="180752" y="0"/>
                  <a:pt x="180752" y="0"/>
                </a:cubicBezTo>
                <a:cubicBezTo>
                  <a:pt x="196751" y="62880"/>
                  <a:pt x="124495" y="81930"/>
                  <a:pt x="98375" y="120997"/>
                </a:cubicBezTo>
                <a:cubicBezTo>
                  <a:pt x="80590" y="147712"/>
                  <a:pt x="107082" y="176361"/>
                  <a:pt x="143173" y="208955"/>
                </a:cubicBezTo>
                <a:close/>
                <a:moveTo>
                  <a:pt x="228451" y="77837"/>
                </a:moveTo>
                <a:cubicBezTo>
                  <a:pt x="228526" y="77837"/>
                  <a:pt x="98078" y="110430"/>
                  <a:pt x="160362" y="182166"/>
                </a:cubicBezTo>
                <a:cubicBezTo>
                  <a:pt x="178743" y="203299"/>
                  <a:pt x="155525" y="222349"/>
                  <a:pt x="155525" y="222349"/>
                </a:cubicBezTo>
                <a:cubicBezTo>
                  <a:pt x="155525" y="222349"/>
                  <a:pt x="202183" y="198239"/>
                  <a:pt x="180752" y="168101"/>
                </a:cubicBezTo>
                <a:cubicBezTo>
                  <a:pt x="160734" y="139973"/>
                  <a:pt x="145405" y="125983"/>
                  <a:pt x="228451" y="77837"/>
                </a:cubicBezTo>
                <a:close/>
                <a:moveTo>
                  <a:pt x="223912" y="279127"/>
                </a:moveTo>
                <a:cubicBezTo>
                  <a:pt x="223540" y="279871"/>
                  <a:pt x="223019" y="280467"/>
                  <a:pt x="222424" y="281062"/>
                </a:cubicBezTo>
                <a:cubicBezTo>
                  <a:pt x="317897" y="255984"/>
                  <a:pt x="282773" y="192584"/>
                  <a:pt x="237158" y="208657"/>
                </a:cubicBezTo>
                <a:cubicBezTo>
                  <a:pt x="234702" y="209550"/>
                  <a:pt x="232544" y="211187"/>
                  <a:pt x="231056" y="213345"/>
                </a:cubicBezTo>
                <a:cubicBezTo>
                  <a:pt x="233735" y="212378"/>
                  <a:pt x="236488" y="211634"/>
                  <a:pt x="239241" y="211113"/>
                </a:cubicBezTo>
                <a:cubicBezTo>
                  <a:pt x="262310" y="206276"/>
                  <a:pt x="295424" y="241995"/>
                  <a:pt x="223912" y="279127"/>
                </a:cubicBezTo>
                <a:close/>
                <a:moveTo>
                  <a:pt x="258961" y="325487"/>
                </a:moveTo>
                <a:cubicBezTo>
                  <a:pt x="258961" y="325487"/>
                  <a:pt x="269751" y="334342"/>
                  <a:pt x="247129" y="341263"/>
                </a:cubicBezTo>
                <a:cubicBezTo>
                  <a:pt x="204043" y="354285"/>
                  <a:pt x="67940" y="358229"/>
                  <a:pt x="30138" y="341784"/>
                </a:cubicBezTo>
                <a:cubicBezTo>
                  <a:pt x="16520" y="335905"/>
                  <a:pt x="42044" y="327645"/>
                  <a:pt x="50081" y="325934"/>
                </a:cubicBezTo>
                <a:cubicBezTo>
                  <a:pt x="58415" y="324148"/>
                  <a:pt x="63252" y="324445"/>
                  <a:pt x="63252" y="324445"/>
                </a:cubicBezTo>
                <a:cubicBezTo>
                  <a:pt x="48146" y="313804"/>
                  <a:pt x="-34454" y="345356"/>
                  <a:pt x="21282" y="354360"/>
                </a:cubicBezTo>
                <a:cubicBezTo>
                  <a:pt x="173236" y="379065"/>
                  <a:pt x="298400" y="343272"/>
                  <a:pt x="258961" y="325487"/>
                </a:cubicBezTo>
                <a:close/>
                <a:moveTo>
                  <a:pt x="92646" y="294680"/>
                </a:moveTo>
                <a:cubicBezTo>
                  <a:pt x="34082" y="311051"/>
                  <a:pt x="128290" y="344835"/>
                  <a:pt x="202853" y="312911"/>
                </a:cubicBezTo>
                <a:cubicBezTo>
                  <a:pt x="195560" y="310083"/>
                  <a:pt x="188565" y="306660"/>
                  <a:pt x="181868" y="302642"/>
                </a:cubicBezTo>
                <a:cubicBezTo>
                  <a:pt x="148605" y="308967"/>
                  <a:pt x="133201" y="309414"/>
                  <a:pt x="102989" y="305991"/>
                </a:cubicBezTo>
                <a:cubicBezTo>
                  <a:pt x="78060" y="303163"/>
                  <a:pt x="92646" y="294680"/>
                  <a:pt x="92646" y="294680"/>
                </a:cubicBezTo>
                <a:close/>
                <a:moveTo>
                  <a:pt x="226442" y="367010"/>
                </a:moveTo>
                <a:cubicBezTo>
                  <a:pt x="167878" y="378023"/>
                  <a:pt x="95622" y="376758"/>
                  <a:pt x="52834" y="369689"/>
                </a:cubicBezTo>
                <a:cubicBezTo>
                  <a:pt x="52834" y="369615"/>
                  <a:pt x="61615" y="376907"/>
                  <a:pt x="106710" y="379809"/>
                </a:cubicBezTo>
                <a:cubicBezTo>
                  <a:pt x="175320" y="384200"/>
                  <a:pt x="280690" y="377354"/>
                  <a:pt x="283146" y="344909"/>
                </a:cubicBezTo>
                <a:cubicBezTo>
                  <a:pt x="283146" y="344909"/>
                  <a:pt x="278383" y="357188"/>
                  <a:pt x="226442" y="367010"/>
                </a:cubicBezTo>
                <a:close/>
                <a:moveTo>
                  <a:pt x="193997" y="262682"/>
                </a:moveTo>
                <a:cubicBezTo>
                  <a:pt x="149944" y="271165"/>
                  <a:pt x="124420" y="270942"/>
                  <a:pt x="92199" y="267593"/>
                </a:cubicBezTo>
                <a:cubicBezTo>
                  <a:pt x="67270" y="264988"/>
                  <a:pt x="83567" y="252933"/>
                  <a:pt x="83567" y="252933"/>
                </a:cubicBezTo>
                <a:cubicBezTo>
                  <a:pt x="18976" y="274365"/>
                  <a:pt x="119435" y="298624"/>
                  <a:pt x="209699" y="272207"/>
                </a:cubicBezTo>
                <a:cubicBezTo>
                  <a:pt x="203895" y="270123"/>
                  <a:pt x="198537" y="266923"/>
                  <a:pt x="193997" y="262682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Text 5"/>
          <p:cNvSpPr/>
          <p:nvPr/>
        </p:nvSpPr>
        <p:spPr>
          <a:xfrm>
            <a:off x="1441450" y="1930400"/>
            <a:ext cx="3098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Spring Boot后端技术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5400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框架优势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997200"/>
            <a:ext cx="72644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Boot简化了Spring应用的初始搭建和开发过程，通过自动配置功能大大减少了开发者的工作量。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812800" y="37592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自动配置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30400" y="37592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1930400" y="37592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起步依赖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000" y="3759200"/>
            <a:ext cx="1358900" cy="355600"/>
          </a:xfrm>
          <a:custGeom>
            <a:avLst/>
            <a:gdLst/>
            <a:ahLst/>
            <a:cxnLst/>
            <a:rect l="l" t="t" r="r" b="b"/>
            <a:pathLst>
              <a:path w="1358900" h="355600">
                <a:moveTo>
                  <a:pt x="50801" y="0"/>
                </a:moveTo>
                <a:lnTo>
                  <a:pt x="1308099" y="0"/>
                </a:lnTo>
                <a:cubicBezTo>
                  <a:pt x="1336156" y="0"/>
                  <a:pt x="1358900" y="22744"/>
                  <a:pt x="1358900" y="50801"/>
                </a:cubicBezTo>
                <a:lnTo>
                  <a:pt x="1358900" y="304799"/>
                </a:lnTo>
                <a:cubicBezTo>
                  <a:pt x="1358900" y="332856"/>
                  <a:pt x="1336156" y="355600"/>
                  <a:pt x="13080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048000" y="3759200"/>
            <a:ext cx="14478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Actuator监控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43180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接口设计实践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2800" y="4775200"/>
            <a:ext cx="72644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基于SpringBoot设计了Web前端与数据库的接口，验证了RESTful API设计的最佳实践。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" y="5537200"/>
            <a:ext cx="7137400" cy="812800"/>
          </a:xfrm>
          <a:custGeom>
            <a:avLst/>
            <a:gdLst/>
            <a:ahLst/>
            <a:cxnLst/>
            <a:rect l="l" t="t" r="r" b="b"/>
            <a:pathLst>
              <a:path w="7137400" h="812800">
                <a:moveTo>
                  <a:pt x="50800" y="0"/>
                </a:moveTo>
                <a:lnTo>
                  <a:pt x="7086600" y="0"/>
                </a:lnTo>
                <a:cubicBezTo>
                  <a:pt x="7114637" y="0"/>
                  <a:pt x="7137400" y="22763"/>
                  <a:pt x="7137400" y="50800"/>
                </a:cubicBezTo>
                <a:lnTo>
                  <a:pt x="7137400" y="762000"/>
                </a:lnTo>
                <a:cubicBezTo>
                  <a:pt x="7137400" y="790037"/>
                  <a:pt x="7114637" y="812800"/>
                  <a:pt x="70866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38200" y="5537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0" name="Text 18"/>
          <p:cNvSpPr/>
          <p:nvPr/>
        </p:nvSpPr>
        <p:spPr>
          <a:xfrm>
            <a:off x="1016000" y="56896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GET /api/tickets → 获取票务列表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6000" y="59436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POST /api/orders → 创建订单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12800" y="65532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数据库技术应用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" y="7010400"/>
            <a:ext cx="72644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基于SpringBoot设计了数据库接口，展示了JPA与MyBatis的整合应用。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05800" y="1930400"/>
            <a:ext cx="50800" cy="5740400"/>
          </a:xfrm>
          <a:custGeom>
            <a:avLst/>
            <a:gdLst/>
            <a:ahLst/>
            <a:cxnLst/>
            <a:rect l="l" t="t" r="r" b="b"/>
            <a:pathLst>
              <a:path w="50800" h="5740400">
                <a:moveTo>
                  <a:pt x="0" y="0"/>
                </a:moveTo>
                <a:lnTo>
                  <a:pt x="50800" y="0"/>
                </a:lnTo>
                <a:lnTo>
                  <a:pt x="50800" y="5740400"/>
                </a:lnTo>
                <a:lnTo>
                  <a:pt x="0" y="5740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Shape 23"/>
          <p:cNvSpPr/>
          <p:nvPr/>
        </p:nvSpPr>
        <p:spPr>
          <a:xfrm>
            <a:off x="8659813" y="1943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265584" y="47848"/>
                </a:moveTo>
                <a:lnTo>
                  <a:pt x="208359" y="47848"/>
                </a:lnTo>
                <a:lnTo>
                  <a:pt x="166688" y="113779"/>
                </a:lnTo>
                <a:lnTo>
                  <a:pt x="130969" y="47848"/>
                </a:lnTo>
                <a:lnTo>
                  <a:pt x="0" y="47848"/>
                </a:lnTo>
                <a:lnTo>
                  <a:pt x="166688" y="333375"/>
                </a:lnTo>
                <a:lnTo>
                  <a:pt x="333375" y="47848"/>
                </a:lnTo>
                <a:lnTo>
                  <a:pt x="265584" y="47848"/>
                </a:lnTo>
                <a:close/>
                <a:moveTo>
                  <a:pt x="41449" y="71661"/>
                </a:moveTo>
                <a:lnTo>
                  <a:pt x="81483" y="71661"/>
                </a:lnTo>
                <a:lnTo>
                  <a:pt x="166688" y="219149"/>
                </a:lnTo>
                <a:lnTo>
                  <a:pt x="251817" y="71661"/>
                </a:lnTo>
                <a:lnTo>
                  <a:pt x="291852" y="71661"/>
                </a:lnTo>
                <a:lnTo>
                  <a:pt x="166688" y="286122"/>
                </a:lnTo>
                <a:lnTo>
                  <a:pt x="41449" y="71661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9213850" y="1930400"/>
            <a:ext cx="1955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Vue前端技术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5200" y="25400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Vue3核心特性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5200" y="2997200"/>
            <a:ext cx="7264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组合式API(Composition API)提升了代码的可维护性和逻辑复用能力。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85200" y="34290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50801" y="0"/>
                </a:moveTo>
                <a:lnTo>
                  <a:pt x="1142999" y="0"/>
                </a:lnTo>
                <a:cubicBezTo>
                  <a:pt x="1171056" y="0"/>
                  <a:pt x="1193800" y="22744"/>
                  <a:pt x="1193800" y="50801"/>
                </a:cubicBezTo>
                <a:lnTo>
                  <a:pt x="1193800" y="304799"/>
                </a:lnTo>
                <a:cubicBezTo>
                  <a:pt x="1193800" y="332856"/>
                  <a:pt x="1171056" y="355600"/>
                  <a:pt x="1142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0" name="Text 28"/>
          <p:cNvSpPr/>
          <p:nvPr/>
        </p:nvSpPr>
        <p:spPr>
          <a:xfrm>
            <a:off x="8585200" y="34290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响应式数据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880600" y="34290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50801" y="0"/>
                </a:moveTo>
                <a:lnTo>
                  <a:pt x="1142999" y="0"/>
                </a:lnTo>
                <a:cubicBezTo>
                  <a:pt x="1171056" y="0"/>
                  <a:pt x="1193800" y="22744"/>
                  <a:pt x="1193800" y="50801"/>
                </a:cubicBezTo>
                <a:lnTo>
                  <a:pt x="1193800" y="304799"/>
                </a:lnTo>
                <a:cubicBezTo>
                  <a:pt x="1193800" y="332856"/>
                  <a:pt x="1171056" y="355600"/>
                  <a:pt x="1142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2" name="Text 30"/>
          <p:cNvSpPr/>
          <p:nvPr/>
        </p:nvSpPr>
        <p:spPr>
          <a:xfrm>
            <a:off x="9880600" y="34290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组件化开发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76000" y="3429000"/>
            <a:ext cx="1092200" cy="355600"/>
          </a:xfrm>
          <a:custGeom>
            <a:avLst/>
            <a:gdLst/>
            <a:ahLst/>
            <a:cxnLst/>
            <a:rect l="l" t="t" r="r" b="b"/>
            <a:pathLst>
              <a:path w="1092200" h="355600">
                <a:moveTo>
                  <a:pt x="50801" y="0"/>
                </a:moveTo>
                <a:lnTo>
                  <a:pt x="1041399" y="0"/>
                </a:lnTo>
                <a:cubicBezTo>
                  <a:pt x="1069456" y="0"/>
                  <a:pt x="1092200" y="22744"/>
                  <a:pt x="1092200" y="50801"/>
                </a:cubicBezTo>
                <a:lnTo>
                  <a:pt x="1092200" y="304799"/>
                </a:lnTo>
                <a:cubicBezTo>
                  <a:pt x="1092200" y="332856"/>
                  <a:pt x="1069456" y="355600"/>
                  <a:pt x="1041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1176000" y="3429000"/>
            <a:ext cx="11811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虚拟DOM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85200" y="39878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Element Plus组件库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85200" y="4445000"/>
            <a:ext cx="7264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提供丰富的UI组件，大幅提升开发效率和用户体验。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585200" y="48768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38" name="Text 36"/>
          <p:cNvSpPr/>
          <p:nvPr/>
        </p:nvSpPr>
        <p:spPr>
          <a:xfrm>
            <a:off x="8642350" y="49784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Table表格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06534" y="48768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1063684" y="49784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Form表单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3428067" y="48768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3485217" y="49784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Dialog弹窗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5200" y="5537200"/>
            <a:ext cx="7277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前后端分离优势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585200" y="5994400"/>
            <a:ext cx="72644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前后端并行开发、独立部署，提升开发效率和系统可维护性。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33400" y="7924800"/>
            <a:ext cx="50800" cy="330200"/>
          </a:xfrm>
          <a:custGeom>
            <a:avLst/>
            <a:gdLst/>
            <a:ahLst/>
            <a:cxnLst/>
            <a:rect l="l" t="t" r="r" b="b"/>
            <a:pathLst>
              <a:path w="50800" h="330200">
                <a:moveTo>
                  <a:pt x="0" y="0"/>
                </a:moveTo>
                <a:lnTo>
                  <a:pt x="50800" y="0"/>
                </a:lnTo>
                <a:lnTo>
                  <a:pt x="50800" y="330200"/>
                </a:lnTo>
                <a:lnTo>
                  <a:pt x="0" y="330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6" name="Text 44"/>
          <p:cNvSpPr/>
          <p:nvPr/>
        </p:nvSpPr>
        <p:spPr>
          <a:xfrm>
            <a:off x="812800" y="7924800"/>
            <a:ext cx="15036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技术启示：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Boot生态的成熟度和Vue3的先进性为本系统提供了坚实的技术基础。前后端分离架构已在多个垂直领域得到验证，技术选型合理可行。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RESEARCH GAP &amp; INSIGHTS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文献综述总结与技术启示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4"/>
          <p:cNvSpPr/>
          <p:nvPr/>
        </p:nvSpPr>
        <p:spPr>
          <a:xfrm>
            <a:off x="812800" y="1930400"/>
            <a:ext cx="993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现有研究的贡献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" y="2476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8" name="Text 6"/>
          <p:cNvSpPr/>
          <p:nvPr/>
        </p:nvSpPr>
        <p:spPr>
          <a:xfrm>
            <a:off x="1168400" y="24384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技术框架验证：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Boot + Vue技术栈已在多个管理系统中得到验证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" y="2882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0" name="Text 8"/>
          <p:cNvSpPr/>
          <p:nvPr/>
        </p:nvSpPr>
        <p:spPr>
          <a:xfrm>
            <a:off x="1168400" y="28448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票务功能实现：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在线购票、支付结算等核心功能已有成熟方案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8200" y="3289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2" name="Text 10"/>
          <p:cNvSpPr/>
          <p:nvPr/>
        </p:nvSpPr>
        <p:spPr>
          <a:xfrm>
            <a:off x="1168400" y="32512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架构设计经验：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API设计、数据库设计等积累了丰富经验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3400" y="3759200"/>
            <a:ext cx="50800" cy="1625600"/>
          </a:xfrm>
          <a:custGeom>
            <a:avLst/>
            <a:gdLst/>
            <a:ahLst/>
            <a:cxnLst/>
            <a:rect l="l" t="t" r="r" b="b"/>
            <a:pathLst>
              <a:path w="50800" h="1625600">
                <a:moveTo>
                  <a:pt x="0" y="0"/>
                </a:moveTo>
                <a:lnTo>
                  <a:pt x="50800" y="0"/>
                </a:lnTo>
                <a:lnTo>
                  <a:pt x="508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812800" y="3759200"/>
            <a:ext cx="993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现有研究的局限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" y="43053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4"/>
          <p:cNvSpPr/>
          <p:nvPr/>
        </p:nvSpPr>
        <p:spPr>
          <a:xfrm>
            <a:off x="1168400" y="42672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地域特色缺失：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现有系统普遍缺乏地域文化特色的融入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200" y="47117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Text 16"/>
          <p:cNvSpPr/>
          <p:nvPr/>
        </p:nvSpPr>
        <p:spPr>
          <a:xfrm>
            <a:off x="1168400" y="46736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互动体验不足：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用户互动功能单一，缺少沉浸式体验设计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" y="51181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66278" y="66278"/>
                </a:moveTo>
                <a:cubicBezTo>
                  <a:pt x="70009" y="62547"/>
                  <a:pt x="76041" y="62547"/>
                  <a:pt x="79732" y="66278"/>
                </a:cubicBezTo>
                <a:lnTo>
                  <a:pt x="101560" y="88106"/>
                </a:lnTo>
                <a:lnTo>
                  <a:pt x="123388" y="66278"/>
                </a:lnTo>
                <a:cubicBezTo>
                  <a:pt x="127119" y="62547"/>
                  <a:pt x="133152" y="62547"/>
                  <a:pt x="136842" y="66278"/>
                </a:cubicBezTo>
                <a:cubicBezTo>
                  <a:pt x="140533" y="70009"/>
                  <a:pt x="140573" y="76041"/>
                  <a:pt x="136842" y="79732"/>
                </a:cubicBezTo>
                <a:lnTo>
                  <a:pt x="115014" y="101560"/>
                </a:lnTo>
                <a:lnTo>
                  <a:pt x="136842" y="123388"/>
                </a:lnTo>
                <a:cubicBezTo>
                  <a:pt x="140573" y="127119"/>
                  <a:pt x="140573" y="133152"/>
                  <a:pt x="136842" y="136842"/>
                </a:cubicBezTo>
                <a:cubicBezTo>
                  <a:pt x="133112" y="140533"/>
                  <a:pt x="127079" y="140573"/>
                  <a:pt x="123388" y="136842"/>
                </a:cubicBezTo>
                <a:lnTo>
                  <a:pt x="101560" y="115014"/>
                </a:lnTo>
                <a:lnTo>
                  <a:pt x="79732" y="136842"/>
                </a:lnTo>
                <a:cubicBezTo>
                  <a:pt x="76002" y="140573"/>
                  <a:pt x="69969" y="140573"/>
                  <a:pt x="66278" y="136842"/>
                </a:cubicBezTo>
                <a:cubicBezTo>
                  <a:pt x="62587" y="133112"/>
                  <a:pt x="62547" y="127079"/>
                  <a:pt x="66278" y="123388"/>
                </a:cubicBezTo>
                <a:lnTo>
                  <a:pt x="88106" y="101560"/>
                </a:lnTo>
                <a:lnTo>
                  <a:pt x="66278" y="79732"/>
                </a:lnTo>
                <a:cubicBezTo>
                  <a:pt x="62547" y="76002"/>
                  <a:pt x="62547" y="69969"/>
                  <a:pt x="66278" y="66278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0" name="Text 18"/>
          <p:cNvSpPr/>
          <p:nvPr/>
        </p:nvSpPr>
        <p:spPr>
          <a:xfrm>
            <a:off x="1168400" y="50800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安全机制薄弱：</a:t>
            </a: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票务核销、防黄牛机制等不够完善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896600" y="1930400"/>
            <a:ext cx="50800" cy="5435600"/>
          </a:xfrm>
          <a:custGeom>
            <a:avLst/>
            <a:gdLst/>
            <a:ahLst/>
            <a:cxnLst/>
            <a:rect l="l" t="t" r="r" b="b"/>
            <a:pathLst>
              <a:path w="50800" h="5435600">
                <a:moveTo>
                  <a:pt x="0" y="0"/>
                </a:moveTo>
                <a:lnTo>
                  <a:pt x="50800" y="0"/>
                </a:lnTo>
                <a:lnTo>
                  <a:pt x="50800" y="5435600"/>
                </a:lnTo>
                <a:lnTo>
                  <a:pt x="0" y="5435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2" name="Text 20"/>
          <p:cNvSpPr/>
          <p:nvPr/>
        </p:nvSpPr>
        <p:spPr>
          <a:xfrm>
            <a:off x="11176000" y="1930400"/>
            <a:ext cx="47244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本研究的创新空间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201400" y="2540000"/>
            <a:ext cx="4546600" cy="1422400"/>
          </a:xfrm>
          <a:custGeom>
            <a:avLst/>
            <a:gdLst/>
            <a:ahLst/>
            <a:cxnLst/>
            <a:rect l="l" t="t" r="r" b="b"/>
            <a:pathLst>
              <a:path w="4546600" h="1422400">
                <a:moveTo>
                  <a:pt x="50794" y="0"/>
                </a:moveTo>
                <a:lnTo>
                  <a:pt x="4495806" y="0"/>
                </a:lnTo>
                <a:cubicBezTo>
                  <a:pt x="4523859" y="0"/>
                  <a:pt x="4546600" y="22741"/>
                  <a:pt x="4546600" y="50794"/>
                </a:cubicBezTo>
                <a:lnTo>
                  <a:pt x="4546600" y="1371606"/>
                </a:lnTo>
                <a:cubicBezTo>
                  <a:pt x="4546600" y="1399659"/>
                  <a:pt x="4523859" y="1422400"/>
                  <a:pt x="44958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24" name="Shape 22"/>
          <p:cNvSpPr/>
          <p:nvPr/>
        </p:nvSpPr>
        <p:spPr>
          <a:xfrm>
            <a:off x="11201400" y="25400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Shape 23"/>
          <p:cNvSpPr/>
          <p:nvPr/>
        </p:nvSpPr>
        <p:spPr>
          <a:xfrm>
            <a:off x="11379200" y="26924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11491714" y="2768600"/>
            <a:ext cx="266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0" y="27178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技术深度整合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379200" y="3200400"/>
            <a:ext cx="4318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整合Spring Boot、Vue、高德地图API、二维码技术，构建完整的音乐节管理生态。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201400" y="4114800"/>
            <a:ext cx="4546600" cy="1422400"/>
          </a:xfrm>
          <a:custGeom>
            <a:avLst/>
            <a:gdLst/>
            <a:ahLst/>
            <a:cxnLst/>
            <a:rect l="l" t="t" r="r" b="b"/>
            <a:pathLst>
              <a:path w="4546600" h="1422400">
                <a:moveTo>
                  <a:pt x="50794" y="0"/>
                </a:moveTo>
                <a:lnTo>
                  <a:pt x="4495806" y="0"/>
                </a:lnTo>
                <a:cubicBezTo>
                  <a:pt x="4523859" y="0"/>
                  <a:pt x="4546600" y="22741"/>
                  <a:pt x="4546600" y="50794"/>
                </a:cubicBezTo>
                <a:lnTo>
                  <a:pt x="4546600" y="1371606"/>
                </a:lnTo>
                <a:cubicBezTo>
                  <a:pt x="4546600" y="1399659"/>
                  <a:pt x="4523859" y="1422400"/>
                  <a:pt x="44958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0" name="Shape 28"/>
          <p:cNvSpPr/>
          <p:nvPr/>
        </p:nvSpPr>
        <p:spPr>
          <a:xfrm>
            <a:off x="11201400" y="41148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1" name="Shape 29"/>
          <p:cNvSpPr/>
          <p:nvPr/>
        </p:nvSpPr>
        <p:spPr>
          <a:xfrm>
            <a:off x="11379200" y="42672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32" name="Text 30"/>
          <p:cNvSpPr/>
          <p:nvPr/>
        </p:nvSpPr>
        <p:spPr>
          <a:xfrm>
            <a:off x="11476633" y="4343400"/>
            <a:ext cx="304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0" y="42926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地域特色融入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79200" y="4775200"/>
            <a:ext cx="4318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创新性地将盛京文化专题、地图打卡等功能融入系统设计。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201400" y="5689600"/>
            <a:ext cx="4546600" cy="1422400"/>
          </a:xfrm>
          <a:custGeom>
            <a:avLst/>
            <a:gdLst/>
            <a:ahLst/>
            <a:cxnLst/>
            <a:rect l="l" t="t" r="r" b="b"/>
            <a:pathLst>
              <a:path w="4546600" h="1422400">
                <a:moveTo>
                  <a:pt x="50794" y="0"/>
                </a:moveTo>
                <a:lnTo>
                  <a:pt x="4495806" y="0"/>
                </a:lnTo>
                <a:cubicBezTo>
                  <a:pt x="4523859" y="0"/>
                  <a:pt x="4546600" y="22741"/>
                  <a:pt x="4546600" y="50794"/>
                </a:cubicBezTo>
                <a:lnTo>
                  <a:pt x="4546600" y="1371606"/>
                </a:lnTo>
                <a:cubicBezTo>
                  <a:pt x="4546600" y="1399659"/>
                  <a:pt x="4523859" y="1422400"/>
                  <a:pt x="4495806" y="1422400"/>
                </a:cubicBezTo>
                <a:lnTo>
                  <a:pt x="50794" y="1422400"/>
                </a:lnTo>
                <a:cubicBezTo>
                  <a:pt x="22741" y="1422400"/>
                  <a:pt x="0" y="1399659"/>
                  <a:pt x="0" y="1371606"/>
                </a:cubicBezTo>
                <a:lnTo>
                  <a:pt x="0" y="50794"/>
                </a:lnTo>
                <a:cubicBezTo>
                  <a:pt x="0" y="22741"/>
                  <a:pt x="22741" y="0"/>
                  <a:pt x="50794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36" name="Shape 34"/>
          <p:cNvSpPr/>
          <p:nvPr/>
        </p:nvSpPr>
        <p:spPr>
          <a:xfrm>
            <a:off x="11201400" y="568960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5080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50800" y="1422400"/>
                </a:lnTo>
                <a:cubicBezTo>
                  <a:pt x="22763" y="1422400"/>
                  <a:pt x="0" y="1399637"/>
                  <a:pt x="0" y="1371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Shape 35"/>
          <p:cNvSpPr/>
          <p:nvPr/>
        </p:nvSpPr>
        <p:spPr>
          <a:xfrm>
            <a:off x="11379200" y="5842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lnTo>
                  <a:pt x="203200" y="0"/>
                </a:lnTo>
                <a:cubicBezTo>
                  <a:pt x="315349" y="0"/>
                  <a:pt x="406400" y="91051"/>
                  <a:pt x="406400" y="203200"/>
                </a:cubicBezTo>
                <a:lnTo>
                  <a:pt x="406400" y="203200"/>
                </a:lnTo>
                <a:cubicBezTo>
                  <a:pt x="406400" y="315349"/>
                  <a:pt x="315349" y="406400"/>
                  <a:pt x="203200" y="406400"/>
                </a:cubicBezTo>
                <a:lnTo>
                  <a:pt x="203200" y="406400"/>
                </a:lnTo>
                <a:cubicBezTo>
                  <a:pt x="91051" y="406400"/>
                  <a:pt x="0" y="315349"/>
                  <a:pt x="0" y="203200"/>
                </a:cubicBezTo>
                <a:lnTo>
                  <a:pt x="0" y="203200"/>
                </a:lnTo>
                <a:cubicBezTo>
                  <a:pt x="0" y="91051"/>
                  <a:pt x="91051" y="0"/>
                  <a:pt x="2032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8" name="Text 36"/>
          <p:cNvSpPr/>
          <p:nvPr/>
        </p:nvSpPr>
        <p:spPr>
          <a:xfrm>
            <a:off x="11474252" y="5918200"/>
            <a:ext cx="304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887200" y="58674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安全机制完善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79200" y="6350000"/>
            <a:ext cx="4318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构建实名制购票、分区限额控制、二维码核销的完整安全体系。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8000" y="7632700"/>
            <a:ext cx="15240000" cy="25400"/>
          </a:xfrm>
          <a:custGeom>
            <a:avLst/>
            <a:gdLst/>
            <a:ahLst/>
            <a:cxnLst/>
            <a:rect l="l" t="t" r="r" b="b"/>
            <a:pathLst>
              <a:path w="15240000" h="25400">
                <a:moveTo>
                  <a:pt x="0" y="0"/>
                </a:moveTo>
                <a:lnTo>
                  <a:pt x="15240000" y="0"/>
                </a:lnTo>
                <a:lnTo>
                  <a:pt x="15240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508000" y="7848600"/>
            <a:ext cx="153416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研究定位：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本研究将在前人研究基础上，聚焦技术整合创新、地域文化融合、安全机制完善三个维度，构建一个功能完整、特色鲜明、安全可靠的音乐节管理系统，填补现有研究的空白。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pic.588ku.com/bb92f9911216d707c0dad20dd40fd5eed2947dd3"/>
          <p:cNvPicPr>
            <a:picLocks noChangeAspect="1"/>
          </p:cNvPicPr>
          <p:nvPr/>
        </p:nvPicPr>
        <p:blipFill>
          <a:blip r:embed="rId1">
            <a:alphaModFix amt="20000"/>
          </a:blip>
          <a:srcRect t="5000" b="5000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263900" cy="711200"/>
          </a:xfrm>
          <a:custGeom>
            <a:avLst/>
            <a:gdLst/>
            <a:ahLst/>
            <a:cxnLst/>
            <a:rect l="l" t="t" r="r" b="b"/>
            <a:pathLst>
              <a:path w="3263900" h="711200">
                <a:moveTo>
                  <a:pt x="0" y="0"/>
                </a:moveTo>
                <a:lnTo>
                  <a:pt x="3263900" y="0"/>
                </a:lnTo>
                <a:lnTo>
                  <a:pt x="32639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781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8D99AE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03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研究内容与目标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明确系统的功能范围、性能要求及设计目标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455" y="465455"/>
            <a:ext cx="15418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b="1" kern="0" spc="73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65455" y="837818"/>
            <a:ext cx="15534545" cy="4654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系统功能需求分析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5455" y="1442909"/>
            <a:ext cx="1117091" cy="46545"/>
          </a:xfrm>
          <a:custGeom>
            <a:avLst/>
            <a:gdLst/>
            <a:ahLst/>
            <a:cxnLst/>
            <a:rect l="l" t="t" r="r" b="b"/>
            <a:pathLst>
              <a:path w="1117091" h="46545">
                <a:moveTo>
                  <a:pt x="0" y="0"/>
                </a:moveTo>
                <a:lnTo>
                  <a:pt x="1117091" y="0"/>
                </a:lnTo>
                <a:lnTo>
                  <a:pt x="1117091" y="46545"/>
                </a:lnTo>
                <a:lnTo>
                  <a:pt x="0" y="46545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471273" y="1728000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3273" y="1920000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Shape 5"/>
          <p:cNvSpPr/>
          <p:nvPr/>
        </p:nvSpPr>
        <p:spPr>
          <a:xfrm>
            <a:off x="794182" y="2048000"/>
            <a:ext cx="209455" cy="209455"/>
          </a:xfrm>
          <a:custGeom>
            <a:avLst/>
            <a:gdLst/>
            <a:ahLst/>
            <a:cxnLst/>
            <a:rect l="l" t="t" r="r" b="b"/>
            <a:pathLst>
              <a:path w="209455" h="209455">
                <a:moveTo>
                  <a:pt x="113645" y="3518"/>
                </a:moveTo>
                <a:cubicBezTo>
                  <a:pt x="108614" y="-1145"/>
                  <a:pt x="100841" y="-1145"/>
                  <a:pt x="95850" y="3518"/>
                </a:cubicBezTo>
                <a:lnTo>
                  <a:pt x="4214" y="88609"/>
                </a:lnTo>
                <a:cubicBezTo>
                  <a:pt x="286" y="92291"/>
                  <a:pt x="-1023" y="97977"/>
                  <a:pt x="941" y="102968"/>
                </a:cubicBezTo>
                <a:cubicBezTo>
                  <a:pt x="2905" y="107959"/>
                  <a:pt x="7691" y="111273"/>
                  <a:pt x="13091" y="111273"/>
                </a:cubicBezTo>
                <a:lnTo>
                  <a:pt x="19636" y="111273"/>
                </a:lnTo>
                <a:lnTo>
                  <a:pt x="19636" y="183273"/>
                </a:lnTo>
                <a:cubicBezTo>
                  <a:pt x="19636" y="197714"/>
                  <a:pt x="31377" y="209455"/>
                  <a:pt x="45818" y="209455"/>
                </a:cubicBezTo>
                <a:lnTo>
                  <a:pt x="163636" y="209455"/>
                </a:lnTo>
                <a:cubicBezTo>
                  <a:pt x="178077" y="209455"/>
                  <a:pt x="189818" y="197714"/>
                  <a:pt x="189818" y="183273"/>
                </a:cubicBezTo>
                <a:lnTo>
                  <a:pt x="189818" y="111273"/>
                </a:lnTo>
                <a:lnTo>
                  <a:pt x="196364" y="111273"/>
                </a:lnTo>
                <a:cubicBezTo>
                  <a:pt x="201764" y="111273"/>
                  <a:pt x="206591" y="107959"/>
                  <a:pt x="208555" y="102968"/>
                </a:cubicBezTo>
                <a:cubicBezTo>
                  <a:pt x="210518" y="97977"/>
                  <a:pt x="209209" y="92250"/>
                  <a:pt x="205282" y="88609"/>
                </a:cubicBezTo>
                <a:lnTo>
                  <a:pt x="113645" y="3518"/>
                </a:lnTo>
                <a:close/>
                <a:moveTo>
                  <a:pt x="98182" y="130909"/>
                </a:moveTo>
                <a:lnTo>
                  <a:pt x="111273" y="130909"/>
                </a:lnTo>
                <a:cubicBezTo>
                  <a:pt x="122114" y="130909"/>
                  <a:pt x="130909" y="139705"/>
                  <a:pt x="130909" y="150545"/>
                </a:cubicBezTo>
                <a:lnTo>
                  <a:pt x="130909" y="189818"/>
                </a:lnTo>
                <a:lnTo>
                  <a:pt x="78545" y="189818"/>
                </a:lnTo>
                <a:lnTo>
                  <a:pt x="78545" y="150545"/>
                </a:lnTo>
                <a:cubicBezTo>
                  <a:pt x="78545" y="139705"/>
                  <a:pt x="87341" y="130909"/>
                  <a:pt x="98182" y="130909"/>
                </a:cubicBezTo>
                <a:close/>
              </a:path>
            </a:pathLst>
          </a:custGeom>
          <a:solidFill>
            <a:srgbClr val="F0F2F5"/>
          </a:solidFill>
        </p:spPr>
      </p:sp>
      <p:sp>
        <p:nvSpPr>
          <p:cNvPr id="8" name="Text 6"/>
          <p:cNvSpPr/>
          <p:nvPr/>
        </p:nvSpPr>
        <p:spPr>
          <a:xfrm>
            <a:off x="1221818" y="1989818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前端展示模块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3091" y="2560000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0" name="Text 8"/>
          <p:cNvSpPr/>
          <p:nvPr/>
        </p:nvSpPr>
        <p:spPr>
          <a:xfrm>
            <a:off x="981294" y="2525091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音乐节概况展示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3091" y="2932364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2" name="Text 10"/>
          <p:cNvSpPr/>
          <p:nvPr/>
        </p:nvSpPr>
        <p:spPr>
          <a:xfrm>
            <a:off x="981294" y="289745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演出阵容信息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3091" y="3304727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981294" y="3269818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场地地图导览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3091" y="3677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6" name="Text 14"/>
          <p:cNvSpPr/>
          <p:nvPr/>
        </p:nvSpPr>
        <p:spPr>
          <a:xfrm>
            <a:off x="981294" y="3642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公告通知发布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3091" y="4049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Text 16"/>
          <p:cNvSpPr/>
          <p:nvPr/>
        </p:nvSpPr>
        <p:spPr>
          <a:xfrm>
            <a:off x="981294" y="4014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盛京文化专题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27455" y="1728000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19455" y="1920000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1" name="Shape 19"/>
          <p:cNvSpPr/>
          <p:nvPr/>
        </p:nvSpPr>
        <p:spPr>
          <a:xfrm>
            <a:off x="5937273" y="2048000"/>
            <a:ext cx="235636" cy="209455"/>
          </a:xfrm>
          <a:custGeom>
            <a:avLst/>
            <a:gdLst/>
            <a:ahLst/>
            <a:cxnLst/>
            <a:rect l="l" t="t" r="r" b="b"/>
            <a:pathLst>
              <a:path w="235636" h="209455">
                <a:moveTo>
                  <a:pt x="0" y="52364"/>
                </a:moveTo>
                <a:cubicBezTo>
                  <a:pt x="0" y="37923"/>
                  <a:pt x="11741" y="26182"/>
                  <a:pt x="26182" y="26182"/>
                </a:cubicBezTo>
                <a:lnTo>
                  <a:pt x="209455" y="26182"/>
                </a:lnTo>
                <a:cubicBezTo>
                  <a:pt x="223895" y="26182"/>
                  <a:pt x="235636" y="37923"/>
                  <a:pt x="235636" y="52364"/>
                </a:cubicBezTo>
                <a:lnTo>
                  <a:pt x="235636" y="78545"/>
                </a:lnTo>
                <a:cubicBezTo>
                  <a:pt x="235636" y="82145"/>
                  <a:pt x="232609" y="84968"/>
                  <a:pt x="229214" y="86155"/>
                </a:cubicBezTo>
                <a:cubicBezTo>
                  <a:pt x="221523" y="88814"/>
                  <a:pt x="216000" y="96136"/>
                  <a:pt x="216000" y="104727"/>
                </a:cubicBezTo>
                <a:cubicBezTo>
                  <a:pt x="216000" y="113318"/>
                  <a:pt x="221523" y="120641"/>
                  <a:pt x="229214" y="123300"/>
                </a:cubicBezTo>
                <a:cubicBezTo>
                  <a:pt x="232609" y="124486"/>
                  <a:pt x="235636" y="127309"/>
                  <a:pt x="235636" y="130909"/>
                </a:cubicBezTo>
                <a:lnTo>
                  <a:pt x="235636" y="157091"/>
                </a:lnTo>
                <a:cubicBezTo>
                  <a:pt x="235636" y="171532"/>
                  <a:pt x="223895" y="183273"/>
                  <a:pt x="209455" y="183273"/>
                </a:cubicBezTo>
                <a:lnTo>
                  <a:pt x="26182" y="183273"/>
                </a:lnTo>
                <a:cubicBezTo>
                  <a:pt x="11741" y="183273"/>
                  <a:pt x="0" y="171532"/>
                  <a:pt x="0" y="157091"/>
                </a:cubicBezTo>
                <a:lnTo>
                  <a:pt x="0" y="130909"/>
                </a:lnTo>
                <a:cubicBezTo>
                  <a:pt x="0" y="127309"/>
                  <a:pt x="3027" y="124486"/>
                  <a:pt x="6423" y="123300"/>
                </a:cubicBezTo>
                <a:cubicBezTo>
                  <a:pt x="14114" y="120641"/>
                  <a:pt x="19636" y="113318"/>
                  <a:pt x="19636" y="104727"/>
                </a:cubicBezTo>
                <a:cubicBezTo>
                  <a:pt x="19636" y="96136"/>
                  <a:pt x="14114" y="88814"/>
                  <a:pt x="6423" y="86155"/>
                </a:cubicBezTo>
                <a:cubicBezTo>
                  <a:pt x="3027" y="84968"/>
                  <a:pt x="0" y="82145"/>
                  <a:pt x="0" y="78545"/>
                </a:cubicBezTo>
                <a:lnTo>
                  <a:pt x="0" y="52364"/>
                </a:lnTo>
                <a:close/>
              </a:path>
            </a:pathLst>
          </a:custGeom>
          <a:solidFill>
            <a:srgbClr val="1A1D24"/>
          </a:solidFill>
        </p:spPr>
      </p:sp>
      <p:sp>
        <p:nvSpPr>
          <p:cNvPr id="22" name="Text 20"/>
          <p:cNvSpPr/>
          <p:nvPr/>
        </p:nvSpPr>
        <p:spPr>
          <a:xfrm>
            <a:off x="6378000" y="1989818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票务管理模块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89273" y="2560000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4" name="Text 22"/>
          <p:cNvSpPr/>
          <p:nvPr/>
        </p:nvSpPr>
        <p:spPr>
          <a:xfrm>
            <a:off x="6137476" y="2525091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分区票务设置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89273" y="2932364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6" name="Text 24"/>
          <p:cNvSpPr/>
          <p:nvPr/>
        </p:nvSpPr>
        <p:spPr>
          <a:xfrm>
            <a:off x="6137476" y="289745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实名制身份证验证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89273" y="3304727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8" name="Text 26"/>
          <p:cNvSpPr/>
          <p:nvPr/>
        </p:nvSpPr>
        <p:spPr>
          <a:xfrm>
            <a:off x="6137476" y="3269818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单用户限购机制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89273" y="3677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0" name="Text 28"/>
          <p:cNvSpPr/>
          <p:nvPr/>
        </p:nvSpPr>
        <p:spPr>
          <a:xfrm>
            <a:off x="6137476" y="3642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防重复购票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889273" y="4049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2" name="Text 30"/>
          <p:cNvSpPr/>
          <p:nvPr/>
        </p:nvSpPr>
        <p:spPr>
          <a:xfrm>
            <a:off x="6137476" y="4014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区域限额控制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83636" y="1728000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975636" y="1920000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35" name="Shape 33"/>
          <p:cNvSpPr/>
          <p:nvPr/>
        </p:nvSpPr>
        <p:spPr>
          <a:xfrm>
            <a:off x="11119636" y="2048000"/>
            <a:ext cx="183273" cy="209455"/>
          </a:xfrm>
          <a:custGeom>
            <a:avLst/>
            <a:gdLst/>
            <a:ahLst/>
            <a:cxnLst/>
            <a:rect l="l" t="t" r="r" b="b"/>
            <a:pathLst>
              <a:path w="183273" h="209455">
                <a:moveTo>
                  <a:pt x="26182" y="65455"/>
                </a:moveTo>
                <a:lnTo>
                  <a:pt x="52364" y="65455"/>
                </a:lnTo>
                <a:lnTo>
                  <a:pt x="52364" y="39273"/>
                </a:lnTo>
                <a:lnTo>
                  <a:pt x="26182" y="39273"/>
                </a:lnTo>
                <a:lnTo>
                  <a:pt x="26182" y="65455"/>
                </a:lnTo>
                <a:close/>
                <a:moveTo>
                  <a:pt x="0" y="32727"/>
                </a:moveTo>
                <a:cubicBezTo>
                  <a:pt x="0" y="21886"/>
                  <a:pt x="8795" y="13091"/>
                  <a:pt x="19636" y="13091"/>
                </a:cubicBezTo>
                <a:lnTo>
                  <a:pt x="58909" y="13091"/>
                </a:lnTo>
                <a:cubicBezTo>
                  <a:pt x="69750" y="13091"/>
                  <a:pt x="78545" y="21886"/>
                  <a:pt x="78545" y="32727"/>
                </a:cubicBezTo>
                <a:lnTo>
                  <a:pt x="78545" y="72000"/>
                </a:lnTo>
                <a:cubicBezTo>
                  <a:pt x="78545" y="82841"/>
                  <a:pt x="69750" y="91636"/>
                  <a:pt x="58909" y="91636"/>
                </a:cubicBezTo>
                <a:lnTo>
                  <a:pt x="19636" y="91636"/>
                </a:lnTo>
                <a:cubicBezTo>
                  <a:pt x="8795" y="91636"/>
                  <a:pt x="0" y="82841"/>
                  <a:pt x="0" y="72000"/>
                </a:cubicBezTo>
                <a:lnTo>
                  <a:pt x="0" y="32727"/>
                </a:lnTo>
                <a:close/>
                <a:moveTo>
                  <a:pt x="26182" y="170182"/>
                </a:moveTo>
                <a:lnTo>
                  <a:pt x="52364" y="170182"/>
                </a:lnTo>
                <a:lnTo>
                  <a:pt x="52364" y="144000"/>
                </a:lnTo>
                <a:lnTo>
                  <a:pt x="26182" y="144000"/>
                </a:lnTo>
                <a:lnTo>
                  <a:pt x="26182" y="170182"/>
                </a:lnTo>
                <a:close/>
                <a:moveTo>
                  <a:pt x="0" y="137455"/>
                </a:moveTo>
                <a:cubicBezTo>
                  <a:pt x="0" y="126614"/>
                  <a:pt x="8795" y="117818"/>
                  <a:pt x="19636" y="117818"/>
                </a:cubicBezTo>
                <a:lnTo>
                  <a:pt x="58909" y="117818"/>
                </a:lnTo>
                <a:cubicBezTo>
                  <a:pt x="69750" y="117818"/>
                  <a:pt x="78545" y="126614"/>
                  <a:pt x="78545" y="137455"/>
                </a:cubicBezTo>
                <a:lnTo>
                  <a:pt x="78545" y="176727"/>
                </a:lnTo>
                <a:cubicBezTo>
                  <a:pt x="78545" y="187568"/>
                  <a:pt x="69750" y="196364"/>
                  <a:pt x="58909" y="196364"/>
                </a:cubicBezTo>
                <a:lnTo>
                  <a:pt x="19636" y="196364"/>
                </a:lnTo>
                <a:cubicBezTo>
                  <a:pt x="8795" y="196364"/>
                  <a:pt x="0" y="187568"/>
                  <a:pt x="0" y="176727"/>
                </a:cubicBezTo>
                <a:lnTo>
                  <a:pt x="0" y="137455"/>
                </a:lnTo>
                <a:close/>
                <a:moveTo>
                  <a:pt x="130909" y="39273"/>
                </a:moveTo>
                <a:lnTo>
                  <a:pt x="130909" y="65455"/>
                </a:lnTo>
                <a:lnTo>
                  <a:pt x="157091" y="65455"/>
                </a:lnTo>
                <a:lnTo>
                  <a:pt x="157091" y="39273"/>
                </a:lnTo>
                <a:lnTo>
                  <a:pt x="130909" y="39273"/>
                </a:lnTo>
                <a:close/>
                <a:moveTo>
                  <a:pt x="124364" y="13091"/>
                </a:moveTo>
                <a:lnTo>
                  <a:pt x="163636" y="13091"/>
                </a:lnTo>
                <a:cubicBezTo>
                  <a:pt x="174477" y="13091"/>
                  <a:pt x="183273" y="21886"/>
                  <a:pt x="183273" y="32727"/>
                </a:cubicBezTo>
                <a:lnTo>
                  <a:pt x="183273" y="72000"/>
                </a:lnTo>
                <a:cubicBezTo>
                  <a:pt x="183273" y="82841"/>
                  <a:pt x="174477" y="91636"/>
                  <a:pt x="163636" y="91636"/>
                </a:cubicBezTo>
                <a:lnTo>
                  <a:pt x="124364" y="91636"/>
                </a:lnTo>
                <a:cubicBezTo>
                  <a:pt x="113523" y="91636"/>
                  <a:pt x="104727" y="82841"/>
                  <a:pt x="104727" y="72000"/>
                </a:cubicBezTo>
                <a:lnTo>
                  <a:pt x="104727" y="32727"/>
                </a:lnTo>
                <a:cubicBezTo>
                  <a:pt x="104727" y="21886"/>
                  <a:pt x="113523" y="13091"/>
                  <a:pt x="124364" y="13091"/>
                </a:cubicBezTo>
                <a:close/>
                <a:moveTo>
                  <a:pt x="117818" y="144000"/>
                </a:moveTo>
                <a:cubicBezTo>
                  <a:pt x="110593" y="144000"/>
                  <a:pt x="104727" y="138134"/>
                  <a:pt x="104727" y="130909"/>
                </a:cubicBezTo>
                <a:cubicBezTo>
                  <a:pt x="104727" y="123684"/>
                  <a:pt x="110593" y="117818"/>
                  <a:pt x="117818" y="117818"/>
                </a:cubicBezTo>
                <a:cubicBezTo>
                  <a:pt x="125043" y="117818"/>
                  <a:pt x="130909" y="123684"/>
                  <a:pt x="130909" y="130909"/>
                </a:cubicBezTo>
                <a:cubicBezTo>
                  <a:pt x="130909" y="138134"/>
                  <a:pt x="125043" y="144000"/>
                  <a:pt x="117818" y="144000"/>
                </a:cubicBezTo>
                <a:close/>
                <a:moveTo>
                  <a:pt x="117818" y="170182"/>
                </a:moveTo>
                <a:cubicBezTo>
                  <a:pt x="125059" y="170182"/>
                  <a:pt x="130909" y="176032"/>
                  <a:pt x="130909" y="183273"/>
                </a:cubicBezTo>
                <a:cubicBezTo>
                  <a:pt x="130909" y="190514"/>
                  <a:pt x="125059" y="196364"/>
                  <a:pt x="117818" y="196364"/>
                </a:cubicBezTo>
                <a:cubicBezTo>
                  <a:pt x="110577" y="196364"/>
                  <a:pt x="104727" y="190514"/>
                  <a:pt x="104727" y="183273"/>
                </a:cubicBezTo>
                <a:cubicBezTo>
                  <a:pt x="104727" y="176032"/>
                  <a:pt x="110577" y="170182"/>
                  <a:pt x="117818" y="170182"/>
                </a:cubicBezTo>
                <a:close/>
                <a:moveTo>
                  <a:pt x="157091" y="183273"/>
                </a:moveTo>
                <a:cubicBezTo>
                  <a:pt x="157091" y="176032"/>
                  <a:pt x="162941" y="170182"/>
                  <a:pt x="170182" y="170182"/>
                </a:cubicBezTo>
                <a:cubicBezTo>
                  <a:pt x="177423" y="170182"/>
                  <a:pt x="183273" y="176032"/>
                  <a:pt x="183273" y="183273"/>
                </a:cubicBezTo>
                <a:cubicBezTo>
                  <a:pt x="183273" y="190514"/>
                  <a:pt x="177423" y="196364"/>
                  <a:pt x="170182" y="196364"/>
                </a:cubicBezTo>
                <a:cubicBezTo>
                  <a:pt x="162941" y="196364"/>
                  <a:pt x="157091" y="190514"/>
                  <a:pt x="157091" y="183273"/>
                </a:cubicBezTo>
                <a:close/>
                <a:moveTo>
                  <a:pt x="170182" y="144000"/>
                </a:moveTo>
                <a:cubicBezTo>
                  <a:pt x="162957" y="144000"/>
                  <a:pt x="157091" y="138134"/>
                  <a:pt x="157091" y="130909"/>
                </a:cubicBezTo>
                <a:cubicBezTo>
                  <a:pt x="157091" y="123684"/>
                  <a:pt x="162957" y="117818"/>
                  <a:pt x="170182" y="117818"/>
                </a:cubicBezTo>
                <a:cubicBezTo>
                  <a:pt x="177407" y="117818"/>
                  <a:pt x="183273" y="123684"/>
                  <a:pt x="183273" y="130909"/>
                </a:cubicBezTo>
                <a:cubicBezTo>
                  <a:pt x="183273" y="138134"/>
                  <a:pt x="177407" y="144000"/>
                  <a:pt x="170182" y="144000"/>
                </a:cubicBezTo>
                <a:close/>
                <a:moveTo>
                  <a:pt x="157091" y="157091"/>
                </a:moveTo>
                <a:cubicBezTo>
                  <a:pt x="157091" y="164316"/>
                  <a:pt x="151225" y="170182"/>
                  <a:pt x="144000" y="170182"/>
                </a:cubicBezTo>
                <a:cubicBezTo>
                  <a:pt x="136775" y="170182"/>
                  <a:pt x="130909" y="164316"/>
                  <a:pt x="130909" y="157091"/>
                </a:cubicBezTo>
                <a:cubicBezTo>
                  <a:pt x="130909" y="149866"/>
                  <a:pt x="136775" y="144000"/>
                  <a:pt x="144000" y="144000"/>
                </a:cubicBezTo>
                <a:cubicBezTo>
                  <a:pt x="151225" y="144000"/>
                  <a:pt x="157091" y="149866"/>
                  <a:pt x="157091" y="157091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36" name="Text 34"/>
          <p:cNvSpPr/>
          <p:nvPr/>
        </p:nvSpPr>
        <p:spPr>
          <a:xfrm>
            <a:off x="11534182" y="1989818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票务核销模块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045455" y="2560000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8" name="Text 36"/>
          <p:cNvSpPr/>
          <p:nvPr/>
        </p:nvSpPr>
        <p:spPr>
          <a:xfrm>
            <a:off x="11293658" y="2525091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二维码生成与识别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45455" y="2932364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11293658" y="289745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后台核销校验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45455" y="3304727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2" name="Text 40"/>
          <p:cNvSpPr/>
          <p:nvPr/>
        </p:nvSpPr>
        <p:spPr>
          <a:xfrm>
            <a:off x="11293658" y="3269818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防假票机制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045455" y="3677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11293658" y="3642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防重复入场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045455" y="4049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6" name="Text 44"/>
          <p:cNvSpPr/>
          <p:nvPr/>
        </p:nvSpPr>
        <p:spPr>
          <a:xfrm>
            <a:off x="11293658" y="4014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核销数据统计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71273" y="4637091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3273" y="4829091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49" name="Shape 47"/>
          <p:cNvSpPr/>
          <p:nvPr/>
        </p:nvSpPr>
        <p:spPr>
          <a:xfrm>
            <a:off x="781091" y="4957091"/>
            <a:ext cx="235636" cy="209455"/>
          </a:xfrm>
          <a:custGeom>
            <a:avLst/>
            <a:gdLst/>
            <a:ahLst/>
            <a:cxnLst/>
            <a:rect l="l" t="t" r="r" b="b"/>
            <a:pathLst>
              <a:path w="235636" h="209455">
                <a:moveTo>
                  <a:pt x="157091" y="58909"/>
                </a:moveTo>
                <a:cubicBezTo>
                  <a:pt x="157091" y="98673"/>
                  <a:pt x="121909" y="130909"/>
                  <a:pt x="78545" y="130909"/>
                </a:cubicBezTo>
                <a:cubicBezTo>
                  <a:pt x="67623" y="130909"/>
                  <a:pt x="57232" y="128864"/>
                  <a:pt x="47782" y="125182"/>
                </a:cubicBezTo>
                <a:lnTo>
                  <a:pt x="14400" y="142855"/>
                </a:lnTo>
                <a:cubicBezTo>
                  <a:pt x="10595" y="144859"/>
                  <a:pt x="5932" y="144164"/>
                  <a:pt x="2864" y="141136"/>
                </a:cubicBezTo>
                <a:cubicBezTo>
                  <a:pt x="-205" y="138109"/>
                  <a:pt x="-900" y="133405"/>
                  <a:pt x="1145" y="129600"/>
                </a:cubicBezTo>
                <a:lnTo>
                  <a:pt x="15709" y="102109"/>
                </a:lnTo>
                <a:cubicBezTo>
                  <a:pt x="5850" y="90082"/>
                  <a:pt x="0" y="75109"/>
                  <a:pt x="0" y="58909"/>
                </a:cubicBezTo>
                <a:cubicBezTo>
                  <a:pt x="0" y="19145"/>
                  <a:pt x="35182" y="-13091"/>
                  <a:pt x="78545" y="-13091"/>
                </a:cubicBezTo>
                <a:cubicBezTo>
                  <a:pt x="121909" y="-13091"/>
                  <a:pt x="157091" y="19145"/>
                  <a:pt x="157091" y="58909"/>
                </a:cubicBezTo>
                <a:close/>
                <a:moveTo>
                  <a:pt x="157091" y="209455"/>
                </a:moveTo>
                <a:cubicBezTo>
                  <a:pt x="118595" y="209455"/>
                  <a:pt x="86564" y="184050"/>
                  <a:pt x="79855" y="150545"/>
                </a:cubicBezTo>
                <a:cubicBezTo>
                  <a:pt x="128945" y="149932"/>
                  <a:pt x="171614" y="114995"/>
                  <a:pt x="176318" y="67623"/>
                </a:cubicBezTo>
                <a:cubicBezTo>
                  <a:pt x="210395" y="75477"/>
                  <a:pt x="235636" y="103745"/>
                  <a:pt x="235636" y="137455"/>
                </a:cubicBezTo>
                <a:cubicBezTo>
                  <a:pt x="235636" y="153655"/>
                  <a:pt x="229786" y="168627"/>
                  <a:pt x="219927" y="180655"/>
                </a:cubicBezTo>
                <a:lnTo>
                  <a:pt x="234491" y="208145"/>
                </a:lnTo>
                <a:cubicBezTo>
                  <a:pt x="236495" y="211950"/>
                  <a:pt x="235800" y="216614"/>
                  <a:pt x="232773" y="219682"/>
                </a:cubicBezTo>
                <a:cubicBezTo>
                  <a:pt x="229745" y="222750"/>
                  <a:pt x="225041" y="223445"/>
                  <a:pt x="221236" y="221400"/>
                </a:cubicBezTo>
                <a:lnTo>
                  <a:pt x="187855" y="203727"/>
                </a:lnTo>
                <a:cubicBezTo>
                  <a:pt x="178405" y="207409"/>
                  <a:pt x="168014" y="209455"/>
                  <a:pt x="157091" y="209455"/>
                </a:cubicBezTo>
                <a:close/>
              </a:path>
            </a:pathLst>
          </a:custGeom>
          <a:solidFill>
            <a:srgbClr val="F0F2F5"/>
          </a:solidFill>
        </p:spPr>
      </p:sp>
      <p:sp>
        <p:nvSpPr>
          <p:cNvPr id="50" name="Text 48"/>
          <p:cNvSpPr/>
          <p:nvPr/>
        </p:nvSpPr>
        <p:spPr>
          <a:xfrm>
            <a:off x="1221818" y="4898909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用户互动模块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33091" y="5469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2" name="Text 50"/>
          <p:cNvSpPr/>
          <p:nvPr/>
        </p:nvSpPr>
        <p:spPr>
          <a:xfrm>
            <a:off x="981294" y="5434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资讯收藏功能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3091" y="5841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4" name="Text 52"/>
          <p:cNvSpPr/>
          <p:nvPr/>
        </p:nvSpPr>
        <p:spPr>
          <a:xfrm>
            <a:off x="981294" y="5806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评论与点赞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33091" y="6213818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6" name="Text 54"/>
          <p:cNvSpPr/>
          <p:nvPr/>
        </p:nvSpPr>
        <p:spPr>
          <a:xfrm>
            <a:off x="981294" y="6178909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留言互动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33091" y="6586182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8" name="Text 56"/>
          <p:cNvSpPr/>
          <p:nvPr/>
        </p:nvSpPr>
        <p:spPr>
          <a:xfrm>
            <a:off x="981294" y="6551273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地图打卡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733091" y="695854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0" name="Text 58"/>
          <p:cNvSpPr/>
          <p:nvPr/>
        </p:nvSpPr>
        <p:spPr>
          <a:xfrm>
            <a:off x="981294" y="6923636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积分体系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27455" y="4637091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19455" y="4829091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63" name="Shape 61"/>
          <p:cNvSpPr/>
          <p:nvPr/>
        </p:nvSpPr>
        <p:spPr>
          <a:xfrm>
            <a:off x="5924182" y="4957091"/>
            <a:ext cx="261818" cy="209455"/>
          </a:xfrm>
          <a:custGeom>
            <a:avLst/>
            <a:gdLst/>
            <a:ahLst/>
            <a:cxnLst/>
            <a:rect l="l" t="t" r="r" b="b"/>
            <a:pathLst>
              <a:path w="261818" h="209455">
                <a:moveTo>
                  <a:pt x="9818" y="-6545"/>
                </a:moveTo>
                <a:cubicBezTo>
                  <a:pt x="4377" y="-6545"/>
                  <a:pt x="0" y="-2168"/>
                  <a:pt x="0" y="3273"/>
                </a:cubicBezTo>
                <a:cubicBezTo>
                  <a:pt x="0" y="8714"/>
                  <a:pt x="4377" y="13091"/>
                  <a:pt x="9818" y="13091"/>
                </a:cubicBezTo>
                <a:lnTo>
                  <a:pt x="28350" y="13091"/>
                </a:lnTo>
                <a:cubicBezTo>
                  <a:pt x="29945" y="13091"/>
                  <a:pt x="31295" y="14236"/>
                  <a:pt x="31582" y="15791"/>
                </a:cubicBezTo>
                <a:lnTo>
                  <a:pt x="52895" y="132914"/>
                </a:lnTo>
                <a:cubicBezTo>
                  <a:pt x="55432" y="146905"/>
                  <a:pt x="67623" y="157091"/>
                  <a:pt x="81859" y="157091"/>
                </a:cubicBezTo>
                <a:lnTo>
                  <a:pt x="186545" y="157091"/>
                </a:lnTo>
                <a:cubicBezTo>
                  <a:pt x="191986" y="157091"/>
                  <a:pt x="196364" y="152714"/>
                  <a:pt x="196364" y="147273"/>
                </a:cubicBezTo>
                <a:cubicBezTo>
                  <a:pt x="196364" y="141832"/>
                  <a:pt x="191986" y="137455"/>
                  <a:pt x="186545" y="137455"/>
                </a:cubicBezTo>
                <a:lnTo>
                  <a:pt x="81859" y="137455"/>
                </a:lnTo>
                <a:cubicBezTo>
                  <a:pt x="77114" y="137455"/>
                  <a:pt x="73064" y="134059"/>
                  <a:pt x="72205" y="129395"/>
                </a:cubicBezTo>
                <a:lnTo>
                  <a:pt x="70118" y="117818"/>
                </a:lnTo>
                <a:lnTo>
                  <a:pt x="194318" y="117818"/>
                </a:lnTo>
                <a:cubicBezTo>
                  <a:pt x="206918" y="117818"/>
                  <a:pt x="217718" y="108859"/>
                  <a:pt x="220050" y="96464"/>
                </a:cubicBezTo>
                <a:lnTo>
                  <a:pt x="232732" y="28595"/>
                </a:lnTo>
                <a:cubicBezTo>
                  <a:pt x="234245" y="20536"/>
                  <a:pt x="228068" y="13091"/>
                  <a:pt x="219845" y="13091"/>
                </a:cubicBezTo>
                <a:lnTo>
                  <a:pt x="51014" y="13091"/>
                </a:lnTo>
                <a:lnTo>
                  <a:pt x="50850" y="12273"/>
                </a:lnTo>
                <a:cubicBezTo>
                  <a:pt x="48886" y="1391"/>
                  <a:pt x="39395" y="-6545"/>
                  <a:pt x="28309" y="-6545"/>
                </a:cubicBezTo>
                <a:lnTo>
                  <a:pt x="9818" y="-6545"/>
                </a:lnTo>
                <a:close/>
                <a:moveTo>
                  <a:pt x="85091" y="209455"/>
                </a:moveTo>
                <a:cubicBezTo>
                  <a:pt x="95929" y="209455"/>
                  <a:pt x="104727" y="200656"/>
                  <a:pt x="104727" y="189818"/>
                </a:cubicBezTo>
                <a:cubicBezTo>
                  <a:pt x="104727" y="178981"/>
                  <a:pt x="95929" y="170182"/>
                  <a:pt x="85091" y="170182"/>
                </a:cubicBezTo>
                <a:cubicBezTo>
                  <a:pt x="74253" y="170182"/>
                  <a:pt x="65455" y="178981"/>
                  <a:pt x="65455" y="189818"/>
                </a:cubicBezTo>
                <a:cubicBezTo>
                  <a:pt x="65455" y="200656"/>
                  <a:pt x="74253" y="209455"/>
                  <a:pt x="85091" y="209455"/>
                </a:cubicBezTo>
                <a:close/>
                <a:moveTo>
                  <a:pt x="176727" y="209455"/>
                </a:moveTo>
                <a:cubicBezTo>
                  <a:pt x="187565" y="209455"/>
                  <a:pt x="196364" y="200656"/>
                  <a:pt x="196364" y="189818"/>
                </a:cubicBezTo>
                <a:cubicBezTo>
                  <a:pt x="196364" y="178981"/>
                  <a:pt x="187565" y="170182"/>
                  <a:pt x="176727" y="170182"/>
                </a:cubicBezTo>
                <a:cubicBezTo>
                  <a:pt x="165890" y="170182"/>
                  <a:pt x="157091" y="178981"/>
                  <a:pt x="157091" y="189818"/>
                </a:cubicBezTo>
                <a:cubicBezTo>
                  <a:pt x="157091" y="200656"/>
                  <a:pt x="165890" y="209455"/>
                  <a:pt x="176727" y="209455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64" name="Text 62"/>
          <p:cNvSpPr/>
          <p:nvPr/>
        </p:nvSpPr>
        <p:spPr>
          <a:xfrm>
            <a:off x="6378000" y="4898909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电商周边模块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889273" y="5469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6" name="Text 64"/>
          <p:cNvSpPr/>
          <p:nvPr/>
        </p:nvSpPr>
        <p:spPr>
          <a:xfrm>
            <a:off x="6137476" y="5434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周边商品浏览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889273" y="5841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8" name="Text 66"/>
          <p:cNvSpPr/>
          <p:nvPr/>
        </p:nvSpPr>
        <p:spPr>
          <a:xfrm>
            <a:off x="6137476" y="5806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购物车管理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5889273" y="6213818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0" name="Text 68"/>
          <p:cNvSpPr/>
          <p:nvPr/>
        </p:nvSpPr>
        <p:spPr>
          <a:xfrm>
            <a:off x="6137476" y="6178909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在线支付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5889273" y="6586182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2" name="Text 70"/>
          <p:cNvSpPr/>
          <p:nvPr/>
        </p:nvSpPr>
        <p:spPr>
          <a:xfrm>
            <a:off x="6137476" y="6551273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订单查询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889273" y="695854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4" name="Text 72"/>
          <p:cNvSpPr/>
          <p:nvPr/>
        </p:nvSpPr>
        <p:spPr>
          <a:xfrm>
            <a:off x="6137476" y="6923636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库存管理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783636" y="4637091"/>
            <a:ext cx="5003636" cy="2757818"/>
          </a:xfrm>
          <a:custGeom>
            <a:avLst/>
            <a:gdLst/>
            <a:ahLst/>
            <a:cxnLst/>
            <a:rect l="l" t="t" r="r" b="b"/>
            <a:pathLst>
              <a:path w="5003636" h="2757818">
                <a:moveTo>
                  <a:pt x="93104" y="0"/>
                </a:moveTo>
                <a:lnTo>
                  <a:pt x="4910532" y="0"/>
                </a:lnTo>
                <a:cubicBezTo>
                  <a:pt x="4961952" y="0"/>
                  <a:pt x="5003636" y="41684"/>
                  <a:pt x="5003636" y="93104"/>
                </a:cubicBezTo>
                <a:lnTo>
                  <a:pt x="5003636" y="2664714"/>
                </a:lnTo>
                <a:cubicBezTo>
                  <a:pt x="5003636" y="2716134"/>
                  <a:pt x="4961952" y="2757818"/>
                  <a:pt x="4910532" y="2757818"/>
                </a:cubicBezTo>
                <a:lnTo>
                  <a:pt x="93104" y="2757818"/>
                </a:lnTo>
                <a:cubicBezTo>
                  <a:pt x="41684" y="2757818"/>
                  <a:pt x="0" y="2716134"/>
                  <a:pt x="0" y="2664714"/>
                </a:cubicBezTo>
                <a:lnTo>
                  <a:pt x="0" y="93104"/>
                </a:lnTo>
                <a:cubicBezTo>
                  <a:pt x="0" y="41684"/>
                  <a:pt x="41684" y="0"/>
                  <a:pt x="93104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975636" y="4829091"/>
            <a:ext cx="465455" cy="465455"/>
          </a:xfrm>
          <a:custGeom>
            <a:avLst/>
            <a:gdLst/>
            <a:ahLst/>
            <a:cxnLst/>
            <a:rect l="l" t="t" r="r" b="b"/>
            <a:pathLst>
              <a:path w="465455" h="465455">
                <a:moveTo>
                  <a:pt x="93091" y="0"/>
                </a:moveTo>
                <a:lnTo>
                  <a:pt x="372364" y="0"/>
                </a:lnTo>
                <a:cubicBezTo>
                  <a:pt x="423742" y="0"/>
                  <a:pt x="465455" y="41713"/>
                  <a:pt x="465455" y="93091"/>
                </a:cubicBezTo>
                <a:lnTo>
                  <a:pt x="465455" y="372364"/>
                </a:lnTo>
                <a:cubicBezTo>
                  <a:pt x="465455" y="423776"/>
                  <a:pt x="423776" y="465455"/>
                  <a:pt x="372364" y="465455"/>
                </a:cubicBezTo>
                <a:lnTo>
                  <a:pt x="93091" y="465455"/>
                </a:lnTo>
                <a:cubicBezTo>
                  <a:pt x="41713" y="465455"/>
                  <a:pt x="0" y="423742"/>
                  <a:pt x="0" y="372364"/>
                </a:cubicBezTo>
                <a:lnTo>
                  <a:pt x="0" y="93091"/>
                </a:lnTo>
                <a:cubicBezTo>
                  <a:pt x="0" y="41678"/>
                  <a:pt x="41678" y="0"/>
                  <a:pt x="93091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7" name="Shape 75"/>
          <p:cNvSpPr/>
          <p:nvPr/>
        </p:nvSpPr>
        <p:spPr>
          <a:xfrm>
            <a:off x="11093455" y="4957091"/>
            <a:ext cx="235636" cy="209455"/>
          </a:xfrm>
          <a:custGeom>
            <a:avLst/>
            <a:gdLst/>
            <a:ahLst/>
            <a:cxnLst/>
            <a:rect l="l" t="t" r="r" b="b"/>
            <a:pathLst>
              <a:path w="235636" h="209455">
                <a:moveTo>
                  <a:pt x="91636" y="101455"/>
                </a:moveTo>
                <a:cubicBezTo>
                  <a:pt x="118730" y="101455"/>
                  <a:pt x="140727" y="79458"/>
                  <a:pt x="140727" y="52364"/>
                </a:cubicBezTo>
                <a:cubicBezTo>
                  <a:pt x="140727" y="25270"/>
                  <a:pt x="118730" y="3273"/>
                  <a:pt x="91636" y="3273"/>
                </a:cubicBezTo>
                <a:cubicBezTo>
                  <a:pt x="64542" y="3273"/>
                  <a:pt x="42545" y="25270"/>
                  <a:pt x="42545" y="52364"/>
                </a:cubicBezTo>
                <a:cubicBezTo>
                  <a:pt x="42545" y="79458"/>
                  <a:pt x="64542" y="101455"/>
                  <a:pt x="91636" y="101455"/>
                </a:cubicBezTo>
                <a:close/>
                <a:moveTo>
                  <a:pt x="79486" y="124364"/>
                </a:moveTo>
                <a:cubicBezTo>
                  <a:pt x="39191" y="124364"/>
                  <a:pt x="6545" y="157009"/>
                  <a:pt x="6545" y="197305"/>
                </a:cubicBezTo>
                <a:cubicBezTo>
                  <a:pt x="6545" y="204014"/>
                  <a:pt x="11986" y="209455"/>
                  <a:pt x="18695" y="209455"/>
                </a:cubicBezTo>
                <a:lnTo>
                  <a:pt x="121582" y="209455"/>
                </a:lnTo>
                <a:cubicBezTo>
                  <a:pt x="106773" y="192027"/>
                  <a:pt x="98182" y="169568"/>
                  <a:pt x="98182" y="145800"/>
                </a:cubicBezTo>
                <a:lnTo>
                  <a:pt x="98182" y="133077"/>
                </a:lnTo>
                <a:cubicBezTo>
                  <a:pt x="98182" y="130091"/>
                  <a:pt x="98591" y="127145"/>
                  <a:pt x="99368" y="124364"/>
                </a:cubicBezTo>
                <a:lnTo>
                  <a:pt x="79486" y="124364"/>
                </a:lnTo>
                <a:close/>
                <a:moveTo>
                  <a:pt x="182168" y="199841"/>
                </a:moveTo>
                <a:lnTo>
                  <a:pt x="176727" y="202418"/>
                </a:lnTo>
                <a:lnTo>
                  <a:pt x="176727" y="125468"/>
                </a:lnTo>
                <a:lnTo>
                  <a:pt x="216000" y="138559"/>
                </a:lnTo>
                <a:lnTo>
                  <a:pt x="216000" y="146577"/>
                </a:lnTo>
                <a:cubicBezTo>
                  <a:pt x="216000" y="169405"/>
                  <a:pt x="202827" y="190145"/>
                  <a:pt x="182168" y="199882"/>
                </a:cubicBezTo>
                <a:close/>
                <a:moveTo>
                  <a:pt x="172595" y="106159"/>
                </a:moveTo>
                <a:lnTo>
                  <a:pt x="126777" y="121418"/>
                </a:lnTo>
                <a:cubicBezTo>
                  <a:pt x="121418" y="123218"/>
                  <a:pt x="117818" y="128209"/>
                  <a:pt x="117818" y="133855"/>
                </a:cubicBezTo>
                <a:lnTo>
                  <a:pt x="117818" y="146577"/>
                </a:lnTo>
                <a:cubicBezTo>
                  <a:pt x="117818" y="177014"/>
                  <a:pt x="135409" y="204709"/>
                  <a:pt x="162900" y="217636"/>
                </a:cubicBezTo>
                <a:lnTo>
                  <a:pt x="170468" y="221195"/>
                </a:lnTo>
                <a:cubicBezTo>
                  <a:pt x="172432" y="222095"/>
                  <a:pt x="174559" y="222586"/>
                  <a:pt x="176686" y="222586"/>
                </a:cubicBezTo>
                <a:cubicBezTo>
                  <a:pt x="178814" y="222586"/>
                  <a:pt x="180982" y="222095"/>
                  <a:pt x="182905" y="221195"/>
                </a:cubicBezTo>
                <a:lnTo>
                  <a:pt x="190473" y="217636"/>
                </a:lnTo>
                <a:cubicBezTo>
                  <a:pt x="218045" y="204668"/>
                  <a:pt x="235636" y="176973"/>
                  <a:pt x="235636" y="146536"/>
                </a:cubicBezTo>
                <a:lnTo>
                  <a:pt x="235636" y="133814"/>
                </a:lnTo>
                <a:cubicBezTo>
                  <a:pt x="235636" y="128168"/>
                  <a:pt x="232036" y="123177"/>
                  <a:pt x="226677" y="121377"/>
                </a:cubicBezTo>
                <a:lnTo>
                  <a:pt x="180859" y="106118"/>
                </a:lnTo>
                <a:cubicBezTo>
                  <a:pt x="178159" y="105218"/>
                  <a:pt x="175255" y="105218"/>
                  <a:pt x="172595" y="106118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78" name="Text 76"/>
          <p:cNvSpPr/>
          <p:nvPr/>
        </p:nvSpPr>
        <p:spPr>
          <a:xfrm>
            <a:off x="11534182" y="4898909"/>
            <a:ext cx="1361455" cy="3258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5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后台管理模块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11045455" y="5469091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0" name="Text 78"/>
          <p:cNvSpPr/>
          <p:nvPr/>
        </p:nvSpPr>
        <p:spPr>
          <a:xfrm>
            <a:off x="11293658" y="5434182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资讯发布与编辑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11045455" y="584145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2" name="Text 80"/>
          <p:cNvSpPr/>
          <p:nvPr/>
        </p:nvSpPr>
        <p:spPr>
          <a:xfrm>
            <a:off x="11293658" y="5806545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票务信息管理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11045455" y="6213818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4" name="Text 82"/>
          <p:cNvSpPr/>
          <p:nvPr/>
        </p:nvSpPr>
        <p:spPr>
          <a:xfrm>
            <a:off x="11293658" y="6178909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区域限额设置</a:t>
            </a: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11045455" y="6586182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6" name="Text 84"/>
          <p:cNvSpPr/>
          <p:nvPr/>
        </p:nvSpPr>
        <p:spPr>
          <a:xfrm>
            <a:off x="11293658" y="6551273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核销人员管理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11045455" y="6958545"/>
            <a:ext cx="93091" cy="186182"/>
          </a:xfrm>
          <a:custGeom>
            <a:avLst/>
            <a:gdLst/>
            <a:ahLst/>
            <a:cxnLst/>
            <a:rect l="l" t="t" r="r" b="b"/>
            <a:pathLst>
              <a:path w="93091" h="186182">
                <a:moveTo>
                  <a:pt x="89855" y="84873"/>
                </a:moveTo>
                <a:cubicBezTo>
                  <a:pt x="94400" y="89418"/>
                  <a:pt x="94400" y="96800"/>
                  <a:pt x="89855" y="101345"/>
                </a:cubicBezTo>
                <a:lnTo>
                  <a:pt x="31673" y="159527"/>
                </a:lnTo>
                <a:cubicBezTo>
                  <a:pt x="27127" y="164073"/>
                  <a:pt x="19745" y="164073"/>
                  <a:pt x="15200" y="159527"/>
                </a:cubicBezTo>
                <a:cubicBezTo>
                  <a:pt x="10655" y="154982"/>
                  <a:pt x="10655" y="147600"/>
                  <a:pt x="15200" y="143055"/>
                </a:cubicBezTo>
                <a:lnTo>
                  <a:pt x="65164" y="93091"/>
                </a:lnTo>
                <a:lnTo>
                  <a:pt x="15236" y="43127"/>
                </a:lnTo>
                <a:cubicBezTo>
                  <a:pt x="10691" y="38582"/>
                  <a:pt x="10691" y="31200"/>
                  <a:pt x="15236" y="26655"/>
                </a:cubicBezTo>
                <a:cubicBezTo>
                  <a:pt x="19782" y="22109"/>
                  <a:pt x="27164" y="22109"/>
                  <a:pt x="31709" y="26655"/>
                </a:cubicBezTo>
                <a:lnTo>
                  <a:pt x="89891" y="8483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8" name="Text 86"/>
          <p:cNvSpPr/>
          <p:nvPr/>
        </p:nvSpPr>
        <p:spPr>
          <a:xfrm>
            <a:off x="11293658" y="6923636"/>
            <a:ext cx="4394706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评论审核</a:t>
            </a: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471273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9455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6+</a:t>
            </a:r>
            <a:endParaRPr lang="en-US" sz="1600" dirty="0"/>
          </a:p>
        </p:txBody>
      </p:sp>
      <p:sp>
        <p:nvSpPr>
          <p:cNvPr id="91" name="Text 89"/>
          <p:cNvSpPr/>
          <p:nvPr/>
        </p:nvSpPr>
        <p:spPr>
          <a:xfrm>
            <a:off x="570182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核心功能模块</a:t>
            </a:r>
            <a:endParaRPr lang="en-US" sz="1600" dirty="0"/>
          </a:p>
        </p:txBody>
      </p:sp>
      <p:sp>
        <p:nvSpPr>
          <p:cNvPr id="92" name="Shape 90"/>
          <p:cNvSpPr/>
          <p:nvPr/>
        </p:nvSpPr>
        <p:spPr>
          <a:xfrm>
            <a:off x="4338364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396545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30+</a:t>
            </a:r>
            <a:endParaRPr lang="en-US" sz="1600" dirty="0"/>
          </a:p>
        </p:txBody>
      </p:sp>
      <p:sp>
        <p:nvSpPr>
          <p:cNvPr id="94" name="Text 92"/>
          <p:cNvSpPr/>
          <p:nvPr/>
        </p:nvSpPr>
        <p:spPr>
          <a:xfrm>
            <a:off x="4437273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细分功能点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8205455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8263636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3</a:t>
            </a:r>
            <a:endParaRPr lang="en-US" sz="1600" dirty="0"/>
          </a:p>
        </p:txBody>
      </p:sp>
      <p:sp>
        <p:nvSpPr>
          <p:cNvPr id="97" name="Text 95"/>
          <p:cNvSpPr/>
          <p:nvPr/>
        </p:nvSpPr>
        <p:spPr>
          <a:xfrm>
            <a:off x="8304364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用户角色(用户/核销员/管理员)</a:t>
            </a:r>
            <a:endParaRPr lang="en-US" sz="1600" dirty="0"/>
          </a:p>
        </p:txBody>
      </p:sp>
      <p:sp>
        <p:nvSpPr>
          <p:cNvPr id="98" name="Shape 96"/>
          <p:cNvSpPr/>
          <p:nvPr/>
        </p:nvSpPr>
        <p:spPr>
          <a:xfrm>
            <a:off x="12072545" y="7639273"/>
            <a:ext cx="3712000" cy="1035636"/>
          </a:xfrm>
          <a:custGeom>
            <a:avLst/>
            <a:gdLst/>
            <a:ahLst/>
            <a:cxnLst/>
            <a:rect l="l" t="t" r="r" b="b"/>
            <a:pathLst>
              <a:path w="3712000" h="1035636">
                <a:moveTo>
                  <a:pt x="46541" y="0"/>
                </a:moveTo>
                <a:lnTo>
                  <a:pt x="3665459" y="0"/>
                </a:lnTo>
                <a:cubicBezTo>
                  <a:pt x="3691163" y="0"/>
                  <a:pt x="3712000" y="20837"/>
                  <a:pt x="3712000" y="46541"/>
                </a:cubicBezTo>
                <a:lnTo>
                  <a:pt x="3712000" y="989095"/>
                </a:lnTo>
                <a:cubicBezTo>
                  <a:pt x="3712000" y="1014799"/>
                  <a:pt x="3691163" y="1035636"/>
                  <a:pt x="3665459" y="1035636"/>
                </a:cubicBezTo>
                <a:lnTo>
                  <a:pt x="46541" y="1035636"/>
                </a:lnTo>
                <a:cubicBezTo>
                  <a:pt x="20837" y="1035636"/>
                  <a:pt x="0" y="1014799"/>
                  <a:pt x="0" y="989095"/>
                </a:cubicBezTo>
                <a:lnTo>
                  <a:pt x="0" y="46541"/>
                </a:lnTo>
                <a:cubicBezTo>
                  <a:pt x="0" y="20855"/>
                  <a:pt x="20855" y="0"/>
                  <a:pt x="4654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2130727" y="7784727"/>
            <a:ext cx="3595636" cy="41890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750" b="1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100%</a:t>
            </a:r>
            <a:endParaRPr lang="en-US" sz="1600" dirty="0"/>
          </a:p>
        </p:txBody>
      </p:sp>
      <p:sp>
        <p:nvSpPr>
          <p:cNvPr id="100" name="Text 98"/>
          <p:cNvSpPr/>
          <p:nvPr/>
        </p:nvSpPr>
        <p:spPr>
          <a:xfrm>
            <a:off x="12171455" y="8250182"/>
            <a:ext cx="3514182" cy="27927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465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业务流程覆盖</a:t>
            </a:r>
            <a:endParaRPr lang="en-US" sz="1600" dirty="0"/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4084320" y="200660"/>
            <a:ext cx="3712845" cy="12890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ic.52112.com/c748100b14dae36152ca15f87726bdd59b011d26.jpg"/>
          <p:cNvPicPr>
            <a:picLocks noChangeAspect="1"/>
          </p:cNvPicPr>
          <p:nvPr/>
        </p:nvPicPr>
        <p:blipFill>
          <a:blip r:embed="rId1">
            <a:alphaModFix amt="20000"/>
          </a:blip>
          <a:srcRect t="20434" b="20434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136900" cy="711200"/>
          </a:xfrm>
          <a:custGeom>
            <a:avLst/>
            <a:gdLst/>
            <a:ahLst/>
            <a:cxnLst/>
            <a:rect l="l" t="t" r="r" b="b"/>
            <a:pathLst>
              <a:path w="3136900" h="711200">
                <a:moveTo>
                  <a:pt x="0" y="0"/>
                </a:moveTo>
                <a:lnTo>
                  <a:pt x="3136900" y="0"/>
                </a:lnTo>
                <a:lnTo>
                  <a:pt x="31369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6543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5F7A8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04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关键技术路线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说明系统开发所采用的核心技术与实现路径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BACKEND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后端技术栈:Spring Boot生态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1651000"/>
          </a:xfrm>
          <a:custGeom>
            <a:avLst/>
            <a:gdLst/>
            <a:ahLst/>
            <a:cxnLst/>
            <a:rect l="l" t="t" r="r" b="b"/>
            <a:pathLst>
              <a:path w="50800" h="1651000">
                <a:moveTo>
                  <a:pt x="0" y="0"/>
                </a:moveTo>
                <a:lnTo>
                  <a:pt x="50800" y="0"/>
                </a:lnTo>
                <a:lnTo>
                  <a:pt x="50800" y="1651000"/>
                </a:lnTo>
                <a:lnTo>
                  <a:pt x="0" y="16510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Shape 4"/>
          <p:cNvSpPr/>
          <p:nvPr/>
        </p:nvSpPr>
        <p:spPr>
          <a:xfrm>
            <a:off x="889000" y="1955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65378" y="186273"/>
                </a:moveTo>
                <a:cubicBezTo>
                  <a:pt x="171212" y="182285"/>
                  <a:pt x="179308" y="178832"/>
                  <a:pt x="179308" y="178832"/>
                </a:cubicBezTo>
                <a:cubicBezTo>
                  <a:pt x="179308" y="178832"/>
                  <a:pt x="156270" y="182999"/>
                  <a:pt x="133350" y="184904"/>
                </a:cubicBezTo>
                <a:cubicBezTo>
                  <a:pt x="105311" y="187226"/>
                  <a:pt x="75188" y="187702"/>
                  <a:pt x="60067" y="185678"/>
                </a:cubicBezTo>
                <a:cubicBezTo>
                  <a:pt x="24289" y="180915"/>
                  <a:pt x="79712" y="167759"/>
                  <a:pt x="79712" y="167759"/>
                </a:cubicBezTo>
                <a:cubicBezTo>
                  <a:pt x="79712" y="167759"/>
                  <a:pt x="58222" y="166330"/>
                  <a:pt x="31730" y="179070"/>
                </a:cubicBezTo>
                <a:cubicBezTo>
                  <a:pt x="476" y="194191"/>
                  <a:pt x="109121" y="201097"/>
                  <a:pt x="165378" y="186273"/>
                </a:cubicBezTo>
                <a:close/>
                <a:moveTo>
                  <a:pt x="114538" y="167164"/>
                </a:moveTo>
                <a:cubicBezTo>
                  <a:pt x="103227" y="141744"/>
                  <a:pt x="65068" y="119420"/>
                  <a:pt x="114538" y="80367"/>
                </a:cubicBezTo>
                <a:cubicBezTo>
                  <a:pt x="176272" y="31671"/>
                  <a:pt x="144601" y="0"/>
                  <a:pt x="144601" y="0"/>
                </a:cubicBezTo>
                <a:cubicBezTo>
                  <a:pt x="157401" y="50304"/>
                  <a:pt x="99596" y="65544"/>
                  <a:pt x="78700" y="96798"/>
                </a:cubicBezTo>
                <a:cubicBezTo>
                  <a:pt x="64472" y="118170"/>
                  <a:pt x="85665" y="141089"/>
                  <a:pt x="114538" y="167164"/>
                </a:cubicBezTo>
                <a:close/>
                <a:moveTo>
                  <a:pt x="182761" y="62270"/>
                </a:moveTo>
                <a:cubicBezTo>
                  <a:pt x="182820" y="62270"/>
                  <a:pt x="78462" y="88344"/>
                  <a:pt x="128290" y="145733"/>
                </a:cubicBezTo>
                <a:cubicBezTo>
                  <a:pt x="142994" y="162639"/>
                  <a:pt x="124420" y="177879"/>
                  <a:pt x="124420" y="177879"/>
                </a:cubicBezTo>
                <a:cubicBezTo>
                  <a:pt x="124420" y="177879"/>
                  <a:pt x="161746" y="158591"/>
                  <a:pt x="144601" y="134481"/>
                </a:cubicBezTo>
                <a:cubicBezTo>
                  <a:pt x="128588" y="111978"/>
                  <a:pt x="116324" y="100786"/>
                  <a:pt x="182761" y="62270"/>
                </a:cubicBezTo>
                <a:close/>
                <a:moveTo>
                  <a:pt x="179130" y="223302"/>
                </a:moveTo>
                <a:cubicBezTo>
                  <a:pt x="178832" y="223897"/>
                  <a:pt x="178415" y="224373"/>
                  <a:pt x="177939" y="224850"/>
                </a:cubicBezTo>
                <a:cubicBezTo>
                  <a:pt x="254318" y="204788"/>
                  <a:pt x="226219" y="154067"/>
                  <a:pt x="189726" y="166926"/>
                </a:cubicBezTo>
                <a:cubicBezTo>
                  <a:pt x="187762" y="167640"/>
                  <a:pt x="186035" y="168950"/>
                  <a:pt x="184845" y="170676"/>
                </a:cubicBezTo>
                <a:cubicBezTo>
                  <a:pt x="186988" y="169902"/>
                  <a:pt x="189190" y="169307"/>
                  <a:pt x="191393" y="168890"/>
                </a:cubicBezTo>
                <a:cubicBezTo>
                  <a:pt x="209848" y="165021"/>
                  <a:pt x="236339" y="193596"/>
                  <a:pt x="179130" y="223302"/>
                </a:cubicBezTo>
                <a:close/>
                <a:moveTo>
                  <a:pt x="207169" y="260390"/>
                </a:moveTo>
                <a:cubicBezTo>
                  <a:pt x="207169" y="260390"/>
                  <a:pt x="215801" y="267474"/>
                  <a:pt x="197703" y="273010"/>
                </a:cubicBezTo>
                <a:cubicBezTo>
                  <a:pt x="163235" y="283428"/>
                  <a:pt x="54352" y="286583"/>
                  <a:pt x="24110" y="273427"/>
                </a:cubicBezTo>
                <a:cubicBezTo>
                  <a:pt x="13216" y="268724"/>
                  <a:pt x="33635" y="262116"/>
                  <a:pt x="40065" y="260747"/>
                </a:cubicBezTo>
                <a:cubicBezTo>
                  <a:pt x="46732" y="259318"/>
                  <a:pt x="50602" y="259556"/>
                  <a:pt x="50602" y="259556"/>
                </a:cubicBezTo>
                <a:cubicBezTo>
                  <a:pt x="38517" y="251043"/>
                  <a:pt x="-27563" y="276285"/>
                  <a:pt x="17026" y="283488"/>
                </a:cubicBezTo>
                <a:cubicBezTo>
                  <a:pt x="138589" y="303252"/>
                  <a:pt x="238720" y="274618"/>
                  <a:pt x="207169" y="260390"/>
                </a:cubicBezTo>
                <a:close/>
                <a:moveTo>
                  <a:pt x="74116" y="235744"/>
                </a:moveTo>
                <a:cubicBezTo>
                  <a:pt x="27265" y="248841"/>
                  <a:pt x="102632" y="275868"/>
                  <a:pt x="162282" y="250329"/>
                </a:cubicBezTo>
                <a:cubicBezTo>
                  <a:pt x="156448" y="248067"/>
                  <a:pt x="150852" y="245328"/>
                  <a:pt x="145494" y="242114"/>
                </a:cubicBezTo>
                <a:cubicBezTo>
                  <a:pt x="118884" y="247174"/>
                  <a:pt x="106561" y="247531"/>
                  <a:pt x="82391" y="244793"/>
                </a:cubicBezTo>
                <a:cubicBezTo>
                  <a:pt x="62448" y="242530"/>
                  <a:pt x="74116" y="235744"/>
                  <a:pt x="74116" y="235744"/>
                </a:cubicBezTo>
                <a:close/>
                <a:moveTo>
                  <a:pt x="181154" y="293608"/>
                </a:moveTo>
                <a:cubicBezTo>
                  <a:pt x="134303" y="302419"/>
                  <a:pt x="76498" y="301407"/>
                  <a:pt x="42267" y="295751"/>
                </a:cubicBezTo>
                <a:cubicBezTo>
                  <a:pt x="42267" y="295692"/>
                  <a:pt x="49292" y="301526"/>
                  <a:pt x="85368" y="303848"/>
                </a:cubicBezTo>
                <a:cubicBezTo>
                  <a:pt x="140256" y="307360"/>
                  <a:pt x="224552" y="301883"/>
                  <a:pt x="226516" y="275927"/>
                </a:cubicBezTo>
                <a:cubicBezTo>
                  <a:pt x="226516" y="275927"/>
                  <a:pt x="222706" y="285750"/>
                  <a:pt x="181154" y="293608"/>
                </a:cubicBezTo>
                <a:close/>
                <a:moveTo>
                  <a:pt x="155198" y="210145"/>
                </a:moveTo>
                <a:cubicBezTo>
                  <a:pt x="119955" y="216932"/>
                  <a:pt x="99536" y="216753"/>
                  <a:pt x="73759" y="214074"/>
                </a:cubicBezTo>
                <a:cubicBezTo>
                  <a:pt x="53816" y="211991"/>
                  <a:pt x="66854" y="202347"/>
                  <a:pt x="66854" y="202347"/>
                </a:cubicBezTo>
                <a:cubicBezTo>
                  <a:pt x="15180" y="219492"/>
                  <a:pt x="95548" y="238899"/>
                  <a:pt x="167759" y="217765"/>
                </a:cubicBezTo>
                <a:cubicBezTo>
                  <a:pt x="163116" y="216098"/>
                  <a:pt x="158829" y="213539"/>
                  <a:pt x="155198" y="210145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7" name="Text 5"/>
          <p:cNvSpPr/>
          <p:nvPr/>
        </p:nvSpPr>
        <p:spPr>
          <a:xfrm>
            <a:off x="1295400" y="1930400"/>
            <a:ext cx="2578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Spring Boot核心框架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4384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 Boot 2.x搭建后端服务，利用自动配置、起步依赖等特性简化开发。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800" y="2921000"/>
            <a:ext cx="3543300" cy="660400"/>
          </a:xfrm>
          <a:custGeom>
            <a:avLst/>
            <a:gdLst/>
            <a:ahLst/>
            <a:cxnLst/>
            <a:rect l="l" t="t" r="r" b="b"/>
            <a:pathLst>
              <a:path w="3543300" h="660400">
                <a:moveTo>
                  <a:pt x="50798" y="0"/>
                </a:moveTo>
                <a:lnTo>
                  <a:pt x="3492502" y="0"/>
                </a:lnTo>
                <a:cubicBezTo>
                  <a:pt x="3520557" y="0"/>
                  <a:pt x="3543300" y="22743"/>
                  <a:pt x="3543300" y="50798"/>
                </a:cubicBezTo>
                <a:lnTo>
                  <a:pt x="3543300" y="609602"/>
                </a:lnTo>
                <a:cubicBezTo>
                  <a:pt x="3543300" y="637657"/>
                  <a:pt x="3520557" y="660400"/>
                  <a:pt x="3492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0" name="Text 8"/>
          <p:cNvSpPr/>
          <p:nvPr/>
        </p:nvSpPr>
        <p:spPr>
          <a:xfrm>
            <a:off x="914400" y="30226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MVC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276600"/>
            <a:ext cx="3416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Web请求处理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57700" y="2921000"/>
            <a:ext cx="3543300" cy="660400"/>
          </a:xfrm>
          <a:custGeom>
            <a:avLst/>
            <a:gdLst/>
            <a:ahLst/>
            <a:cxnLst/>
            <a:rect l="l" t="t" r="r" b="b"/>
            <a:pathLst>
              <a:path w="3543300" h="660400">
                <a:moveTo>
                  <a:pt x="50798" y="0"/>
                </a:moveTo>
                <a:lnTo>
                  <a:pt x="3492502" y="0"/>
                </a:lnTo>
                <a:cubicBezTo>
                  <a:pt x="3520557" y="0"/>
                  <a:pt x="3543300" y="22743"/>
                  <a:pt x="3543300" y="50798"/>
                </a:cubicBezTo>
                <a:lnTo>
                  <a:pt x="3543300" y="609602"/>
                </a:lnTo>
                <a:cubicBezTo>
                  <a:pt x="3543300" y="637657"/>
                  <a:pt x="3520557" y="660400"/>
                  <a:pt x="34925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4559300" y="30226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Spring Data JPA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59300" y="3276600"/>
            <a:ext cx="34163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数据库操作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784600"/>
            <a:ext cx="50800" cy="1549400"/>
          </a:xfrm>
          <a:custGeom>
            <a:avLst/>
            <a:gdLst/>
            <a:ahLst/>
            <a:cxnLst/>
            <a:rect l="l" t="t" r="r" b="b"/>
            <a:pathLst>
              <a:path w="50800" h="1549400">
                <a:moveTo>
                  <a:pt x="0" y="0"/>
                </a:moveTo>
                <a:lnTo>
                  <a:pt x="50800" y="0"/>
                </a:lnTo>
                <a:lnTo>
                  <a:pt x="50800" y="1549400"/>
                </a:lnTo>
                <a:lnTo>
                  <a:pt x="0" y="1549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6" name="Shape 14"/>
          <p:cNvSpPr/>
          <p:nvPr/>
        </p:nvSpPr>
        <p:spPr>
          <a:xfrm>
            <a:off x="869950" y="3810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17" name="Text 15"/>
          <p:cNvSpPr/>
          <p:nvPr/>
        </p:nvSpPr>
        <p:spPr>
          <a:xfrm>
            <a:off x="1295400" y="37846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数据持久化技术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2800" y="42926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整合JPA与MyBatis，兼顾ORM便捷性与SQL灵活性。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49313" y="4800600"/>
            <a:ext cx="155575" cy="177800"/>
          </a:xfrm>
          <a:custGeom>
            <a:avLst/>
            <a:gdLst/>
            <a:ahLst/>
            <a:cxnLst/>
            <a:rect l="l" t="t" r="r" b="b"/>
            <a:pathLst>
              <a:path w="155575" h="177800">
                <a:moveTo>
                  <a:pt x="150991" y="24343"/>
                </a:moveTo>
                <a:cubicBezTo>
                  <a:pt x="155957" y="27955"/>
                  <a:pt x="157068" y="34900"/>
                  <a:pt x="153457" y="39866"/>
                </a:cubicBezTo>
                <a:lnTo>
                  <a:pt x="64557" y="162104"/>
                </a:lnTo>
                <a:cubicBezTo>
                  <a:pt x="62647" y="164743"/>
                  <a:pt x="59695" y="166375"/>
                  <a:pt x="56431" y="166653"/>
                </a:cubicBezTo>
                <a:cubicBezTo>
                  <a:pt x="53166" y="166931"/>
                  <a:pt x="50006" y="165715"/>
                  <a:pt x="47714" y="163423"/>
                </a:cubicBezTo>
                <a:lnTo>
                  <a:pt x="3264" y="118973"/>
                </a:lnTo>
                <a:cubicBezTo>
                  <a:pt x="-1077" y="114632"/>
                  <a:pt x="-1077" y="107583"/>
                  <a:pt x="3264" y="103242"/>
                </a:cubicBezTo>
                <a:cubicBezTo>
                  <a:pt x="7605" y="98901"/>
                  <a:pt x="14655" y="98901"/>
                  <a:pt x="18995" y="103242"/>
                </a:cubicBezTo>
                <a:lnTo>
                  <a:pt x="54243" y="138490"/>
                </a:lnTo>
                <a:lnTo>
                  <a:pt x="135503" y="26774"/>
                </a:lnTo>
                <a:cubicBezTo>
                  <a:pt x="139115" y="21808"/>
                  <a:pt x="146060" y="20697"/>
                  <a:pt x="151026" y="24309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0" name="Text 18"/>
          <p:cNvSpPr/>
          <p:nvPr/>
        </p:nvSpPr>
        <p:spPr>
          <a:xfrm>
            <a:off x="1143000" y="47752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MySQL 8.0 主数据库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50800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33400" y="55372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4" name="Shape 22"/>
          <p:cNvSpPr/>
          <p:nvPr/>
        </p:nvSpPr>
        <p:spPr>
          <a:xfrm>
            <a:off x="850900" y="5562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5" name="Text 23"/>
          <p:cNvSpPr/>
          <p:nvPr/>
        </p:nvSpPr>
        <p:spPr>
          <a:xfrm>
            <a:off x="1295400" y="55372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安全与权限控制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12800" y="60452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 Security实现JWT认证与RBAC权限模型。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800" y="6527800"/>
            <a:ext cx="7188200" cy="457200"/>
          </a:xfrm>
          <a:custGeom>
            <a:avLst/>
            <a:gdLst/>
            <a:ahLst/>
            <a:cxnLst/>
            <a:rect l="l" t="t" r="r" b="b"/>
            <a:pathLst>
              <a:path w="7188200" h="457200">
                <a:moveTo>
                  <a:pt x="50799" y="0"/>
                </a:moveTo>
                <a:lnTo>
                  <a:pt x="7137401" y="0"/>
                </a:lnTo>
                <a:cubicBezTo>
                  <a:pt x="7165456" y="0"/>
                  <a:pt x="7188200" y="22744"/>
                  <a:pt x="7188200" y="50799"/>
                </a:cubicBezTo>
                <a:lnTo>
                  <a:pt x="7188200" y="406401"/>
                </a:lnTo>
                <a:cubicBezTo>
                  <a:pt x="7188200" y="434456"/>
                  <a:pt x="7165456" y="457200"/>
                  <a:pt x="713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28" name="Text 26"/>
          <p:cNvSpPr/>
          <p:nvPr/>
        </p:nvSpPr>
        <p:spPr>
          <a:xfrm>
            <a:off x="914400" y="6629400"/>
            <a:ext cx="7073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JWT Token + RBAC权限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80400" y="1930400"/>
            <a:ext cx="50800" cy="1447800"/>
          </a:xfrm>
          <a:custGeom>
            <a:avLst/>
            <a:gdLst/>
            <a:ahLst/>
            <a:cxnLst/>
            <a:rect l="l" t="t" r="r" b="b"/>
            <a:pathLst>
              <a:path w="50800" h="1447800">
                <a:moveTo>
                  <a:pt x="0" y="0"/>
                </a:moveTo>
                <a:lnTo>
                  <a:pt x="50800" y="0"/>
                </a:lnTo>
                <a:lnTo>
                  <a:pt x="50800" y="1447800"/>
                </a:lnTo>
                <a:lnTo>
                  <a:pt x="0" y="14478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30" name="Shape 28"/>
          <p:cNvSpPr/>
          <p:nvPr/>
        </p:nvSpPr>
        <p:spPr>
          <a:xfrm>
            <a:off x="8578850" y="1955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33410" y="57805"/>
                </a:moveTo>
                <a:lnTo>
                  <a:pt x="133410" y="87332"/>
                </a:lnTo>
                <a:lnTo>
                  <a:pt x="133707" y="87630"/>
                </a:lnTo>
                <a:cubicBezTo>
                  <a:pt x="137577" y="38576"/>
                  <a:pt x="178594" y="0"/>
                  <a:pt x="228660" y="0"/>
                </a:cubicBezTo>
                <a:cubicBezTo>
                  <a:pt x="240625" y="0"/>
                  <a:pt x="252115" y="2203"/>
                  <a:pt x="262652" y="6251"/>
                </a:cubicBezTo>
                <a:cubicBezTo>
                  <a:pt x="268605" y="8513"/>
                  <a:pt x="269677" y="16073"/>
                  <a:pt x="265212" y="20598"/>
                </a:cubicBezTo>
                <a:lnTo>
                  <a:pt x="212408" y="73402"/>
                </a:lnTo>
                <a:cubicBezTo>
                  <a:pt x="210622" y="75188"/>
                  <a:pt x="209610" y="77629"/>
                  <a:pt x="209610" y="80129"/>
                </a:cubicBezTo>
                <a:lnTo>
                  <a:pt x="209610" y="104775"/>
                </a:lnTo>
                <a:cubicBezTo>
                  <a:pt x="209610" y="110014"/>
                  <a:pt x="213896" y="114300"/>
                  <a:pt x="219135" y="114300"/>
                </a:cubicBezTo>
                <a:lnTo>
                  <a:pt x="243780" y="114300"/>
                </a:lnTo>
                <a:cubicBezTo>
                  <a:pt x="246281" y="114300"/>
                  <a:pt x="248722" y="113288"/>
                  <a:pt x="250508" y="111502"/>
                </a:cubicBezTo>
                <a:lnTo>
                  <a:pt x="303312" y="58698"/>
                </a:lnTo>
                <a:cubicBezTo>
                  <a:pt x="307836" y="54173"/>
                  <a:pt x="315397" y="55305"/>
                  <a:pt x="317659" y="61258"/>
                </a:cubicBezTo>
                <a:cubicBezTo>
                  <a:pt x="321707" y="71795"/>
                  <a:pt x="323910" y="83284"/>
                  <a:pt x="323910" y="95250"/>
                </a:cubicBezTo>
                <a:cubicBezTo>
                  <a:pt x="323910" y="131326"/>
                  <a:pt x="303848" y="162758"/>
                  <a:pt x="274201" y="178891"/>
                </a:cubicBezTo>
                <a:lnTo>
                  <a:pt x="322719" y="227409"/>
                </a:lnTo>
                <a:cubicBezTo>
                  <a:pt x="333851" y="238542"/>
                  <a:pt x="333851" y="256639"/>
                  <a:pt x="322719" y="267831"/>
                </a:cubicBezTo>
                <a:lnTo>
                  <a:pt x="286941" y="303609"/>
                </a:lnTo>
                <a:cubicBezTo>
                  <a:pt x="275808" y="314742"/>
                  <a:pt x="257711" y="314742"/>
                  <a:pt x="246519" y="303609"/>
                </a:cubicBezTo>
                <a:lnTo>
                  <a:pt x="171510" y="228600"/>
                </a:lnTo>
                <a:cubicBezTo>
                  <a:pt x="155198" y="212288"/>
                  <a:pt x="151507" y="188178"/>
                  <a:pt x="160496" y="168295"/>
                </a:cubicBezTo>
                <a:lnTo>
                  <a:pt x="106501" y="114300"/>
                </a:lnTo>
                <a:lnTo>
                  <a:pt x="76974" y="114300"/>
                </a:lnTo>
                <a:cubicBezTo>
                  <a:pt x="70604" y="114300"/>
                  <a:pt x="64651" y="111145"/>
                  <a:pt x="61139" y="105847"/>
                </a:cubicBezTo>
                <a:lnTo>
                  <a:pt x="13930" y="35064"/>
                </a:lnTo>
                <a:cubicBezTo>
                  <a:pt x="11430" y="31313"/>
                  <a:pt x="11906" y="26253"/>
                  <a:pt x="15121" y="23039"/>
                </a:cubicBezTo>
                <a:lnTo>
                  <a:pt x="42148" y="-3989"/>
                </a:lnTo>
                <a:cubicBezTo>
                  <a:pt x="45363" y="-7203"/>
                  <a:pt x="50363" y="-7680"/>
                  <a:pt x="54173" y="-5179"/>
                </a:cubicBezTo>
                <a:lnTo>
                  <a:pt x="124956" y="41970"/>
                </a:lnTo>
                <a:cubicBezTo>
                  <a:pt x="130254" y="45482"/>
                  <a:pt x="133410" y="51435"/>
                  <a:pt x="133410" y="57805"/>
                </a:cubicBezTo>
                <a:close/>
                <a:moveTo>
                  <a:pt x="128349" y="176570"/>
                </a:moveTo>
                <a:cubicBezTo>
                  <a:pt x="124599" y="198596"/>
                  <a:pt x="129778" y="221873"/>
                  <a:pt x="144066" y="240506"/>
                </a:cubicBezTo>
                <a:lnTo>
                  <a:pt x="87511" y="297001"/>
                </a:lnTo>
                <a:cubicBezTo>
                  <a:pt x="70783" y="313730"/>
                  <a:pt x="43636" y="313730"/>
                  <a:pt x="26908" y="297001"/>
                </a:cubicBezTo>
                <a:cubicBezTo>
                  <a:pt x="10180" y="280273"/>
                  <a:pt x="10180" y="253127"/>
                  <a:pt x="26908" y="236399"/>
                </a:cubicBezTo>
                <a:lnTo>
                  <a:pt x="107513" y="155793"/>
                </a:lnTo>
                <a:lnTo>
                  <a:pt x="128349" y="176629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31" name="Text 29"/>
          <p:cNvSpPr/>
          <p:nvPr/>
        </p:nvSpPr>
        <p:spPr>
          <a:xfrm>
            <a:off x="9042400" y="1930400"/>
            <a:ext cx="165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开发工具集成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59800" y="24384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集成Lombok等工具，提升开发效率。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989667" y="2921000"/>
            <a:ext cx="2324100" cy="457200"/>
          </a:xfrm>
          <a:custGeom>
            <a:avLst/>
            <a:gdLst/>
            <a:ahLst/>
            <a:cxnLst/>
            <a:rect l="l" t="t" r="r" b="b"/>
            <a:pathLst>
              <a:path w="2324100" h="457200">
                <a:moveTo>
                  <a:pt x="50799" y="0"/>
                </a:moveTo>
                <a:lnTo>
                  <a:pt x="2273301" y="0"/>
                </a:lnTo>
                <a:cubicBezTo>
                  <a:pt x="2301356" y="0"/>
                  <a:pt x="2324100" y="22744"/>
                  <a:pt x="2324100" y="50799"/>
                </a:cubicBezTo>
                <a:lnTo>
                  <a:pt x="2324100" y="406401"/>
                </a:lnTo>
                <a:cubicBezTo>
                  <a:pt x="2324100" y="434456"/>
                  <a:pt x="2301356" y="457200"/>
                  <a:pt x="2273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6" name="Text 34"/>
          <p:cNvSpPr/>
          <p:nvPr/>
        </p:nvSpPr>
        <p:spPr>
          <a:xfrm>
            <a:off x="11046817" y="3022600"/>
            <a:ext cx="2209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Lombok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1350" y="3587750"/>
            <a:ext cx="7480300" cy="3111500"/>
          </a:xfrm>
          <a:custGeom>
            <a:avLst/>
            <a:gdLst/>
            <a:ahLst/>
            <a:cxnLst/>
            <a:rect l="l" t="t" r="r" b="b"/>
            <a:pathLst>
              <a:path w="7480300" h="3111500">
                <a:moveTo>
                  <a:pt x="50811" y="0"/>
                </a:moveTo>
                <a:lnTo>
                  <a:pt x="7429489" y="0"/>
                </a:lnTo>
                <a:cubicBezTo>
                  <a:pt x="7457551" y="0"/>
                  <a:pt x="7480300" y="22749"/>
                  <a:pt x="7480300" y="50811"/>
                </a:cubicBezTo>
                <a:lnTo>
                  <a:pt x="7480300" y="3060689"/>
                </a:lnTo>
                <a:cubicBezTo>
                  <a:pt x="7480300" y="3088751"/>
                  <a:pt x="7457551" y="3111500"/>
                  <a:pt x="7429489" y="3111500"/>
                </a:cubicBezTo>
                <a:lnTo>
                  <a:pt x="50811" y="3111500"/>
                </a:lnTo>
                <a:cubicBezTo>
                  <a:pt x="22749" y="3111500"/>
                  <a:pt x="0" y="3088751"/>
                  <a:pt x="0" y="3060689"/>
                </a:cubicBezTo>
                <a:lnTo>
                  <a:pt x="0" y="50811"/>
                </a:lnTo>
                <a:cubicBezTo>
                  <a:pt x="0" y="22749"/>
                  <a:pt x="22749" y="0"/>
                  <a:pt x="5081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70900" y="3797300"/>
            <a:ext cx="7175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技术架构层次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496300" y="4305300"/>
            <a:ext cx="7035800" cy="660400"/>
          </a:xfrm>
          <a:custGeom>
            <a:avLst/>
            <a:gdLst/>
            <a:ahLst/>
            <a:cxnLst/>
            <a:rect l="l" t="t" r="r" b="b"/>
            <a:pathLst>
              <a:path w="7035800" h="660400">
                <a:moveTo>
                  <a:pt x="50798" y="0"/>
                </a:moveTo>
                <a:lnTo>
                  <a:pt x="6985002" y="0"/>
                </a:lnTo>
                <a:cubicBezTo>
                  <a:pt x="7013057" y="0"/>
                  <a:pt x="7035800" y="22743"/>
                  <a:pt x="7035800" y="50798"/>
                </a:cubicBezTo>
                <a:lnTo>
                  <a:pt x="7035800" y="609602"/>
                </a:lnTo>
                <a:cubicBezTo>
                  <a:pt x="7035800" y="637657"/>
                  <a:pt x="7013057" y="660400"/>
                  <a:pt x="69850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42" name="Shape 40"/>
          <p:cNvSpPr/>
          <p:nvPr/>
        </p:nvSpPr>
        <p:spPr>
          <a:xfrm>
            <a:off x="8496300" y="43053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Text 41"/>
          <p:cNvSpPr/>
          <p:nvPr/>
        </p:nvSpPr>
        <p:spPr>
          <a:xfrm>
            <a:off x="8623300" y="44069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Controller层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23300" y="4660900"/>
            <a:ext cx="688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接收请求、参数校验、返回响应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96300" y="5067300"/>
            <a:ext cx="7035800" cy="660400"/>
          </a:xfrm>
          <a:custGeom>
            <a:avLst/>
            <a:gdLst/>
            <a:ahLst/>
            <a:cxnLst/>
            <a:rect l="l" t="t" r="r" b="b"/>
            <a:pathLst>
              <a:path w="7035800" h="660400">
                <a:moveTo>
                  <a:pt x="50798" y="0"/>
                </a:moveTo>
                <a:lnTo>
                  <a:pt x="6985002" y="0"/>
                </a:lnTo>
                <a:cubicBezTo>
                  <a:pt x="7013057" y="0"/>
                  <a:pt x="7035800" y="22743"/>
                  <a:pt x="7035800" y="50798"/>
                </a:cubicBezTo>
                <a:lnTo>
                  <a:pt x="7035800" y="609602"/>
                </a:lnTo>
                <a:cubicBezTo>
                  <a:pt x="7035800" y="637657"/>
                  <a:pt x="7013057" y="660400"/>
                  <a:pt x="69850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6" name="Shape 44"/>
          <p:cNvSpPr/>
          <p:nvPr/>
        </p:nvSpPr>
        <p:spPr>
          <a:xfrm>
            <a:off x="8496300" y="50673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47" name="Text 45"/>
          <p:cNvSpPr/>
          <p:nvPr/>
        </p:nvSpPr>
        <p:spPr>
          <a:xfrm>
            <a:off x="8623300" y="51689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Service层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23300" y="5422900"/>
            <a:ext cx="688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业务逻辑处理、事务管理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96300" y="5829300"/>
            <a:ext cx="7035800" cy="660400"/>
          </a:xfrm>
          <a:custGeom>
            <a:avLst/>
            <a:gdLst/>
            <a:ahLst/>
            <a:cxnLst/>
            <a:rect l="l" t="t" r="r" b="b"/>
            <a:pathLst>
              <a:path w="7035800" h="660400">
                <a:moveTo>
                  <a:pt x="50798" y="0"/>
                </a:moveTo>
                <a:lnTo>
                  <a:pt x="6985002" y="0"/>
                </a:lnTo>
                <a:cubicBezTo>
                  <a:pt x="7013057" y="0"/>
                  <a:pt x="7035800" y="22743"/>
                  <a:pt x="7035800" y="50798"/>
                </a:cubicBezTo>
                <a:lnTo>
                  <a:pt x="7035800" y="609602"/>
                </a:lnTo>
                <a:cubicBezTo>
                  <a:pt x="7035800" y="637657"/>
                  <a:pt x="7013057" y="660400"/>
                  <a:pt x="69850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50" name="Shape 48"/>
          <p:cNvSpPr/>
          <p:nvPr/>
        </p:nvSpPr>
        <p:spPr>
          <a:xfrm>
            <a:off x="8496300" y="58293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5080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50800" y="660400"/>
                </a:lnTo>
                <a:cubicBezTo>
                  <a:pt x="22763" y="660400"/>
                  <a:pt x="0" y="637637"/>
                  <a:pt x="0" y="609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1" name="Text 49"/>
          <p:cNvSpPr/>
          <p:nvPr/>
        </p:nvSpPr>
        <p:spPr>
          <a:xfrm>
            <a:off x="8623300" y="5930900"/>
            <a:ext cx="68961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Repository层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23300" y="6184900"/>
            <a:ext cx="68834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数据访问、ORM映射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FRONTEND TECHNOLOGY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前端技术栈:Vue3+Element Plus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2565400"/>
          </a:xfrm>
          <a:custGeom>
            <a:avLst/>
            <a:gdLst/>
            <a:ahLst/>
            <a:cxnLst/>
            <a:rect l="l" t="t" r="r" b="b"/>
            <a:pathLst>
              <a:path w="50800" h="2565400">
                <a:moveTo>
                  <a:pt x="0" y="0"/>
                </a:moveTo>
                <a:lnTo>
                  <a:pt x="50800" y="0"/>
                </a:lnTo>
                <a:lnTo>
                  <a:pt x="50800" y="2565400"/>
                </a:lnTo>
                <a:lnTo>
                  <a:pt x="0" y="2565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Shape 4"/>
          <p:cNvSpPr/>
          <p:nvPr/>
        </p:nvSpPr>
        <p:spPr>
          <a:xfrm>
            <a:off x="869950" y="1955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12467" y="38279"/>
                </a:moveTo>
                <a:lnTo>
                  <a:pt x="166688" y="38279"/>
                </a:lnTo>
                <a:lnTo>
                  <a:pt x="133350" y="91023"/>
                </a:lnTo>
                <a:lnTo>
                  <a:pt x="104775" y="38279"/>
                </a:lnTo>
                <a:lnTo>
                  <a:pt x="0" y="38279"/>
                </a:lnTo>
                <a:lnTo>
                  <a:pt x="133350" y="266700"/>
                </a:lnTo>
                <a:lnTo>
                  <a:pt x="266700" y="38279"/>
                </a:lnTo>
                <a:lnTo>
                  <a:pt x="212467" y="38279"/>
                </a:lnTo>
                <a:close/>
                <a:moveTo>
                  <a:pt x="33159" y="57329"/>
                </a:moveTo>
                <a:lnTo>
                  <a:pt x="65187" y="57329"/>
                </a:lnTo>
                <a:lnTo>
                  <a:pt x="133350" y="175320"/>
                </a:lnTo>
                <a:lnTo>
                  <a:pt x="201454" y="57329"/>
                </a:lnTo>
                <a:lnTo>
                  <a:pt x="233482" y="57329"/>
                </a:lnTo>
                <a:lnTo>
                  <a:pt x="133350" y="228898"/>
                </a:lnTo>
                <a:lnTo>
                  <a:pt x="33159" y="57329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Text 5"/>
          <p:cNvSpPr/>
          <p:nvPr/>
        </p:nvSpPr>
        <p:spPr>
          <a:xfrm>
            <a:off x="1295400" y="1930400"/>
            <a:ext cx="1778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Vue3核心特性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438400"/>
            <a:ext cx="985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采用Vue3框架，利用组合式API、响应式系统等特性构建用户界面。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" y="2921000"/>
            <a:ext cx="9728200" cy="457200"/>
          </a:xfrm>
          <a:custGeom>
            <a:avLst/>
            <a:gdLst/>
            <a:ahLst/>
            <a:cxnLst/>
            <a:rect l="l" t="t" r="r" b="b"/>
            <a:pathLst>
              <a:path w="9728200" h="457200">
                <a:moveTo>
                  <a:pt x="50799" y="0"/>
                </a:moveTo>
                <a:lnTo>
                  <a:pt x="9677401" y="0"/>
                </a:lnTo>
                <a:cubicBezTo>
                  <a:pt x="9705456" y="0"/>
                  <a:pt x="9728200" y="22744"/>
                  <a:pt x="9728200" y="50799"/>
                </a:cubicBezTo>
                <a:lnTo>
                  <a:pt x="9728200" y="406401"/>
                </a:lnTo>
                <a:cubicBezTo>
                  <a:pt x="9728200" y="434456"/>
                  <a:pt x="9705456" y="457200"/>
                  <a:pt x="967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838200" y="29210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5080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50800" y="457200"/>
                </a:lnTo>
                <a:cubicBezTo>
                  <a:pt x="22763" y="457200"/>
                  <a:pt x="0" y="434437"/>
                  <a:pt x="0" y="40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1" name="Text 9"/>
          <p:cNvSpPr/>
          <p:nvPr/>
        </p:nvSpPr>
        <p:spPr>
          <a:xfrm>
            <a:off x="965200" y="3022600"/>
            <a:ext cx="958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组合式API(Composition API)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" y="3479800"/>
            <a:ext cx="9728200" cy="457200"/>
          </a:xfrm>
          <a:custGeom>
            <a:avLst/>
            <a:gdLst/>
            <a:ahLst/>
            <a:cxnLst/>
            <a:rect l="l" t="t" r="r" b="b"/>
            <a:pathLst>
              <a:path w="9728200" h="457200">
                <a:moveTo>
                  <a:pt x="50799" y="0"/>
                </a:moveTo>
                <a:lnTo>
                  <a:pt x="9677401" y="0"/>
                </a:lnTo>
                <a:cubicBezTo>
                  <a:pt x="9705456" y="0"/>
                  <a:pt x="9728200" y="22744"/>
                  <a:pt x="9728200" y="50799"/>
                </a:cubicBezTo>
                <a:lnTo>
                  <a:pt x="9728200" y="406401"/>
                </a:lnTo>
                <a:cubicBezTo>
                  <a:pt x="9728200" y="434456"/>
                  <a:pt x="9705456" y="457200"/>
                  <a:pt x="967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838200" y="34798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5080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50800" y="457200"/>
                </a:lnTo>
                <a:cubicBezTo>
                  <a:pt x="22763" y="457200"/>
                  <a:pt x="0" y="434437"/>
                  <a:pt x="0" y="40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965200" y="3581400"/>
            <a:ext cx="958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响应式系统(Reactive)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" y="4038600"/>
            <a:ext cx="9728200" cy="457200"/>
          </a:xfrm>
          <a:custGeom>
            <a:avLst/>
            <a:gdLst/>
            <a:ahLst/>
            <a:cxnLst/>
            <a:rect l="l" t="t" r="r" b="b"/>
            <a:pathLst>
              <a:path w="9728200" h="457200">
                <a:moveTo>
                  <a:pt x="50799" y="0"/>
                </a:moveTo>
                <a:lnTo>
                  <a:pt x="9677401" y="0"/>
                </a:lnTo>
                <a:cubicBezTo>
                  <a:pt x="9705456" y="0"/>
                  <a:pt x="9728200" y="22744"/>
                  <a:pt x="9728200" y="50799"/>
                </a:cubicBezTo>
                <a:lnTo>
                  <a:pt x="9728200" y="406401"/>
                </a:lnTo>
                <a:cubicBezTo>
                  <a:pt x="9728200" y="434456"/>
                  <a:pt x="9705456" y="457200"/>
                  <a:pt x="96774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838200" y="4038600"/>
            <a:ext cx="50800" cy="457200"/>
          </a:xfrm>
          <a:custGeom>
            <a:avLst/>
            <a:gdLst/>
            <a:ahLst/>
            <a:cxnLst/>
            <a:rect l="l" t="t" r="r" b="b"/>
            <a:pathLst>
              <a:path w="50800" h="457200">
                <a:moveTo>
                  <a:pt x="50800" y="0"/>
                </a:moveTo>
                <a:lnTo>
                  <a:pt x="50800" y="0"/>
                </a:lnTo>
                <a:lnTo>
                  <a:pt x="50800" y="457200"/>
                </a:lnTo>
                <a:lnTo>
                  <a:pt x="50800" y="457200"/>
                </a:lnTo>
                <a:cubicBezTo>
                  <a:pt x="22763" y="457200"/>
                  <a:pt x="0" y="434437"/>
                  <a:pt x="0" y="4064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7" name="Text 15"/>
          <p:cNvSpPr/>
          <p:nvPr/>
        </p:nvSpPr>
        <p:spPr>
          <a:xfrm>
            <a:off x="965200" y="4140200"/>
            <a:ext cx="958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组件化开发(Components)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3400" y="4699000"/>
            <a:ext cx="50800" cy="1397000"/>
          </a:xfrm>
          <a:custGeom>
            <a:avLst/>
            <a:gdLst/>
            <a:ahLst/>
            <a:cxnLst/>
            <a:rect l="l" t="t" r="r" b="b"/>
            <a:pathLst>
              <a:path w="50800" h="1397000">
                <a:moveTo>
                  <a:pt x="0" y="0"/>
                </a:moveTo>
                <a:lnTo>
                  <a:pt x="50800" y="0"/>
                </a:lnTo>
                <a:lnTo>
                  <a:pt x="50800" y="1397000"/>
                </a:lnTo>
                <a:lnTo>
                  <a:pt x="0" y="13970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9" name="Shape 17"/>
          <p:cNvSpPr/>
          <p:nvPr/>
        </p:nvSpPr>
        <p:spPr>
          <a:xfrm>
            <a:off x="850900" y="4724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0" name="Text 18"/>
          <p:cNvSpPr/>
          <p:nvPr/>
        </p:nvSpPr>
        <p:spPr>
          <a:xfrm>
            <a:off x="1295400" y="4699000"/>
            <a:ext cx="24892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Element Plus组件库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5207000"/>
            <a:ext cx="98552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基于Element Plus构建界面，提供丰富的UI组件。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8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8763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Table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766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5" name="Text 23"/>
          <p:cNvSpPr/>
          <p:nvPr/>
        </p:nvSpPr>
        <p:spPr>
          <a:xfrm>
            <a:off x="33401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Form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7404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58039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Button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04200" y="5689600"/>
            <a:ext cx="2362200" cy="406400"/>
          </a:xfrm>
          <a:custGeom>
            <a:avLst/>
            <a:gdLst/>
            <a:ahLst/>
            <a:cxnLst/>
            <a:rect l="l" t="t" r="r" b="b"/>
            <a:pathLst>
              <a:path w="2362200" h="406400">
                <a:moveTo>
                  <a:pt x="50800" y="0"/>
                </a:moveTo>
                <a:lnTo>
                  <a:pt x="2311400" y="0"/>
                </a:lnTo>
                <a:cubicBezTo>
                  <a:pt x="2339437" y="0"/>
                  <a:pt x="2362200" y="22763"/>
                  <a:pt x="2362200" y="50800"/>
                </a:cubicBezTo>
                <a:lnTo>
                  <a:pt x="2362200" y="355600"/>
                </a:lnTo>
                <a:cubicBezTo>
                  <a:pt x="2362200" y="383637"/>
                  <a:pt x="2339437" y="406400"/>
                  <a:pt x="2311400" y="406400"/>
                </a:cubicBezTo>
                <a:lnTo>
                  <a:pt x="50800" y="406400"/>
                </a:lnTo>
                <a:cubicBezTo>
                  <a:pt x="22763" y="406400"/>
                  <a:pt x="0" y="383637"/>
                  <a:pt x="0" y="3556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8267700" y="5791200"/>
            <a:ext cx="22352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Dialog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96600" y="1930400"/>
            <a:ext cx="50800" cy="2692400"/>
          </a:xfrm>
          <a:custGeom>
            <a:avLst/>
            <a:gdLst/>
            <a:ahLst/>
            <a:cxnLst/>
            <a:rect l="l" t="t" r="r" b="b"/>
            <a:pathLst>
              <a:path w="50800" h="2692400">
                <a:moveTo>
                  <a:pt x="0" y="0"/>
                </a:moveTo>
                <a:lnTo>
                  <a:pt x="50800" y="0"/>
                </a:lnTo>
                <a:lnTo>
                  <a:pt x="50800" y="2692400"/>
                </a:lnTo>
                <a:lnTo>
                  <a:pt x="0" y="2692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31" name="Shape 29"/>
          <p:cNvSpPr/>
          <p:nvPr/>
        </p:nvSpPr>
        <p:spPr>
          <a:xfrm>
            <a:off x="11214100" y="1955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9069" y="-774"/>
                </a:moveTo>
                <a:cubicBezTo>
                  <a:pt x="158770" y="-6727"/>
                  <a:pt x="146030" y="-6727"/>
                  <a:pt x="135731" y="-774"/>
                </a:cubicBezTo>
                <a:lnTo>
                  <a:pt x="85606" y="28158"/>
                </a:lnTo>
                <a:cubicBezTo>
                  <a:pt x="75307" y="34111"/>
                  <a:pt x="68937" y="45125"/>
                  <a:pt x="68937" y="57031"/>
                </a:cubicBezTo>
                <a:lnTo>
                  <a:pt x="68937" y="117693"/>
                </a:lnTo>
                <a:lnTo>
                  <a:pt x="16371" y="148054"/>
                </a:lnTo>
                <a:cubicBezTo>
                  <a:pt x="6072" y="154007"/>
                  <a:pt x="-298" y="165021"/>
                  <a:pt x="-298" y="176927"/>
                </a:cubicBezTo>
                <a:lnTo>
                  <a:pt x="-298" y="234851"/>
                </a:lnTo>
                <a:cubicBezTo>
                  <a:pt x="-298" y="246757"/>
                  <a:pt x="6072" y="257770"/>
                  <a:pt x="16371" y="263723"/>
                </a:cubicBezTo>
                <a:lnTo>
                  <a:pt x="66556" y="292656"/>
                </a:lnTo>
                <a:cubicBezTo>
                  <a:pt x="76855" y="298609"/>
                  <a:pt x="89595" y="298609"/>
                  <a:pt x="99893" y="292656"/>
                </a:cubicBezTo>
                <a:lnTo>
                  <a:pt x="152460" y="262295"/>
                </a:lnTo>
                <a:lnTo>
                  <a:pt x="205026" y="292656"/>
                </a:lnTo>
                <a:cubicBezTo>
                  <a:pt x="215325" y="298609"/>
                  <a:pt x="228064" y="298609"/>
                  <a:pt x="238363" y="292656"/>
                </a:cubicBezTo>
                <a:lnTo>
                  <a:pt x="288429" y="263723"/>
                </a:lnTo>
                <a:cubicBezTo>
                  <a:pt x="298728" y="257770"/>
                  <a:pt x="305098" y="246757"/>
                  <a:pt x="305098" y="234851"/>
                </a:cubicBezTo>
                <a:lnTo>
                  <a:pt x="305098" y="176927"/>
                </a:lnTo>
                <a:cubicBezTo>
                  <a:pt x="305098" y="165021"/>
                  <a:pt x="298728" y="154007"/>
                  <a:pt x="288429" y="148054"/>
                </a:cubicBezTo>
                <a:lnTo>
                  <a:pt x="235863" y="117693"/>
                </a:lnTo>
                <a:lnTo>
                  <a:pt x="235863" y="57031"/>
                </a:lnTo>
                <a:cubicBezTo>
                  <a:pt x="235863" y="45125"/>
                  <a:pt x="229493" y="34111"/>
                  <a:pt x="219194" y="28158"/>
                </a:cubicBezTo>
                <a:lnTo>
                  <a:pt x="169069" y="-774"/>
                </a:lnTo>
                <a:close/>
                <a:moveTo>
                  <a:pt x="138113" y="174188"/>
                </a:moveTo>
                <a:lnTo>
                  <a:pt x="138113" y="237589"/>
                </a:lnTo>
                <a:lnTo>
                  <a:pt x="85546" y="267950"/>
                </a:lnTo>
                <a:cubicBezTo>
                  <a:pt x="84832" y="268367"/>
                  <a:pt x="83999" y="268605"/>
                  <a:pt x="83165" y="268605"/>
                </a:cubicBezTo>
                <a:lnTo>
                  <a:pt x="83165" y="205919"/>
                </a:lnTo>
                <a:lnTo>
                  <a:pt x="138113" y="174188"/>
                </a:lnTo>
                <a:close/>
                <a:moveTo>
                  <a:pt x="275868" y="174546"/>
                </a:moveTo>
                <a:cubicBezTo>
                  <a:pt x="276285" y="175260"/>
                  <a:pt x="276523" y="176093"/>
                  <a:pt x="276523" y="176927"/>
                </a:cubicBezTo>
                <a:lnTo>
                  <a:pt x="276523" y="234851"/>
                </a:lnTo>
                <a:cubicBezTo>
                  <a:pt x="276523" y="236577"/>
                  <a:pt x="275630" y="238125"/>
                  <a:pt x="274141" y="238958"/>
                </a:cubicBezTo>
                <a:lnTo>
                  <a:pt x="223957" y="267891"/>
                </a:lnTo>
                <a:cubicBezTo>
                  <a:pt x="223242" y="268307"/>
                  <a:pt x="222409" y="268545"/>
                  <a:pt x="221575" y="268545"/>
                </a:cubicBezTo>
                <a:lnTo>
                  <a:pt x="221575" y="205859"/>
                </a:lnTo>
                <a:lnTo>
                  <a:pt x="275868" y="174546"/>
                </a:lnTo>
                <a:close/>
                <a:moveTo>
                  <a:pt x="207347" y="57031"/>
                </a:moveTo>
                <a:lnTo>
                  <a:pt x="207347" y="117693"/>
                </a:lnTo>
                <a:lnTo>
                  <a:pt x="152400" y="149423"/>
                </a:lnTo>
                <a:lnTo>
                  <a:pt x="152400" y="86023"/>
                </a:lnTo>
                <a:lnTo>
                  <a:pt x="206692" y="54709"/>
                </a:lnTo>
                <a:cubicBezTo>
                  <a:pt x="207109" y="55424"/>
                  <a:pt x="207347" y="56257"/>
                  <a:pt x="207347" y="5709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2" name="Text 30"/>
          <p:cNvSpPr/>
          <p:nvPr/>
        </p:nvSpPr>
        <p:spPr>
          <a:xfrm>
            <a:off x="11658600" y="1930400"/>
            <a:ext cx="16383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Vue生态工具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176000" y="24384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34" name="Text 32"/>
          <p:cNvSpPr/>
          <p:nvPr/>
        </p:nvSpPr>
        <p:spPr>
          <a:xfrm>
            <a:off x="11277600" y="25400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Vuex → Pinia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277600" y="27940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状态管理工具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1176000" y="32004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11277600" y="33020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Vue Router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277600" y="35560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路由管理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176000" y="39624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40" name="Text 38"/>
          <p:cNvSpPr/>
          <p:nvPr/>
        </p:nvSpPr>
        <p:spPr>
          <a:xfrm>
            <a:off x="11277600" y="40640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Axios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277600" y="43180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网络请求库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96600" y="4826000"/>
            <a:ext cx="50800" cy="1930400"/>
          </a:xfrm>
          <a:custGeom>
            <a:avLst/>
            <a:gdLst/>
            <a:ahLst/>
            <a:cxnLst/>
            <a:rect l="l" t="t" r="r" b="b"/>
            <a:pathLst>
              <a:path w="50800" h="1930400">
                <a:moveTo>
                  <a:pt x="0" y="0"/>
                </a:moveTo>
                <a:lnTo>
                  <a:pt x="50800" y="0"/>
                </a:lnTo>
                <a:lnTo>
                  <a:pt x="50800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43" name="Shape 41"/>
          <p:cNvSpPr/>
          <p:nvPr/>
        </p:nvSpPr>
        <p:spPr>
          <a:xfrm>
            <a:off x="11176000" y="4851400"/>
            <a:ext cx="381000" cy="304800"/>
          </a:xfrm>
          <a:custGeom>
            <a:avLst/>
            <a:gdLst/>
            <a:ahLst/>
            <a:cxnLst/>
            <a:rect l="l" t="t" r="r" b="b"/>
            <a:pathLst>
              <a:path w="381000" h="304800">
                <a:moveTo>
                  <a:pt x="342900" y="28575"/>
                </a:moveTo>
                <a:cubicBezTo>
                  <a:pt x="342900" y="21967"/>
                  <a:pt x="339507" y="15835"/>
                  <a:pt x="333851" y="12383"/>
                </a:cubicBezTo>
                <a:cubicBezTo>
                  <a:pt x="328196" y="8930"/>
                  <a:pt x="321231" y="8573"/>
                  <a:pt x="315337" y="11549"/>
                </a:cubicBezTo>
                <a:lnTo>
                  <a:pt x="246162" y="46137"/>
                </a:lnTo>
                <a:lnTo>
                  <a:pt x="139363" y="10478"/>
                </a:lnTo>
                <a:cubicBezTo>
                  <a:pt x="134541" y="8870"/>
                  <a:pt x="129361" y="9227"/>
                  <a:pt x="124837" y="11490"/>
                </a:cubicBezTo>
                <a:lnTo>
                  <a:pt x="48637" y="49590"/>
                </a:lnTo>
                <a:cubicBezTo>
                  <a:pt x="42148" y="52864"/>
                  <a:pt x="38100" y="59472"/>
                  <a:pt x="38100" y="66675"/>
                </a:cubicBezTo>
                <a:lnTo>
                  <a:pt x="38100" y="276225"/>
                </a:lnTo>
                <a:cubicBezTo>
                  <a:pt x="38100" y="282833"/>
                  <a:pt x="41493" y="288965"/>
                  <a:pt x="47149" y="292418"/>
                </a:cubicBezTo>
                <a:cubicBezTo>
                  <a:pt x="52804" y="295870"/>
                  <a:pt x="59769" y="296227"/>
                  <a:pt x="65663" y="293251"/>
                </a:cubicBezTo>
                <a:lnTo>
                  <a:pt x="134779" y="258663"/>
                </a:lnTo>
                <a:lnTo>
                  <a:pt x="237946" y="293072"/>
                </a:lnTo>
                <a:cubicBezTo>
                  <a:pt x="235387" y="289262"/>
                  <a:pt x="232886" y="285274"/>
                  <a:pt x="230445" y="281226"/>
                </a:cubicBezTo>
                <a:cubicBezTo>
                  <a:pt x="223897" y="270331"/>
                  <a:pt x="217408" y="257830"/>
                  <a:pt x="212586" y="244435"/>
                </a:cubicBezTo>
                <a:lnTo>
                  <a:pt x="152340" y="224373"/>
                </a:lnTo>
                <a:lnTo>
                  <a:pt x="152340" y="55007"/>
                </a:lnTo>
                <a:lnTo>
                  <a:pt x="228540" y="80427"/>
                </a:lnTo>
                <a:lnTo>
                  <a:pt x="228540" y="139541"/>
                </a:lnTo>
                <a:cubicBezTo>
                  <a:pt x="246995" y="118229"/>
                  <a:pt x="274380" y="104775"/>
                  <a:pt x="304740" y="104775"/>
                </a:cubicBezTo>
                <a:cubicBezTo>
                  <a:pt x="318195" y="104775"/>
                  <a:pt x="331053" y="107394"/>
                  <a:pt x="342840" y="112216"/>
                </a:cubicBezTo>
                <a:lnTo>
                  <a:pt x="342900" y="28575"/>
                </a:lnTo>
                <a:close/>
                <a:moveTo>
                  <a:pt x="304800" y="133350"/>
                </a:moveTo>
                <a:cubicBezTo>
                  <a:pt x="265331" y="133350"/>
                  <a:pt x="233363" y="164783"/>
                  <a:pt x="233363" y="203537"/>
                </a:cubicBezTo>
                <a:cubicBezTo>
                  <a:pt x="233363" y="244554"/>
                  <a:pt x="271522" y="293072"/>
                  <a:pt x="292060" y="316230"/>
                </a:cubicBezTo>
                <a:cubicBezTo>
                  <a:pt x="298966" y="323969"/>
                  <a:pt x="310694" y="323969"/>
                  <a:pt x="317599" y="316230"/>
                </a:cubicBezTo>
                <a:cubicBezTo>
                  <a:pt x="338138" y="293072"/>
                  <a:pt x="376297" y="244554"/>
                  <a:pt x="376297" y="203537"/>
                </a:cubicBezTo>
                <a:cubicBezTo>
                  <a:pt x="376297" y="164783"/>
                  <a:pt x="344329" y="133350"/>
                  <a:pt x="304860" y="133350"/>
                </a:cubicBezTo>
                <a:close/>
                <a:moveTo>
                  <a:pt x="280987" y="204787"/>
                </a:moveTo>
                <a:cubicBezTo>
                  <a:pt x="280987" y="191645"/>
                  <a:pt x="291658" y="180975"/>
                  <a:pt x="304800" y="180975"/>
                </a:cubicBezTo>
                <a:cubicBezTo>
                  <a:pt x="317942" y="180975"/>
                  <a:pt x="328613" y="191645"/>
                  <a:pt x="328613" y="204787"/>
                </a:cubicBezTo>
                <a:cubicBezTo>
                  <a:pt x="328613" y="217930"/>
                  <a:pt x="317942" y="228600"/>
                  <a:pt x="304800" y="228600"/>
                </a:cubicBezTo>
                <a:cubicBezTo>
                  <a:pt x="291658" y="228600"/>
                  <a:pt x="280987" y="217930"/>
                  <a:pt x="280987" y="204787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4" name="Text 42"/>
          <p:cNvSpPr/>
          <p:nvPr/>
        </p:nvSpPr>
        <p:spPr>
          <a:xfrm>
            <a:off x="11658600" y="48260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第三方服务集成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176000" y="53340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11277600" y="54356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高德地图API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277600" y="56896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地图展示、位置定位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176000" y="6096000"/>
            <a:ext cx="4572000" cy="660400"/>
          </a:xfrm>
          <a:custGeom>
            <a:avLst/>
            <a:gdLst/>
            <a:ahLst/>
            <a:cxnLst/>
            <a:rect l="l" t="t" r="r" b="b"/>
            <a:pathLst>
              <a:path w="4572000" h="660400">
                <a:moveTo>
                  <a:pt x="50798" y="0"/>
                </a:moveTo>
                <a:lnTo>
                  <a:pt x="4521202" y="0"/>
                </a:lnTo>
                <a:cubicBezTo>
                  <a:pt x="4549257" y="0"/>
                  <a:pt x="4572000" y="22743"/>
                  <a:pt x="4572000" y="50798"/>
                </a:cubicBezTo>
                <a:lnTo>
                  <a:pt x="4572000" y="609602"/>
                </a:lnTo>
                <a:cubicBezTo>
                  <a:pt x="4572000" y="637657"/>
                  <a:pt x="4549257" y="660400"/>
                  <a:pt x="4521202" y="660400"/>
                </a:cubicBezTo>
                <a:lnTo>
                  <a:pt x="50798" y="660400"/>
                </a:lnTo>
                <a:cubicBezTo>
                  <a:pt x="22743" y="660400"/>
                  <a:pt x="0" y="637657"/>
                  <a:pt x="0" y="6096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9" name="Text 47"/>
          <p:cNvSpPr/>
          <p:nvPr/>
        </p:nvSpPr>
        <p:spPr>
          <a:xfrm>
            <a:off x="11277600" y="6197600"/>
            <a:ext cx="445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二维码生成库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77600" y="6451600"/>
            <a:ext cx="444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QRCode.js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g.hcl.moe/df8c2a9c38710b8ead21a1d452892000d1d2df15.jpg"/>
          <p:cNvPicPr>
            <a:picLocks noChangeAspect="1"/>
          </p:cNvPicPr>
          <p:nvPr/>
        </p:nvPicPr>
        <p:blipFill>
          <a:blip r:embed="rId1">
            <a:alphaModFix amt="25000"/>
          </a:blip>
          <a:srcRect l="8626" r="8626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946400" cy="711200"/>
          </a:xfrm>
          <a:custGeom>
            <a:avLst/>
            <a:gdLst/>
            <a:ahLst/>
            <a:cxnLst/>
            <a:rect l="l" t="t" r="r" b="b"/>
            <a:pathLst>
              <a:path w="2946400" h="711200">
                <a:moveTo>
                  <a:pt x="0" y="0"/>
                </a:moveTo>
                <a:lnTo>
                  <a:pt x="2946400" y="0"/>
                </a:lnTo>
                <a:lnTo>
                  <a:pt x="29464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463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05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系统架构设计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展示系统的整体架构、模块划分与数据模型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系统总体架构:前后端分离模式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pic>
        <p:nvPicPr>
          <p:cNvPr id="5" name="Image 0" descr="https://kimi-img.moonshot.cn/pub/slides/25-12-20-20:02:27-d5390kte9ori8ep9i6ag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08000" y="1879600"/>
            <a:ext cx="10922000" cy="5842000"/>
          </a:xfrm>
          <a:prstGeom prst="roundRect">
            <a:avLst>
              <a:gd name="adj" fmla="val 0"/>
            </a:avLst>
          </a:prstGeom>
        </p:spPr>
      </p:pic>
      <p:sp>
        <p:nvSpPr>
          <p:cNvPr id="6" name="Shape 3"/>
          <p:cNvSpPr/>
          <p:nvPr/>
        </p:nvSpPr>
        <p:spPr>
          <a:xfrm>
            <a:off x="11690350" y="18859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931650" y="2146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5"/>
          <p:cNvSpPr/>
          <p:nvPr/>
        </p:nvSpPr>
        <p:spPr>
          <a:xfrm>
            <a:off x="12319000" y="20955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三层架构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99900" y="25527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 + 后端 + 数据库，职责清晰，便于并行开发与独立部署。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90350" y="35877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931650" y="3848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49337" y="74712"/>
                </a:moveTo>
                <a:lnTo>
                  <a:pt x="201712" y="122337"/>
                </a:lnTo>
                <a:cubicBezTo>
                  <a:pt x="197148" y="126901"/>
                  <a:pt x="190351" y="128240"/>
                  <a:pt x="184398" y="125760"/>
                </a:cubicBezTo>
                <a:cubicBezTo>
                  <a:pt x="178445" y="123279"/>
                  <a:pt x="174625" y="117525"/>
                  <a:pt x="174625" y="111125"/>
                </a:cubicBezTo>
                <a:lnTo>
                  <a:pt x="174625" y="79375"/>
                </a:lnTo>
                <a:lnTo>
                  <a:pt x="15875" y="79375"/>
                </a:lnTo>
                <a:cubicBezTo>
                  <a:pt x="7094" y="79375"/>
                  <a:pt x="0" y="72281"/>
                  <a:pt x="0" y="63500"/>
                </a:cubicBezTo>
                <a:cubicBezTo>
                  <a:pt x="0" y="54719"/>
                  <a:pt x="7094" y="47625"/>
                  <a:pt x="15875" y="47625"/>
                </a:cubicBezTo>
                <a:lnTo>
                  <a:pt x="174625" y="47625"/>
                </a:lnTo>
                <a:lnTo>
                  <a:pt x="174625" y="15875"/>
                </a:lnTo>
                <a:cubicBezTo>
                  <a:pt x="174625" y="9475"/>
                  <a:pt x="178495" y="3671"/>
                  <a:pt x="184448" y="1191"/>
                </a:cubicBezTo>
                <a:cubicBezTo>
                  <a:pt x="190401" y="-1290"/>
                  <a:pt x="197197" y="99"/>
                  <a:pt x="201761" y="4614"/>
                </a:cubicBezTo>
                <a:lnTo>
                  <a:pt x="249386" y="52239"/>
                </a:lnTo>
                <a:cubicBezTo>
                  <a:pt x="255588" y="58440"/>
                  <a:pt x="255588" y="68511"/>
                  <a:pt x="249386" y="74712"/>
                </a:cubicBezTo>
                <a:close/>
                <a:moveTo>
                  <a:pt x="52239" y="249337"/>
                </a:moveTo>
                <a:lnTo>
                  <a:pt x="4614" y="201712"/>
                </a:lnTo>
                <a:cubicBezTo>
                  <a:pt x="-1587" y="195511"/>
                  <a:pt x="-1587" y="185440"/>
                  <a:pt x="4614" y="179239"/>
                </a:cubicBezTo>
                <a:lnTo>
                  <a:pt x="52239" y="131614"/>
                </a:lnTo>
                <a:cubicBezTo>
                  <a:pt x="56803" y="127050"/>
                  <a:pt x="63599" y="125710"/>
                  <a:pt x="69552" y="128191"/>
                </a:cubicBezTo>
                <a:cubicBezTo>
                  <a:pt x="75505" y="130671"/>
                  <a:pt x="79375" y="136475"/>
                  <a:pt x="79375" y="142875"/>
                </a:cubicBezTo>
                <a:lnTo>
                  <a:pt x="79375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cubicBezTo>
                  <a:pt x="254000" y="199281"/>
                  <a:pt x="246906" y="206375"/>
                  <a:pt x="238125" y="206375"/>
                </a:cubicBezTo>
                <a:lnTo>
                  <a:pt x="79375" y="206375"/>
                </a:lnTo>
                <a:lnTo>
                  <a:pt x="79375" y="238125"/>
                </a:lnTo>
                <a:cubicBezTo>
                  <a:pt x="79375" y="244525"/>
                  <a:pt x="75505" y="250329"/>
                  <a:pt x="69552" y="252809"/>
                </a:cubicBezTo>
                <a:cubicBezTo>
                  <a:pt x="63599" y="255290"/>
                  <a:pt x="56803" y="253901"/>
                  <a:pt x="52239" y="249386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2" name="Text 9"/>
          <p:cNvSpPr/>
          <p:nvPr/>
        </p:nvSpPr>
        <p:spPr>
          <a:xfrm>
            <a:off x="12319000" y="3797300"/>
            <a:ext cx="1397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1899900" y="42545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基于HTTP协议，使用JSON格式，无状态通信，支持跨平台调用。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1690350" y="52895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931650" y="55499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29282" y="0"/>
                  <a:pt x="131564" y="496"/>
                  <a:pt x="133648" y="1439"/>
                </a:cubicBezTo>
                <a:lnTo>
                  <a:pt x="227112" y="41077"/>
                </a:lnTo>
                <a:cubicBezTo>
                  <a:pt x="238026" y="45690"/>
                  <a:pt x="246162" y="56455"/>
                  <a:pt x="246112" y="69453"/>
                </a:cubicBezTo>
                <a:cubicBezTo>
                  <a:pt x="245864" y="118666"/>
                  <a:pt x="225623" y="208707"/>
                  <a:pt x="140146" y="249634"/>
                </a:cubicBezTo>
                <a:cubicBezTo>
                  <a:pt x="131862" y="253603"/>
                  <a:pt x="122238" y="253603"/>
                  <a:pt x="113953" y="249634"/>
                </a:cubicBezTo>
                <a:cubicBezTo>
                  <a:pt x="28426" y="208707"/>
                  <a:pt x="8235" y="118666"/>
                  <a:pt x="7987" y="69453"/>
                </a:cubicBezTo>
                <a:cubicBezTo>
                  <a:pt x="7937" y="56455"/>
                  <a:pt x="16073" y="45690"/>
                  <a:pt x="26987" y="41077"/>
                </a:cubicBezTo>
                <a:lnTo>
                  <a:pt x="120402" y="1439"/>
                </a:lnTo>
                <a:cubicBezTo>
                  <a:pt x="122486" y="496"/>
                  <a:pt x="124718" y="0"/>
                  <a:pt x="127000" y="0"/>
                </a:cubicBezTo>
                <a:close/>
                <a:moveTo>
                  <a:pt x="127000" y="33139"/>
                </a:moveTo>
                <a:lnTo>
                  <a:pt x="127000" y="220712"/>
                </a:lnTo>
                <a:cubicBezTo>
                  <a:pt x="195461" y="187573"/>
                  <a:pt x="213866" y="114151"/>
                  <a:pt x="214313" y="70197"/>
                </a:cubicBezTo>
                <a:lnTo>
                  <a:pt x="127000" y="33189"/>
                </a:lnTo>
                <a:lnTo>
                  <a:pt x="127000" y="33189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16" name="Text 13"/>
          <p:cNvSpPr/>
          <p:nvPr/>
        </p:nvSpPr>
        <p:spPr>
          <a:xfrm>
            <a:off x="12319000" y="54991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安全机制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99900" y="59563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JWT认证、RBAC权限控制、数据加密传输，确保系统安全。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1690350" y="6991350"/>
            <a:ext cx="4051300" cy="1536700"/>
          </a:xfrm>
          <a:custGeom>
            <a:avLst/>
            <a:gdLst/>
            <a:ahLst/>
            <a:cxnLst/>
            <a:rect l="l" t="t" r="r" b="b"/>
            <a:pathLst>
              <a:path w="4051300" h="1536700">
                <a:moveTo>
                  <a:pt x="101607" y="0"/>
                </a:moveTo>
                <a:lnTo>
                  <a:pt x="3949693" y="0"/>
                </a:lnTo>
                <a:cubicBezTo>
                  <a:pt x="4005809" y="0"/>
                  <a:pt x="4051300" y="45491"/>
                  <a:pt x="4051300" y="101607"/>
                </a:cubicBezTo>
                <a:lnTo>
                  <a:pt x="4051300" y="1435093"/>
                </a:lnTo>
                <a:cubicBezTo>
                  <a:pt x="4051300" y="1491209"/>
                  <a:pt x="4005809" y="1536700"/>
                  <a:pt x="3949693" y="1536700"/>
                </a:cubicBezTo>
                <a:lnTo>
                  <a:pt x="101607" y="1536700"/>
                </a:lnTo>
                <a:cubicBezTo>
                  <a:pt x="45491" y="1536700"/>
                  <a:pt x="0" y="1491209"/>
                  <a:pt x="0" y="1435093"/>
                </a:cubicBezTo>
                <a:lnTo>
                  <a:pt x="0" y="101607"/>
                </a:lnTo>
                <a:cubicBezTo>
                  <a:pt x="0" y="45528"/>
                  <a:pt x="45528" y="0"/>
                  <a:pt x="101607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899900" y="7251700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206325" y="104428"/>
                </a:moveTo>
                <a:cubicBezTo>
                  <a:pt x="212378" y="102791"/>
                  <a:pt x="218728" y="105668"/>
                  <a:pt x="221456" y="111274"/>
                </a:cubicBezTo>
                <a:lnTo>
                  <a:pt x="230684" y="129927"/>
                </a:lnTo>
                <a:cubicBezTo>
                  <a:pt x="235793" y="130621"/>
                  <a:pt x="240804" y="132011"/>
                  <a:pt x="245517" y="133945"/>
                </a:cubicBezTo>
                <a:lnTo>
                  <a:pt x="262880" y="122386"/>
                </a:lnTo>
                <a:cubicBezTo>
                  <a:pt x="268089" y="118914"/>
                  <a:pt x="274985" y="119608"/>
                  <a:pt x="279400" y="124023"/>
                </a:cubicBezTo>
                <a:lnTo>
                  <a:pt x="288925" y="133548"/>
                </a:lnTo>
                <a:cubicBezTo>
                  <a:pt x="293340" y="137964"/>
                  <a:pt x="294035" y="144909"/>
                  <a:pt x="290562" y="150068"/>
                </a:cubicBezTo>
                <a:lnTo>
                  <a:pt x="279003" y="167382"/>
                </a:lnTo>
                <a:cubicBezTo>
                  <a:pt x="279946" y="169714"/>
                  <a:pt x="280789" y="172145"/>
                  <a:pt x="281484" y="174675"/>
                </a:cubicBezTo>
                <a:cubicBezTo>
                  <a:pt x="282178" y="177205"/>
                  <a:pt x="282625" y="179685"/>
                  <a:pt x="282972" y="182215"/>
                </a:cubicBezTo>
                <a:lnTo>
                  <a:pt x="301675" y="191443"/>
                </a:lnTo>
                <a:cubicBezTo>
                  <a:pt x="307280" y="194221"/>
                  <a:pt x="310158" y="200571"/>
                  <a:pt x="308521" y="206573"/>
                </a:cubicBezTo>
                <a:lnTo>
                  <a:pt x="305048" y="219571"/>
                </a:lnTo>
                <a:cubicBezTo>
                  <a:pt x="303411" y="225574"/>
                  <a:pt x="297805" y="229642"/>
                  <a:pt x="291554" y="229245"/>
                </a:cubicBezTo>
                <a:lnTo>
                  <a:pt x="270718" y="227905"/>
                </a:lnTo>
                <a:cubicBezTo>
                  <a:pt x="267593" y="231924"/>
                  <a:pt x="263971" y="235645"/>
                  <a:pt x="259854" y="238820"/>
                </a:cubicBezTo>
                <a:lnTo>
                  <a:pt x="261193" y="259606"/>
                </a:lnTo>
                <a:cubicBezTo>
                  <a:pt x="261590" y="265857"/>
                  <a:pt x="257522" y="271512"/>
                  <a:pt x="251520" y="273100"/>
                </a:cubicBezTo>
                <a:lnTo>
                  <a:pt x="238522" y="276572"/>
                </a:lnTo>
                <a:cubicBezTo>
                  <a:pt x="232470" y="278209"/>
                  <a:pt x="226169" y="275332"/>
                  <a:pt x="223391" y="269726"/>
                </a:cubicBezTo>
                <a:lnTo>
                  <a:pt x="214164" y="251073"/>
                </a:lnTo>
                <a:cubicBezTo>
                  <a:pt x="209054" y="250379"/>
                  <a:pt x="204043" y="248989"/>
                  <a:pt x="199330" y="247055"/>
                </a:cubicBezTo>
                <a:lnTo>
                  <a:pt x="181967" y="258614"/>
                </a:lnTo>
                <a:cubicBezTo>
                  <a:pt x="176758" y="262086"/>
                  <a:pt x="169863" y="261392"/>
                  <a:pt x="165447" y="256977"/>
                </a:cubicBezTo>
                <a:lnTo>
                  <a:pt x="155922" y="247452"/>
                </a:lnTo>
                <a:cubicBezTo>
                  <a:pt x="151507" y="243036"/>
                  <a:pt x="150813" y="236141"/>
                  <a:pt x="154285" y="230932"/>
                </a:cubicBezTo>
                <a:lnTo>
                  <a:pt x="165844" y="213568"/>
                </a:lnTo>
                <a:cubicBezTo>
                  <a:pt x="164902" y="211237"/>
                  <a:pt x="164058" y="208806"/>
                  <a:pt x="163364" y="206276"/>
                </a:cubicBezTo>
                <a:cubicBezTo>
                  <a:pt x="162669" y="203746"/>
                  <a:pt x="162223" y="201216"/>
                  <a:pt x="161875" y="198735"/>
                </a:cubicBezTo>
                <a:lnTo>
                  <a:pt x="143173" y="189508"/>
                </a:lnTo>
                <a:cubicBezTo>
                  <a:pt x="137567" y="186730"/>
                  <a:pt x="134739" y="180380"/>
                  <a:pt x="136327" y="174377"/>
                </a:cubicBezTo>
                <a:lnTo>
                  <a:pt x="139799" y="161379"/>
                </a:lnTo>
                <a:cubicBezTo>
                  <a:pt x="141436" y="155377"/>
                  <a:pt x="147042" y="151309"/>
                  <a:pt x="153293" y="151705"/>
                </a:cubicBezTo>
                <a:lnTo>
                  <a:pt x="174079" y="153045"/>
                </a:lnTo>
                <a:cubicBezTo>
                  <a:pt x="177205" y="149027"/>
                  <a:pt x="180826" y="145306"/>
                  <a:pt x="184944" y="142131"/>
                </a:cubicBezTo>
                <a:lnTo>
                  <a:pt x="183604" y="121394"/>
                </a:lnTo>
                <a:cubicBezTo>
                  <a:pt x="183207" y="115143"/>
                  <a:pt x="187275" y="109488"/>
                  <a:pt x="193278" y="107900"/>
                </a:cubicBezTo>
                <a:lnTo>
                  <a:pt x="206276" y="104428"/>
                </a:lnTo>
                <a:close/>
                <a:moveTo>
                  <a:pt x="222448" y="168672"/>
                </a:moveTo>
                <a:cubicBezTo>
                  <a:pt x="210401" y="168686"/>
                  <a:pt x="200631" y="178478"/>
                  <a:pt x="200645" y="190525"/>
                </a:cubicBezTo>
                <a:cubicBezTo>
                  <a:pt x="200659" y="202572"/>
                  <a:pt x="210451" y="212342"/>
                  <a:pt x="222498" y="212328"/>
                </a:cubicBezTo>
                <a:cubicBezTo>
                  <a:pt x="234545" y="212314"/>
                  <a:pt x="244315" y="202522"/>
                  <a:pt x="244301" y="190475"/>
                </a:cubicBezTo>
                <a:cubicBezTo>
                  <a:pt x="244288" y="178428"/>
                  <a:pt x="234496" y="168658"/>
                  <a:pt x="222448" y="168672"/>
                </a:cubicBezTo>
                <a:close/>
                <a:moveTo>
                  <a:pt x="111571" y="-22572"/>
                </a:moveTo>
                <a:lnTo>
                  <a:pt x="124569" y="-19100"/>
                </a:lnTo>
                <a:cubicBezTo>
                  <a:pt x="130572" y="-17462"/>
                  <a:pt x="134640" y="-11807"/>
                  <a:pt x="134243" y="-5606"/>
                </a:cubicBezTo>
                <a:lnTo>
                  <a:pt x="132904" y="15131"/>
                </a:lnTo>
                <a:cubicBezTo>
                  <a:pt x="137021" y="18306"/>
                  <a:pt x="140643" y="21977"/>
                  <a:pt x="143768" y="26045"/>
                </a:cubicBezTo>
                <a:lnTo>
                  <a:pt x="164604" y="24705"/>
                </a:lnTo>
                <a:cubicBezTo>
                  <a:pt x="170805" y="24309"/>
                  <a:pt x="176461" y="28377"/>
                  <a:pt x="178098" y="34379"/>
                </a:cubicBezTo>
                <a:lnTo>
                  <a:pt x="181570" y="47377"/>
                </a:lnTo>
                <a:cubicBezTo>
                  <a:pt x="183158" y="53380"/>
                  <a:pt x="180330" y="59730"/>
                  <a:pt x="174724" y="62508"/>
                </a:cubicBezTo>
                <a:lnTo>
                  <a:pt x="156021" y="71735"/>
                </a:lnTo>
                <a:cubicBezTo>
                  <a:pt x="155674" y="74265"/>
                  <a:pt x="155178" y="76795"/>
                  <a:pt x="154533" y="79276"/>
                </a:cubicBezTo>
                <a:cubicBezTo>
                  <a:pt x="153888" y="81756"/>
                  <a:pt x="152995" y="84237"/>
                  <a:pt x="152053" y="86568"/>
                </a:cubicBezTo>
                <a:lnTo>
                  <a:pt x="163612" y="103932"/>
                </a:lnTo>
                <a:cubicBezTo>
                  <a:pt x="167084" y="109141"/>
                  <a:pt x="166390" y="116036"/>
                  <a:pt x="161975" y="120452"/>
                </a:cubicBezTo>
                <a:lnTo>
                  <a:pt x="152450" y="129977"/>
                </a:lnTo>
                <a:cubicBezTo>
                  <a:pt x="148034" y="134392"/>
                  <a:pt x="141139" y="135086"/>
                  <a:pt x="135930" y="131614"/>
                </a:cubicBezTo>
                <a:lnTo>
                  <a:pt x="118566" y="120055"/>
                </a:lnTo>
                <a:cubicBezTo>
                  <a:pt x="113854" y="121989"/>
                  <a:pt x="108843" y="123379"/>
                  <a:pt x="103733" y="124073"/>
                </a:cubicBezTo>
                <a:lnTo>
                  <a:pt x="94506" y="142726"/>
                </a:lnTo>
                <a:cubicBezTo>
                  <a:pt x="91728" y="148332"/>
                  <a:pt x="85378" y="151160"/>
                  <a:pt x="79375" y="149572"/>
                </a:cubicBezTo>
                <a:lnTo>
                  <a:pt x="66377" y="146100"/>
                </a:lnTo>
                <a:cubicBezTo>
                  <a:pt x="60325" y="144463"/>
                  <a:pt x="56307" y="138807"/>
                  <a:pt x="56704" y="132606"/>
                </a:cubicBezTo>
                <a:lnTo>
                  <a:pt x="58043" y="111820"/>
                </a:lnTo>
                <a:cubicBezTo>
                  <a:pt x="53925" y="108645"/>
                  <a:pt x="50304" y="104973"/>
                  <a:pt x="47179" y="100905"/>
                </a:cubicBezTo>
                <a:lnTo>
                  <a:pt x="26343" y="102245"/>
                </a:lnTo>
                <a:cubicBezTo>
                  <a:pt x="20141" y="102642"/>
                  <a:pt x="14486" y="98574"/>
                  <a:pt x="12849" y="92571"/>
                </a:cubicBezTo>
                <a:lnTo>
                  <a:pt x="9376" y="79573"/>
                </a:lnTo>
                <a:cubicBezTo>
                  <a:pt x="7789" y="73571"/>
                  <a:pt x="10616" y="67221"/>
                  <a:pt x="16222" y="64443"/>
                </a:cubicBezTo>
                <a:lnTo>
                  <a:pt x="34925" y="55215"/>
                </a:lnTo>
                <a:cubicBezTo>
                  <a:pt x="35272" y="52685"/>
                  <a:pt x="35768" y="50205"/>
                  <a:pt x="36413" y="47675"/>
                </a:cubicBezTo>
                <a:cubicBezTo>
                  <a:pt x="37108" y="45145"/>
                  <a:pt x="37902" y="42714"/>
                  <a:pt x="38894" y="40382"/>
                </a:cubicBezTo>
                <a:lnTo>
                  <a:pt x="27335" y="23068"/>
                </a:lnTo>
                <a:cubicBezTo>
                  <a:pt x="23862" y="17859"/>
                  <a:pt x="24557" y="10964"/>
                  <a:pt x="28972" y="6548"/>
                </a:cubicBezTo>
                <a:lnTo>
                  <a:pt x="38497" y="-2977"/>
                </a:lnTo>
                <a:cubicBezTo>
                  <a:pt x="42912" y="-7392"/>
                  <a:pt x="49808" y="-8086"/>
                  <a:pt x="55017" y="-4614"/>
                </a:cubicBezTo>
                <a:lnTo>
                  <a:pt x="72380" y="6945"/>
                </a:lnTo>
                <a:cubicBezTo>
                  <a:pt x="77093" y="5011"/>
                  <a:pt x="82104" y="3621"/>
                  <a:pt x="87213" y="2927"/>
                </a:cubicBezTo>
                <a:lnTo>
                  <a:pt x="96441" y="-15726"/>
                </a:lnTo>
                <a:cubicBezTo>
                  <a:pt x="99219" y="-21332"/>
                  <a:pt x="105519" y="-24160"/>
                  <a:pt x="111571" y="-22572"/>
                </a:cubicBezTo>
                <a:close/>
                <a:moveTo>
                  <a:pt x="95448" y="41672"/>
                </a:moveTo>
                <a:cubicBezTo>
                  <a:pt x="83401" y="41672"/>
                  <a:pt x="73620" y="51453"/>
                  <a:pt x="73620" y="63500"/>
                </a:cubicBezTo>
                <a:cubicBezTo>
                  <a:pt x="73620" y="75547"/>
                  <a:pt x="83401" y="85328"/>
                  <a:pt x="95448" y="85328"/>
                </a:cubicBezTo>
                <a:cubicBezTo>
                  <a:pt x="107496" y="85328"/>
                  <a:pt x="117277" y="75547"/>
                  <a:pt x="117277" y="63500"/>
                </a:cubicBezTo>
                <a:cubicBezTo>
                  <a:pt x="117277" y="51453"/>
                  <a:pt x="107496" y="41672"/>
                  <a:pt x="95448" y="41672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20" name="Text 17"/>
          <p:cNvSpPr/>
          <p:nvPr/>
        </p:nvSpPr>
        <p:spPr>
          <a:xfrm>
            <a:off x="12319000" y="7200900"/>
            <a:ext cx="1028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部署方案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899900" y="7658100"/>
            <a:ext cx="3733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前端Nginx部署，后端Jar包运行，数据库独立部署。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MODULE &amp; DATABASE DESIGN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功能模块设计与数据库E-R模型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879600"/>
            <a:ext cx="50800" cy="5029200"/>
          </a:xfrm>
          <a:custGeom>
            <a:avLst/>
            <a:gdLst/>
            <a:ahLst/>
            <a:cxnLst/>
            <a:rect l="l" t="t" r="r" b="b"/>
            <a:pathLst>
              <a:path w="50800" h="5029200">
                <a:moveTo>
                  <a:pt x="0" y="0"/>
                </a:moveTo>
                <a:lnTo>
                  <a:pt x="50800" y="0"/>
                </a:lnTo>
                <a:lnTo>
                  <a:pt x="50800" y="5029200"/>
                </a:lnTo>
                <a:lnTo>
                  <a:pt x="0" y="5029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4"/>
          <p:cNvSpPr/>
          <p:nvPr/>
        </p:nvSpPr>
        <p:spPr>
          <a:xfrm>
            <a:off x="812800" y="1879600"/>
            <a:ext cx="993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功能模块结构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38200" y="24384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838200" y="24384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7"/>
          <p:cNvSpPr/>
          <p:nvPr/>
        </p:nvSpPr>
        <p:spPr>
          <a:xfrm>
            <a:off x="1016000" y="25908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前端用户模块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016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资讯浏览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032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2032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票务购买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48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048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地图打卡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64000" y="29464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4064000" y="29464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用户互动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" y="35560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19" name="Shape 17"/>
          <p:cNvSpPr/>
          <p:nvPr/>
        </p:nvSpPr>
        <p:spPr>
          <a:xfrm>
            <a:off x="838200" y="35560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0" name="Text 18"/>
          <p:cNvSpPr/>
          <p:nvPr/>
        </p:nvSpPr>
        <p:spPr>
          <a:xfrm>
            <a:off x="1016000" y="37084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票务核销模块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16000" y="4064000"/>
            <a:ext cx="1092200" cy="355600"/>
          </a:xfrm>
          <a:custGeom>
            <a:avLst/>
            <a:gdLst/>
            <a:ahLst/>
            <a:cxnLst/>
            <a:rect l="l" t="t" r="r" b="b"/>
            <a:pathLst>
              <a:path w="1092200" h="355600">
                <a:moveTo>
                  <a:pt x="50801" y="0"/>
                </a:moveTo>
                <a:lnTo>
                  <a:pt x="1041399" y="0"/>
                </a:lnTo>
                <a:cubicBezTo>
                  <a:pt x="1069456" y="0"/>
                  <a:pt x="1092200" y="22744"/>
                  <a:pt x="1092200" y="50801"/>
                </a:cubicBezTo>
                <a:lnTo>
                  <a:pt x="1092200" y="304799"/>
                </a:lnTo>
                <a:cubicBezTo>
                  <a:pt x="1092200" y="332856"/>
                  <a:pt x="1069456" y="355600"/>
                  <a:pt x="10413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22" name="Text 20"/>
          <p:cNvSpPr/>
          <p:nvPr/>
        </p:nvSpPr>
        <p:spPr>
          <a:xfrm>
            <a:off x="1016000" y="4064000"/>
            <a:ext cx="11811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二维码核销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209800" y="40640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2209800" y="40640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后台校验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25800" y="40640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3225800" y="40640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数据统计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200" y="46736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838200" y="46736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9" name="Text 27"/>
          <p:cNvSpPr/>
          <p:nvPr/>
        </p:nvSpPr>
        <p:spPr>
          <a:xfrm>
            <a:off x="1016000" y="48260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后台管理模块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16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1016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资讯管理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2032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2032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票务管理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048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3048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用户管理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064000" y="51816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4064000" y="51816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评论审核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38200" y="5791200"/>
            <a:ext cx="9779000" cy="1016000"/>
          </a:xfrm>
          <a:custGeom>
            <a:avLst/>
            <a:gdLst/>
            <a:ahLst/>
            <a:cxnLst/>
            <a:rect l="l" t="t" r="r" b="b"/>
            <a:pathLst>
              <a:path w="9779000" h="1016000">
                <a:moveTo>
                  <a:pt x="50800" y="0"/>
                </a:moveTo>
                <a:lnTo>
                  <a:pt x="9728200" y="0"/>
                </a:lnTo>
                <a:cubicBezTo>
                  <a:pt x="9756237" y="0"/>
                  <a:pt x="9779000" y="22763"/>
                  <a:pt x="9779000" y="50800"/>
                </a:cubicBezTo>
                <a:lnTo>
                  <a:pt x="9779000" y="965200"/>
                </a:lnTo>
                <a:cubicBezTo>
                  <a:pt x="9779000" y="993237"/>
                  <a:pt x="9756237" y="1016000"/>
                  <a:pt x="9728200" y="1016000"/>
                </a:cubicBez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39" name="Shape 37"/>
          <p:cNvSpPr/>
          <p:nvPr/>
        </p:nvSpPr>
        <p:spPr>
          <a:xfrm>
            <a:off x="838200" y="5791200"/>
            <a:ext cx="50800" cy="1016000"/>
          </a:xfrm>
          <a:custGeom>
            <a:avLst/>
            <a:gdLst/>
            <a:ahLst/>
            <a:cxnLst/>
            <a:rect l="l" t="t" r="r" b="b"/>
            <a:pathLst>
              <a:path w="50800" h="1016000">
                <a:moveTo>
                  <a:pt x="50800" y="0"/>
                </a:moveTo>
                <a:lnTo>
                  <a:pt x="50800" y="0"/>
                </a:lnTo>
                <a:lnTo>
                  <a:pt x="50800" y="1016000"/>
                </a:lnTo>
                <a:lnTo>
                  <a:pt x="50800" y="1016000"/>
                </a:lnTo>
                <a:cubicBezTo>
                  <a:pt x="22763" y="1016000"/>
                  <a:pt x="0" y="993237"/>
                  <a:pt x="0" y="9652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1016000" y="5943600"/>
            <a:ext cx="95504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电商周边模块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016000" y="62992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2" name="Text 40"/>
          <p:cNvSpPr/>
          <p:nvPr/>
        </p:nvSpPr>
        <p:spPr>
          <a:xfrm>
            <a:off x="1016000" y="62992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商品浏览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032000" y="6299200"/>
            <a:ext cx="736600" cy="355600"/>
          </a:xfrm>
          <a:custGeom>
            <a:avLst/>
            <a:gdLst/>
            <a:ahLst/>
            <a:cxnLst/>
            <a:rect l="l" t="t" r="r" b="b"/>
            <a:pathLst>
              <a:path w="736600" h="355600">
                <a:moveTo>
                  <a:pt x="50801" y="0"/>
                </a:moveTo>
                <a:lnTo>
                  <a:pt x="685799" y="0"/>
                </a:lnTo>
                <a:cubicBezTo>
                  <a:pt x="713856" y="0"/>
                  <a:pt x="736600" y="22744"/>
                  <a:pt x="736600" y="50801"/>
                </a:cubicBezTo>
                <a:lnTo>
                  <a:pt x="736600" y="304799"/>
                </a:lnTo>
                <a:cubicBezTo>
                  <a:pt x="736600" y="332856"/>
                  <a:pt x="713856" y="355600"/>
                  <a:pt x="6857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2032000" y="6299200"/>
            <a:ext cx="8255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购物车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870200" y="6299200"/>
            <a:ext cx="914400" cy="355600"/>
          </a:xfrm>
          <a:custGeom>
            <a:avLst/>
            <a:gdLst/>
            <a:ahLst/>
            <a:cxnLst/>
            <a:rect l="l" t="t" r="r" b="b"/>
            <a:pathLst>
              <a:path w="914400" h="355600">
                <a:moveTo>
                  <a:pt x="50801" y="0"/>
                </a:moveTo>
                <a:lnTo>
                  <a:pt x="863599" y="0"/>
                </a:lnTo>
                <a:cubicBezTo>
                  <a:pt x="891656" y="0"/>
                  <a:pt x="914400" y="22744"/>
                  <a:pt x="914400" y="50801"/>
                </a:cubicBezTo>
                <a:lnTo>
                  <a:pt x="914400" y="304799"/>
                </a:lnTo>
                <a:cubicBezTo>
                  <a:pt x="914400" y="332856"/>
                  <a:pt x="891656" y="355600"/>
                  <a:pt x="8635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2870200" y="6299200"/>
            <a:ext cx="1003300" cy="355600"/>
          </a:xfrm>
          <a:prstGeom prst="rect">
            <a:avLst/>
          </a:prstGeom>
          <a:noFill/>
        </p:spPr>
        <p:txBody>
          <a:bodyPr wrap="square" lIns="101600" tIns="50800" rIns="1016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订单管理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871200" y="1879600"/>
            <a:ext cx="50038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数据库E-R模型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877550" y="2444750"/>
            <a:ext cx="4864100" cy="1130300"/>
          </a:xfrm>
          <a:custGeom>
            <a:avLst/>
            <a:gdLst/>
            <a:ahLst/>
            <a:cxnLst/>
            <a:rect l="l" t="t" r="r" b="b"/>
            <a:pathLst>
              <a:path w="4864100" h="11303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079504"/>
                </a:lnTo>
                <a:cubicBezTo>
                  <a:pt x="4864100" y="1107558"/>
                  <a:pt x="4841358" y="1130300"/>
                  <a:pt x="48133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082338" y="2641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00013" y="110728"/>
                </a:moveTo>
                <a:cubicBezTo>
                  <a:pt x="129583" y="110728"/>
                  <a:pt x="153591" y="86721"/>
                  <a:pt x="153591" y="57150"/>
                </a:cubicBezTo>
                <a:cubicBezTo>
                  <a:pt x="153591" y="27579"/>
                  <a:pt x="129583" y="3572"/>
                  <a:pt x="100013" y="3572"/>
                </a:cubicBezTo>
                <a:cubicBezTo>
                  <a:pt x="70442" y="3572"/>
                  <a:pt x="46434" y="27579"/>
                  <a:pt x="46434" y="57150"/>
                </a:cubicBezTo>
                <a:cubicBezTo>
                  <a:pt x="46434" y="86721"/>
                  <a:pt x="70442" y="110728"/>
                  <a:pt x="100012" y="110728"/>
                </a:cubicBezTo>
                <a:close/>
                <a:moveTo>
                  <a:pt x="86752" y="135731"/>
                </a:moveTo>
                <a:cubicBezTo>
                  <a:pt x="42773" y="135731"/>
                  <a:pt x="7144" y="171361"/>
                  <a:pt x="7144" y="215339"/>
                </a:cubicBezTo>
                <a:cubicBezTo>
                  <a:pt x="7144" y="222662"/>
                  <a:pt x="13082" y="228600"/>
                  <a:pt x="20404" y="228600"/>
                </a:cubicBezTo>
                <a:lnTo>
                  <a:pt x="179621" y="228600"/>
                </a:lnTo>
                <a:cubicBezTo>
                  <a:pt x="186943" y="228600"/>
                  <a:pt x="192881" y="222662"/>
                  <a:pt x="192881" y="215339"/>
                </a:cubicBezTo>
                <a:cubicBezTo>
                  <a:pt x="192881" y="171361"/>
                  <a:pt x="157252" y="135731"/>
                  <a:pt x="113273" y="135731"/>
                </a:cubicBezTo>
                <a:lnTo>
                  <a:pt x="86752" y="135731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0" name="Text 48"/>
          <p:cNvSpPr/>
          <p:nvPr/>
        </p:nvSpPr>
        <p:spPr>
          <a:xfrm>
            <a:off x="11423650" y="2603500"/>
            <a:ext cx="1460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用户实体(User)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036300" y="3009900"/>
            <a:ext cx="4622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user_id(PK) | username | password | email | phone | id_card | created_at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0877550" y="3689350"/>
            <a:ext cx="4864100" cy="927100"/>
          </a:xfrm>
          <a:custGeom>
            <a:avLst/>
            <a:gdLst/>
            <a:ahLst/>
            <a:cxnLst/>
            <a:rect l="l" t="t" r="r" b="b"/>
            <a:pathLst>
              <a:path w="4864100" h="9271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876304"/>
                </a:lnTo>
                <a:cubicBezTo>
                  <a:pt x="4864100" y="904358"/>
                  <a:pt x="4841358" y="927100"/>
                  <a:pt x="4813304" y="927100"/>
                </a:cubicBezTo>
                <a:lnTo>
                  <a:pt x="50796" y="927100"/>
                </a:lnTo>
                <a:cubicBezTo>
                  <a:pt x="22742" y="927100"/>
                  <a:pt x="0" y="904358"/>
                  <a:pt x="0" y="8763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53763" y="3886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0" y="57150"/>
                </a:moveTo>
                <a:cubicBezTo>
                  <a:pt x="0" y="41389"/>
                  <a:pt x="12814" y="28575"/>
                  <a:pt x="28575" y="28575"/>
                </a:cubicBezTo>
                <a:lnTo>
                  <a:pt x="228600" y="28575"/>
                </a:lnTo>
                <a:cubicBezTo>
                  <a:pt x="244361" y="28575"/>
                  <a:pt x="257175" y="41389"/>
                  <a:pt x="257175" y="57150"/>
                </a:cubicBezTo>
                <a:lnTo>
                  <a:pt x="257175" y="85725"/>
                </a:lnTo>
                <a:cubicBezTo>
                  <a:pt x="257175" y="89654"/>
                  <a:pt x="253871" y="92735"/>
                  <a:pt x="250165" y="94030"/>
                </a:cubicBezTo>
                <a:cubicBezTo>
                  <a:pt x="241771" y="96932"/>
                  <a:pt x="235744" y="104924"/>
                  <a:pt x="235744" y="114300"/>
                </a:cubicBezTo>
                <a:cubicBezTo>
                  <a:pt x="235744" y="123676"/>
                  <a:pt x="241771" y="131668"/>
                  <a:pt x="250165" y="134570"/>
                </a:cubicBezTo>
                <a:cubicBezTo>
                  <a:pt x="253871" y="135865"/>
                  <a:pt x="257175" y="138946"/>
                  <a:pt x="257175" y="142875"/>
                </a:cubicBezTo>
                <a:lnTo>
                  <a:pt x="257175" y="171450"/>
                </a:lnTo>
                <a:cubicBezTo>
                  <a:pt x="257175" y="187211"/>
                  <a:pt x="244361" y="200025"/>
                  <a:pt x="228600" y="200025"/>
                </a:cubicBezTo>
                <a:lnTo>
                  <a:pt x="28575" y="200025"/>
                </a:lnTo>
                <a:cubicBezTo>
                  <a:pt x="12814" y="200025"/>
                  <a:pt x="0" y="187211"/>
                  <a:pt x="0" y="171450"/>
                </a:cubicBezTo>
                <a:lnTo>
                  <a:pt x="0" y="142875"/>
                </a:lnTo>
                <a:cubicBezTo>
                  <a:pt x="0" y="138946"/>
                  <a:pt x="3304" y="135865"/>
                  <a:pt x="7010" y="134570"/>
                </a:cubicBezTo>
                <a:cubicBezTo>
                  <a:pt x="15404" y="131668"/>
                  <a:pt x="21431" y="123676"/>
                  <a:pt x="21431" y="114300"/>
                </a:cubicBezTo>
                <a:cubicBezTo>
                  <a:pt x="21431" y="104924"/>
                  <a:pt x="15404" y="96932"/>
                  <a:pt x="7010" y="94030"/>
                </a:cubicBezTo>
                <a:cubicBezTo>
                  <a:pt x="3304" y="92735"/>
                  <a:pt x="0" y="89654"/>
                  <a:pt x="0" y="85725"/>
                </a:cubicBezTo>
                <a:lnTo>
                  <a:pt x="0" y="5715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54" name="Text 52"/>
          <p:cNvSpPr/>
          <p:nvPr/>
        </p:nvSpPr>
        <p:spPr>
          <a:xfrm>
            <a:off x="11423650" y="3848100"/>
            <a:ext cx="16002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票务实体(Ticket)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1036300" y="42545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ticket_id(PK) | zone_name | price | stock | limit_per_user | status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877550" y="4730750"/>
            <a:ext cx="4864100" cy="1130300"/>
          </a:xfrm>
          <a:custGeom>
            <a:avLst/>
            <a:gdLst/>
            <a:ahLst/>
            <a:cxnLst/>
            <a:rect l="l" t="t" r="r" b="b"/>
            <a:pathLst>
              <a:path w="4864100" h="11303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1079504"/>
                </a:lnTo>
                <a:cubicBezTo>
                  <a:pt x="4864100" y="1107558"/>
                  <a:pt x="4841358" y="1130300"/>
                  <a:pt x="4813304" y="1130300"/>
                </a:cubicBezTo>
                <a:lnTo>
                  <a:pt x="50796" y="1130300"/>
                </a:lnTo>
                <a:cubicBezTo>
                  <a:pt x="22742" y="1130300"/>
                  <a:pt x="0" y="1107558"/>
                  <a:pt x="0" y="1079504"/>
                </a:cubicBezTo>
                <a:lnTo>
                  <a:pt x="0" y="50796"/>
                </a:lnTo>
                <a:cubicBezTo>
                  <a:pt x="0" y="22742"/>
                  <a:pt x="22742" y="0"/>
                  <a:pt x="50796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  <a:ln w="12700">
            <a:solidFill>
              <a:srgbClr val="8D99AE">
                <a:alpha val="3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039475" y="49276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8" name="Text 56"/>
          <p:cNvSpPr/>
          <p:nvPr/>
        </p:nvSpPr>
        <p:spPr>
          <a:xfrm>
            <a:off x="11423650" y="4889500"/>
            <a:ext cx="15875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订单实体(Order)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36300" y="5295900"/>
            <a:ext cx="46228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order_id(PK) | user_id(FK) | ticket_id(FK) | quantity | total_price | status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877550" y="5975350"/>
            <a:ext cx="4864100" cy="927100"/>
          </a:xfrm>
          <a:custGeom>
            <a:avLst/>
            <a:gdLst/>
            <a:ahLst/>
            <a:cxnLst/>
            <a:rect l="l" t="t" r="r" b="b"/>
            <a:pathLst>
              <a:path w="4864100" h="927100">
                <a:moveTo>
                  <a:pt x="50796" y="0"/>
                </a:moveTo>
                <a:lnTo>
                  <a:pt x="4813304" y="0"/>
                </a:lnTo>
                <a:cubicBezTo>
                  <a:pt x="4841358" y="0"/>
                  <a:pt x="4864100" y="22742"/>
                  <a:pt x="4864100" y="50796"/>
                </a:cubicBezTo>
                <a:lnTo>
                  <a:pt x="4864100" y="876304"/>
                </a:lnTo>
                <a:cubicBezTo>
                  <a:pt x="4864100" y="904358"/>
                  <a:pt x="4841358" y="927100"/>
                  <a:pt x="4813304" y="927100"/>
                </a:cubicBezTo>
                <a:lnTo>
                  <a:pt x="50796" y="927100"/>
                </a:lnTo>
                <a:cubicBezTo>
                  <a:pt x="22742" y="927100"/>
                  <a:pt x="0" y="904358"/>
                  <a:pt x="0" y="876304"/>
                </a:cubicBezTo>
                <a:lnTo>
                  <a:pt x="0" y="50796"/>
                </a:lnTo>
                <a:cubicBezTo>
                  <a:pt x="0" y="22761"/>
                  <a:pt x="22761" y="0"/>
                  <a:pt x="50796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  <a:ln w="12700">
            <a:solidFill>
              <a:srgbClr val="E07A5F">
                <a:alpha val="30196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096625" y="61722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84207"/>
                </a:moveTo>
                <a:cubicBezTo>
                  <a:pt x="0" y="37683"/>
                  <a:pt x="38398" y="0"/>
                  <a:pt x="85725" y="0"/>
                </a:cubicBezTo>
                <a:cubicBezTo>
                  <a:pt x="133052" y="0"/>
                  <a:pt x="171450" y="37683"/>
                  <a:pt x="171450" y="84207"/>
                </a:cubicBezTo>
                <a:cubicBezTo>
                  <a:pt x="171450" y="137473"/>
                  <a:pt x="117783" y="201320"/>
                  <a:pt x="95369" y="225653"/>
                </a:cubicBezTo>
                <a:cubicBezTo>
                  <a:pt x="90101" y="231368"/>
                  <a:pt x="81305" y="231368"/>
                  <a:pt x="76036" y="225653"/>
                </a:cubicBezTo>
                <a:cubicBezTo>
                  <a:pt x="53623" y="201320"/>
                  <a:pt x="-45" y="137473"/>
                  <a:pt x="-45" y="84207"/>
                </a:cubicBezTo>
                <a:close/>
                <a:moveTo>
                  <a:pt x="85725" y="114300"/>
                </a:moveTo>
                <a:cubicBezTo>
                  <a:pt x="101496" y="114300"/>
                  <a:pt x="114300" y="101496"/>
                  <a:pt x="114300" y="85725"/>
                </a:cubicBezTo>
                <a:cubicBezTo>
                  <a:pt x="114300" y="69954"/>
                  <a:pt x="101496" y="57150"/>
                  <a:pt x="85725" y="57150"/>
                </a:cubicBezTo>
                <a:cubicBezTo>
                  <a:pt x="69954" y="57150"/>
                  <a:pt x="57150" y="69954"/>
                  <a:pt x="57150" y="85725"/>
                </a:cubicBezTo>
                <a:cubicBezTo>
                  <a:pt x="57150" y="101496"/>
                  <a:pt x="69954" y="114300"/>
                  <a:pt x="85725" y="11430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62" name="Text 60"/>
          <p:cNvSpPr/>
          <p:nvPr/>
        </p:nvSpPr>
        <p:spPr>
          <a:xfrm>
            <a:off x="11423650" y="6134100"/>
            <a:ext cx="17907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打卡实体(Checkin)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1036300" y="65405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checkin_id(PK) | user_id(FK) | location_name | points | created_at</a:t>
            </a:r>
            <a:endParaRPr lang="en-US" sz="1600" dirty="0"/>
          </a:p>
        </p:txBody>
      </p:sp>
      <p:pic>
        <p:nvPicPr>
          <p:cNvPr id="64" name="图片 63"/>
          <p:cNvPicPr/>
          <p:nvPr/>
        </p:nvPicPr>
        <p:blipFill>
          <a:blip r:embed="rId1"/>
          <a:stretch>
            <a:fillRect/>
          </a:stretch>
        </p:blipFill>
        <p:spPr>
          <a:xfrm>
            <a:off x="10869930" y="6994525"/>
            <a:ext cx="4871720" cy="21488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.pxhere.com/33e905b0fd9abf5e88375751e8b48c71af4b3889.jpg!d"/>
          <p:cNvPicPr>
            <a:picLocks noChangeAspect="1"/>
          </p:cNvPicPr>
          <p:nvPr/>
        </p:nvPicPr>
        <p:blipFill>
          <a:blip r:embed="rId1">
            <a:alphaModFix amt="30000"/>
          </a:blip>
          <a:srcRect t="7813" b="781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2768600" cy="711200"/>
          </a:xfrm>
          <a:custGeom>
            <a:avLst/>
            <a:gdLst/>
            <a:ahLst/>
            <a:cxnLst/>
            <a:rect l="l" t="t" r="r" b="b"/>
            <a:pathLst>
              <a:path w="2768600" h="711200">
                <a:moveTo>
                  <a:pt x="0" y="0"/>
                </a:moveTo>
                <a:lnTo>
                  <a:pt x="2768600" y="0"/>
                </a:lnTo>
                <a:lnTo>
                  <a:pt x="2768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8D99AE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SIX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06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重点难点分析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识别系统开发中的关键技术挑战与解决方案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CORE BUSINESS LOGIC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核心业务逻辑:实名制购票与分区票务控制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879600"/>
            <a:ext cx="50800" cy="3581400"/>
          </a:xfrm>
          <a:custGeom>
            <a:avLst/>
            <a:gdLst/>
            <a:ahLst/>
            <a:cxnLst/>
            <a:rect l="l" t="t" r="r" b="b"/>
            <a:pathLst>
              <a:path w="50800" h="3581400">
                <a:moveTo>
                  <a:pt x="0" y="0"/>
                </a:moveTo>
                <a:lnTo>
                  <a:pt x="50800" y="0"/>
                </a:lnTo>
                <a:lnTo>
                  <a:pt x="50800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4"/>
          <p:cNvSpPr/>
          <p:nvPr/>
        </p:nvSpPr>
        <p:spPr>
          <a:xfrm>
            <a:off x="762000" y="1879600"/>
            <a:ext cx="739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实名制购票机制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2336800"/>
            <a:ext cx="7366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通过身份证号验证实现单用户限购与防重复购票。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87400" y="2819400"/>
            <a:ext cx="7239000" cy="812800"/>
          </a:xfrm>
          <a:custGeom>
            <a:avLst/>
            <a:gdLst/>
            <a:ahLst/>
            <a:cxnLst/>
            <a:rect l="l" t="t" r="r" b="b"/>
            <a:pathLst>
              <a:path w="7239000" h="812800">
                <a:moveTo>
                  <a:pt x="50800" y="0"/>
                </a:moveTo>
                <a:lnTo>
                  <a:pt x="7188200" y="0"/>
                </a:lnTo>
                <a:cubicBezTo>
                  <a:pt x="7216237" y="0"/>
                  <a:pt x="7239000" y="22763"/>
                  <a:pt x="7239000" y="50800"/>
                </a:cubicBezTo>
                <a:lnTo>
                  <a:pt x="7239000" y="762000"/>
                </a:lnTo>
                <a:cubicBezTo>
                  <a:pt x="7239000" y="790037"/>
                  <a:pt x="7216237" y="812800"/>
                  <a:pt x="71882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9" name="Shape 7"/>
          <p:cNvSpPr/>
          <p:nvPr/>
        </p:nvSpPr>
        <p:spPr>
          <a:xfrm>
            <a:off x="787400" y="28194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0" name="Text 8"/>
          <p:cNvSpPr/>
          <p:nvPr/>
        </p:nvSpPr>
        <p:spPr>
          <a:xfrm>
            <a:off x="965200" y="2971800"/>
            <a:ext cx="699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身份证验证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5200" y="3276600"/>
            <a:ext cx="698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正则校验 + 实名认证接口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87400" y="3733800"/>
            <a:ext cx="7239000" cy="812800"/>
          </a:xfrm>
          <a:custGeom>
            <a:avLst/>
            <a:gdLst/>
            <a:ahLst/>
            <a:cxnLst/>
            <a:rect l="l" t="t" r="r" b="b"/>
            <a:pathLst>
              <a:path w="7239000" h="812800">
                <a:moveTo>
                  <a:pt x="50800" y="0"/>
                </a:moveTo>
                <a:lnTo>
                  <a:pt x="7188200" y="0"/>
                </a:lnTo>
                <a:cubicBezTo>
                  <a:pt x="7216237" y="0"/>
                  <a:pt x="7239000" y="22763"/>
                  <a:pt x="7239000" y="50800"/>
                </a:cubicBezTo>
                <a:lnTo>
                  <a:pt x="7239000" y="762000"/>
                </a:lnTo>
                <a:cubicBezTo>
                  <a:pt x="7239000" y="790037"/>
                  <a:pt x="7216237" y="812800"/>
                  <a:pt x="71882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3" name="Shape 11"/>
          <p:cNvSpPr/>
          <p:nvPr/>
        </p:nvSpPr>
        <p:spPr>
          <a:xfrm>
            <a:off x="787400" y="37338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4" name="Text 12"/>
          <p:cNvSpPr/>
          <p:nvPr/>
        </p:nvSpPr>
        <p:spPr>
          <a:xfrm>
            <a:off x="965200" y="3886200"/>
            <a:ext cx="699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单用户限购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4191000"/>
            <a:ext cx="698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数据库层约束，防止超卖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7400" y="4648200"/>
            <a:ext cx="7239000" cy="812800"/>
          </a:xfrm>
          <a:custGeom>
            <a:avLst/>
            <a:gdLst/>
            <a:ahLst/>
            <a:cxnLst/>
            <a:rect l="l" t="t" r="r" b="b"/>
            <a:pathLst>
              <a:path w="7239000" h="812800">
                <a:moveTo>
                  <a:pt x="50800" y="0"/>
                </a:moveTo>
                <a:lnTo>
                  <a:pt x="7188200" y="0"/>
                </a:lnTo>
                <a:cubicBezTo>
                  <a:pt x="7216237" y="0"/>
                  <a:pt x="7239000" y="22763"/>
                  <a:pt x="7239000" y="50800"/>
                </a:cubicBezTo>
                <a:lnTo>
                  <a:pt x="7239000" y="762000"/>
                </a:lnTo>
                <a:cubicBezTo>
                  <a:pt x="7239000" y="790037"/>
                  <a:pt x="7216237" y="812800"/>
                  <a:pt x="71882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87400" y="4648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5080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8" name="Text 16"/>
          <p:cNvSpPr/>
          <p:nvPr/>
        </p:nvSpPr>
        <p:spPr>
          <a:xfrm>
            <a:off x="965200" y="4800600"/>
            <a:ext cx="6997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防重复购票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5200" y="5105400"/>
            <a:ext cx="69850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唯一索引约束，事务控制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5613400"/>
            <a:ext cx="50800" cy="2159000"/>
          </a:xfrm>
          <a:custGeom>
            <a:avLst/>
            <a:gdLst/>
            <a:ahLst/>
            <a:cxnLst/>
            <a:rect l="l" t="t" r="r" b="b"/>
            <a:pathLst>
              <a:path w="50800" h="2159000">
                <a:moveTo>
                  <a:pt x="0" y="0"/>
                </a:moveTo>
                <a:lnTo>
                  <a:pt x="50800" y="0"/>
                </a:lnTo>
                <a:lnTo>
                  <a:pt x="5080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1" name="Text 19"/>
          <p:cNvSpPr/>
          <p:nvPr/>
        </p:nvSpPr>
        <p:spPr>
          <a:xfrm>
            <a:off x="762000" y="5613400"/>
            <a:ext cx="739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分区票务管理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62000" y="6070600"/>
            <a:ext cx="73660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实现不同区域的独立库存管理与限额控制。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553200"/>
            <a:ext cx="7264400" cy="558800"/>
          </a:xfrm>
          <a:custGeom>
            <a:avLst/>
            <a:gdLst/>
            <a:ahLst/>
            <a:cxnLst/>
            <a:rect l="l" t="t" r="r" b="b"/>
            <a:pathLst>
              <a:path w="7264400" h="558800">
                <a:moveTo>
                  <a:pt x="50801" y="0"/>
                </a:moveTo>
                <a:lnTo>
                  <a:pt x="7213599" y="0"/>
                </a:lnTo>
                <a:cubicBezTo>
                  <a:pt x="7241656" y="0"/>
                  <a:pt x="7264400" y="22744"/>
                  <a:pt x="7264400" y="50801"/>
                </a:cubicBezTo>
                <a:lnTo>
                  <a:pt x="7264400" y="507999"/>
                </a:lnTo>
                <a:cubicBezTo>
                  <a:pt x="7264400" y="536056"/>
                  <a:pt x="7241656" y="558800"/>
                  <a:pt x="72135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4" name="Text 22"/>
          <p:cNvSpPr/>
          <p:nvPr/>
        </p:nvSpPr>
        <p:spPr>
          <a:xfrm>
            <a:off x="914400" y="6705600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分区配置: A区(VIP) | B区(普通) | C区(学生)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7213600"/>
            <a:ext cx="7264400" cy="558800"/>
          </a:xfrm>
          <a:custGeom>
            <a:avLst/>
            <a:gdLst/>
            <a:ahLst/>
            <a:cxnLst/>
            <a:rect l="l" t="t" r="r" b="b"/>
            <a:pathLst>
              <a:path w="7264400" h="558800">
                <a:moveTo>
                  <a:pt x="50801" y="0"/>
                </a:moveTo>
                <a:lnTo>
                  <a:pt x="7213599" y="0"/>
                </a:lnTo>
                <a:cubicBezTo>
                  <a:pt x="7241656" y="0"/>
                  <a:pt x="7264400" y="22744"/>
                  <a:pt x="7264400" y="50801"/>
                </a:cubicBezTo>
                <a:lnTo>
                  <a:pt x="7264400" y="507999"/>
                </a:lnTo>
                <a:cubicBezTo>
                  <a:pt x="7264400" y="536056"/>
                  <a:pt x="7241656" y="558800"/>
                  <a:pt x="72135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6" name="Text 24"/>
          <p:cNvSpPr/>
          <p:nvPr/>
        </p:nvSpPr>
        <p:spPr>
          <a:xfrm>
            <a:off x="914400" y="7366000"/>
            <a:ext cx="7048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库存扣减: 预扣库存 → 支付确认 → 正式扣减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55000" y="1879600"/>
            <a:ext cx="50800" cy="5892800"/>
          </a:xfrm>
          <a:custGeom>
            <a:avLst/>
            <a:gdLst/>
            <a:ahLst/>
            <a:cxnLst/>
            <a:rect l="l" t="t" r="r" b="b"/>
            <a:pathLst>
              <a:path w="50800" h="5892800">
                <a:moveTo>
                  <a:pt x="0" y="0"/>
                </a:moveTo>
                <a:lnTo>
                  <a:pt x="50800" y="0"/>
                </a:lnTo>
                <a:lnTo>
                  <a:pt x="50800" y="5892800"/>
                </a:lnTo>
                <a:lnTo>
                  <a:pt x="0" y="5892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28" name="Text 26"/>
          <p:cNvSpPr/>
          <p:nvPr/>
        </p:nvSpPr>
        <p:spPr>
          <a:xfrm>
            <a:off x="8483600" y="1879600"/>
            <a:ext cx="73914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购票流程时序图</a:t>
            </a:r>
            <a:endParaRPr lang="en-US" sz="1600" dirty="0"/>
          </a:p>
        </p:txBody>
      </p:sp>
      <p:pic>
        <p:nvPicPr>
          <p:cNvPr id="29" name="Image 0" descr="https://kimi-img.moonshot.cn/pub/slides/25-12-20-20:02:28-d5390l7f2enaig2kqs40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483600" y="2387600"/>
            <a:ext cx="7264400" cy="5334000"/>
          </a:xfrm>
          <a:prstGeom prst="roundRect">
            <a:avLst>
              <a:gd name="adj" fmla="val 0"/>
            </a:avLst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5a26f4d233c1dd0433bb216ad536e3f338fc7b9a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5112" b="5112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276600" cy="711200"/>
          </a:xfrm>
          <a:custGeom>
            <a:avLst/>
            <a:gdLst/>
            <a:ahLst/>
            <a:cxnLst/>
            <a:rect l="l" t="t" r="r" b="b"/>
            <a:pathLst>
              <a:path w="3276600" h="711200">
                <a:moveTo>
                  <a:pt x="0" y="0"/>
                </a:moveTo>
                <a:lnTo>
                  <a:pt x="3276600" y="0"/>
                </a:lnTo>
                <a:lnTo>
                  <a:pt x="32766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794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5F7A8D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SEVEN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07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预期成果与创新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总结研究的预期产出与特色亮点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EXPECTED OUTCOMES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预期成果:系统、论文与文档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6299200"/>
          </a:xfrm>
          <a:custGeom>
            <a:avLst/>
            <a:gdLst/>
            <a:ahLst/>
            <a:cxnLst/>
            <a:rect l="l" t="t" r="r" b="b"/>
            <a:pathLst>
              <a:path w="50800" h="6299200">
                <a:moveTo>
                  <a:pt x="0" y="0"/>
                </a:moveTo>
                <a:lnTo>
                  <a:pt x="50800" y="0"/>
                </a:lnTo>
                <a:lnTo>
                  <a:pt x="50800" y="6299200"/>
                </a:lnTo>
                <a:lnTo>
                  <a:pt x="0" y="6299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Shape 4"/>
          <p:cNvSpPr/>
          <p:nvPr/>
        </p:nvSpPr>
        <p:spPr>
          <a:xfrm>
            <a:off x="812800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Shape 5"/>
          <p:cNvSpPr/>
          <p:nvPr/>
        </p:nvSpPr>
        <p:spPr>
          <a:xfrm>
            <a:off x="965200" y="2082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09550"/>
                </a:lnTo>
                <a:cubicBezTo>
                  <a:pt x="0" y="230565"/>
                  <a:pt x="17085" y="247650"/>
                  <a:pt x="38100" y="247650"/>
                </a:cubicBezTo>
                <a:lnTo>
                  <a:pt x="123825" y="247650"/>
                </a:lnTo>
                <a:lnTo>
                  <a:pt x="114300" y="276225"/>
                </a:lnTo>
                <a:lnTo>
                  <a:pt x="71438" y="276225"/>
                </a:lnTo>
                <a:cubicBezTo>
                  <a:pt x="63520" y="276225"/>
                  <a:pt x="57150" y="282595"/>
                  <a:pt x="57150" y="290513"/>
                </a:cubicBezTo>
                <a:cubicBezTo>
                  <a:pt x="57150" y="298430"/>
                  <a:pt x="63520" y="304800"/>
                  <a:pt x="71438" y="304800"/>
                </a:cubicBezTo>
                <a:lnTo>
                  <a:pt x="233363" y="304800"/>
                </a:lnTo>
                <a:cubicBezTo>
                  <a:pt x="241280" y="304800"/>
                  <a:pt x="247650" y="298430"/>
                  <a:pt x="247650" y="290513"/>
                </a:cubicBezTo>
                <a:cubicBezTo>
                  <a:pt x="247650" y="282595"/>
                  <a:pt x="241280" y="276225"/>
                  <a:pt x="233363" y="276225"/>
                </a:cubicBezTo>
                <a:lnTo>
                  <a:pt x="190500" y="276225"/>
                </a:lnTo>
                <a:lnTo>
                  <a:pt x="180975" y="247650"/>
                </a:lnTo>
                <a:lnTo>
                  <a:pt x="266700" y="247650"/>
                </a:lnTo>
                <a:cubicBezTo>
                  <a:pt x="287715" y="247650"/>
                  <a:pt x="304800" y="230565"/>
                  <a:pt x="304800" y="209550"/>
                </a:cubicBezTo>
                <a:lnTo>
                  <a:pt x="304800" y="57150"/>
                </a:lnTo>
                <a:cubicBezTo>
                  <a:pt x="304800" y="36135"/>
                  <a:pt x="287715" y="19050"/>
                  <a:pt x="266700" y="19050"/>
                </a:cubicBezTo>
                <a:lnTo>
                  <a:pt x="38100" y="19050"/>
                </a:lnTo>
                <a:close/>
                <a:moveTo>
                  <a:pt x="57150" y="57150"/>
                </a:moveTo>
                <a:lnTo>
                  <a:pt x="247650" y="57150"/>
                </a:lnTo>
                <a:cubicBezTo>
                  <a:pt x="258187" y="57150"/>
                  <a:pt x="266700" y="65663"/>
                  <a:pt x="266700" y="76200"/>
                </a:cubicBezTo>
                <a:lnTo>
                  <a:pt x="266700" y="171450"/>
                </a:lnTo>
                <a:cubicBezTo>
                  <a:pt x="266700" y="181987"/>
                  <a:pt x="258187" y="190500"/>
                  <a:pt x="247650" y="190500"/>
                </a:cubicBezTo>
                <a:lnTo>
                  <a:pt x="57150" y="190500"/>
                </a:lnTo>
                <a:cubicBezTo>
                  <a:pt x="46613" y="190500"/>
                  <a:pt x="38100" y="181987"/>
                  <a:pt x="38100" y="171450"/>
                </a:cubicBezTo>
                <a:lnTo>
                  <a:pt x="38100" y="76200"/>
                </a:lnTo>
                <a:cubicBezTo>
                  <a:pt x="38100" y="65663"/>
                  <a:pt x="46613" y="57150"/>
                  <a:pt x="57150" y="5715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8" name="Text 6"/>
          <p:cNvSpPr/>
          <p:nvPr/>
        </p:nvSpPr>
        <p:spPr>
          <a:xfrm>
            <a:off x="1574800" y="2032000"/>
            <a:ext cx="22860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音乐节管理系统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743200"/>
            <a:ext cx="4711700" cy="990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交付一个功能完整、运行稳定的音乐节管理系统，覆盖前端用户、后端管理、票务核销三大核心模块。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9370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965200" y="40894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前端用户功能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5200" y="43942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资讯浏览、票务购买、地图打卡、用户互动、电商购物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48514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965200" y="50038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后端管理功能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5200" y="53086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资讯管理、票务管理、用户管理、评论审核、数据统计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" y="57658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965200" y="5918200"/>
            <a:ext cx="43942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票务核销功能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5200" y="62230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二维码核销、后台校验、防假票、数据统计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2800" y="6781800"/>
            <a:ext cx="4610100" cy="609600"/>
          </a:xfrm>
          <a:custGeom>
            <a:avLst/>
            <a:gdLst/>
            <a:ahLst/>
            <a:cxnLst/>
            <a:rect l="l" t="t" r="r" b="b"/>
            <a:pathLst>
              <a:path w="4610100" h="6096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558802"/>
                </a:lnTo>
                <a:cubicBezTo>
                  <a:pt x="4610100" y="586857"/>
                  <a:pt x="4587357" y="609600"/>
                  <a:pt x="45593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914400" y="6934200"/>
            <a:ext cx="440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验收标准: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功能覆盖率≥95%，系统可用性≥99%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97934" y="1930400"/>
            <a:ext cx="50800" cy="6299200"/>
          </a:xfrm>
          <a:custGeom>
            <a:avLst/>
            <a:gdLst/>
            <a:ahLst/>
            <a:cxnLst/>
            <a:rect l="l" t="t" r="r" b="b"/>
            <a:pathLst>
              <a:path w="50800" h="6299200">
                <a:moveTo>
                  <a:pt x="0" y="0"/>
                </a:moveTo>
                <a:lnTo>
                  <a:pt x="50800" y="0"/>
                </a:lnTo>
                <a:lnTo>
                  <a:pt x="50800" y="6299200"/>
                </a:lnTo>
                <a:lnTo>
                  <a:pt x="0" y="62992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2" name="Shape 20"/>
          <p:cNvSpPr/>
          <p:nvPr/>
        </p:nvSpPr>
        <p:spPr>
          <a:xfrm>
            <a:off x="5977334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23" name="Shape 21"/>
          <p:cNvSpPr/>
          <p:nvPr/>
        </p:nvSpPr>
        <p:spPr>
          <a:xfrm>
            <a:off x="6167834" y="2082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71438" y="152400"/>
                </a:moveTo>
                <a:cubicBezTo>
                  <a:pt x="63520" y="152400"/>
                  <a:pt x="57150" y="158770"/>
                  <a:pt x="57150" y="166688"/>
                </a:cubicBezTo>
                <a:cubicBezTo>
                  <a:pt x="57150" y="174605"/>
                  <a:pt x="63520" y="180975"/>
                  <a:pt x="71438" y="180975"/>
                </a:cubicBezTo>
                <a:lnTo>
                  <a:pt x="157163" y="180975"/>
                </a:lnTo>
                <a:cubicBezTo>
                  <a:pt x="165080" y="180975"/>
                  <a:pt x="171450" y="174605"/>
                  <a:pt x="171450" y="166688"/>
                </a:cubicBezTo>
                <a:cubicBezTo>
                  <a:pt x="171450" y="158770"/>
                  <a:pt x="165080" y="152400"/>
                  <a:pt x="157163" y="152400"/>
                </a:cubicBezTo>
                <a:lnTo>
                  <a:pt x="71438" y="152400"/>
                </a:lnTo>
                <a:close/>
                <a:moveTo>
                  <a:pt x="71438" y="209550"/>
                </a:moveTo>
                <a:cubicBezTo>
                  <a:pt x="63520" y="209550"/>
                  <a:pt x="57150" y="215920"/>
                  <a:pt x="57150" y="223838"/>
                </a:cubicBezTo>
                <a:cubicBezTo>
                  <a:pt x="57150" y="231755"/>
                  <a:pt x="63520" y="238125"/>
                  <a:pt x="71438" y="238125"/>
                </a:cubicBezTo>
                <a:lnTo>
                  <a:pt x="157163" y="238125"/>
                </a:lnTo>
                <a:cubicBezTo>
                  <a:pt x="165080" y="238125"/>
                  <a:pt x="171450" y="231755"/>
                  <a:pt x="171450" y="223838"/>
                </a:cubicBezTo>
                <a:cubicBezTo>
                  <a:pt x="171450" y="215920"/>
                  <a:pt x="165080" y="209550"/>
                  <a:pt x="157163" y="209550"/>
                </a:cubicBezTo>
                <a:lnTo>
                  <a:pt x="71438" y="209550"/>
                </a:lnTo>
                <a:close/>
              </a:path>
            </a:pathLst>
          </a:custGeom>
          <a:solidFill>
            <a:srgbClr val="F0F2F5"/>
          </a:solidFill>
        </p:spPr>
      </p:sp>
      <p:sp>
        <p:nvSpPr>
          <p:cNvPr id="24" name="Text 22"/>
          <p:cNvSpPr/>
          <p:nvPr/>
        </p:nvSpPr>
        <p:spPr>
          <a:xfrm>
            <a:off x="6739334" y="2032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毕业论文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77334" y="2743200"/>
            <a:ext cx="47117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撰写一篇符合学术规范、内容充实的毕业论文，系统阐述项目的设计思路、实现过程与技术亮点。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77334" y="36068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7" name="Text 25"/>
          <p:cNvSpPr/>
          <p:nvPr/>
        </p:nvSpPr>
        <p:spPr>
          <a:xfrm>
            <a:off x="6078934" y="37084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第1章: 绪论(研究背景、意义、现状)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977334" y="41656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29" name="Text 27"/>
          <p:cNvSpPr/>
          <p:nvPr/>
        </p:nvSpPr>
        <p:spPr>
          <a:xfrm>
            <a:off x="6078934" y="42672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第2章: 需求分析(功能、非功能需求)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977334" y="47244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1" name="Text 29"/>
          <p:cNvSpPr/>
          <p:nvPr/>
        </p:nvSpPr>
        <p:spPr>
          <a:xfrm>
            <a:off x="6078934" y="48260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第3章: 总体设计(架构、模块、数据库)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977334" y="52832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3" name="Text 31"/>
          <p:cNvSpPr/>
          <p:nvPr/>
        </p:nvSpPr>
        <p:spPr>
          <a:xfrm>
            <a:off x="6078934" y="53848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第4章: 详细设计(核心功能实现)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977334" y="58420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5" name="Text 33"/>
          <p:cNvSpPr/>
          <p:nvPr/>
        </p:nvSpPr>
        <p:spPr>
          <a:xfrm>
            <a:off x="6078934" y="59436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第5章: 系统实现(关键代码与界面)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977334" y="64008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7" name="Text 35"/>
          <p:cNvSpPr/>
          <p:nvPr/>
        </p:nvSpPr>
        <p:spPr>
          <a:xfrm>
            <a:off x="6078934" y="65024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第6章: 系统测试(测试方案与结果)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977334" y="6959600"/>
            <a:ext cx="4610100" cy="457200"/>
          </a:xfrm>
          <a:custGeom>
            <a:avLst/>
            <a:gdLst/>
            <a:ahLst/>
            <a:cxnLst/>
            <a:rect l="l" t="t" r="r" b="b"/>
            <a:pathLst>
              <a:path w="4610100" h="457200">
                <a:moveTo>
                  <a:pt x="50799" y="0"/>
                </a:moveTo>
                <a:lnTo>
                  <a:pt x="4559301" y="0"/>
                </a:lnTo>
                <a:cubicBezTo>
                  <a:pt x="4587356" y="0"/>
                  <a:pt x="4610100" y="22744"/>
                  <a:pt x="4610100" y="50799"/>
                </a:cubicBezTo>
                <a:lnTo>
                  <a:pt x="4610100" y="406401"/>
                </a:lnTo>
                <a:cubicBezTo>
                  <a:pt x="4610100" y="434456"/>
                  <a:pt x="4587356" y="457200"/>
                  <a:pt x="4559301" y="457200"/>
                </a:cubicBezTo>
                <a:lnTo>
                  <a:pt x="50799" y="457200"/>
                </a:lnTo>
                <a:cubicBezTo>
                  <a:pt x="22744" y="457200"/>
                  <a:pt x="0" y="434456"/>
                  <a:pt x="0" y="406401"/>
                </a:cubicBezTo>
                <a:lnTo>
                  <a:pt x="0" y="50799"/>
                </a:lnTo>
                <a:cubicBezTo>
                  <a:pt x="0" y="22762"/>
                  <a:pt x="22762" y="0"/>
                  <a:pt x="50799" y="0"/>
                </a:cubicBezTo>
                <a:close/>
              </a:path>
            </a:pathLst>
          </a:custGeom>
          <a:solidFill>
            <a:srgbClr val="5F7A8D">
              <a:alpha val="10196"/>
            </a:srgbClr>
          </a:solidFill>
        </p:spPr>
      </p:sp>
      <p:sp>
        <p:nvSpPr>
          <p:cNvPr id="39" name="Text 37"/>
          <p:cNvSpPr/>
          <p:nvPr/>
        </p:nvSpPr>
        <p:spPr>
          <a:xfrm>
            <a:off x="6078934" y="7061200"/>
            <a:ext cx="4495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第7章: 总结与展望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977334" y="7620000"/>
            <a:ext cx="4610100" cy="609600"/>
          </a:xfrm>
          <a:custGeom>
            <a:avLst/>
            <a:gdLst/>
            <a:ahLst/>
            <a:cxnLst/>
            <a:rect l="l" t="t" r="r" b="b"/>
            <a:pathLst>
              <a:path w="4610100" h="6096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558802"/>
                </a:lnTo>
                <a:cubicBezTo>
                  <a:pt x="4610100" y="586857"/>
                  <a:pt x="4587357" y="609600"/>
                  <a:pt x="45593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</p:spPr>
      </p:sp>
      <p:sp>
        <p:nvSpPr>
          <p:cNvPr id="41" name="Text 39"/>
          <p:cNvSpPr/>
          <p:nvPr/>
        </p:nvSpPr>
        <p:spPr>
          <a:xfrm>
            <a:off x="6078934" y="7772400"/>
            <a:ext cx="440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验收标准: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字数≥1万字，查重率≤20%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0862667" y="1930400"/>
            <a:ext cx="50800" cy="6299200"/>
          </a:xfrm>
          <a:custGeom>
            <a:avLst/>
            <a:gdLst/>
            <a:ahLst/>
            <a:cxnLst/>
            <a:rect l="l" t="t" r="r" b="b"/>
            <a:pathLst>
              <a:path w="50800" h="6299200">
                <a:moveTo>
                  <a:pt x="0" y="0"/>
                </a:moveTo>
                <a:lnTo>
                  <a:pt x="50800" y="0"/>
                </a:lnTo>
                <a:lnTo>
                  <a:pt x="50800" y="6299200"/>
                </a:lnTo>
                <a:lnTo>
                  <a:pt x="0" y="6299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3" name="Shape 41"/>
          <p:cNvSpPr/>
          <p:nvPr/>
        </p:nvSpPr>
        <p:spPr>
          <a:xfrm>
            <a:off x="11142067" y="19304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01602" y="0"/>
                </a:moveTo>
                <a:lnTo>
                  <a:pt x="507998" y="0"/>
                </a:lnTo>
                <a:cubicBezTo>
                  <a:pt x="564111" y="0"/>
                  <a:pt x="609600" y="45489"/>
                  <a:pt x="609600" y="101602"/>
                </a:cubicBezTo>
                <a:lnTo>
                  <a:pt x="609600" y="507998"/>
                </a:lnTo>
                <a:cubicBezTo>
                  <a:pt x="609600" y="564111"/>
                  <a:pt x="564111" y="609600"/>
                  <a:pt x="507998" y="609600"/>
                </a:cubicBezTo>
                <a:lnTo>
                  <a:pt x="101602" y="609600"/>
                </a:lnTo>
                <a:cubicBezTo>
                  <a:pt x="45489" y="609600"/>
                  <a:pt x="0" y="564111"/>
                  <a:pt x="0" y="507998"/>
                </a:cubicBezTo>
                <a:lnTo>
                  <a:pt x="0" y="101602"/>
                </a:lnTo>
                <a:cubicBezTo>
                  <a:pt x="0" y="45526"/>
                  <a:pt x="45526" y="0"/>
                  <a:pt x="101602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44" name="Shape 42"/>
          <p:cNvSpPr/>
          <p:nvPr/>
        </p:nvSpPr>
        <p:spPr>
          <a:xfrm>
            <a:off x="11275417" y="2082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33338" y="134303"/>
                </a:moveTo>
                <a:lnTo>
                  <a:pt x="19288" y="176332"/>
                </a:lnTo>
                <a:lnTo>
                  <a:pt x="19288" y="57150"/>
                </a:lnTo>
                <a:cubicBezTo>
                  <a:pt x="19288" y="36135"/>
                  <a:pt x="36374" y="19050"/>
                  <a:pt x="57388" y="19050"/>
                </a:cubicBezTo>
                <a:lnTo>
                  <a:pt x="139958" y="19050"/>
                </a:lnTo>
                <a:cubicBezTo>
                  <a:pt x="148173" y="19050"/>
                  <a:pt x="156210" y="21729"/>
                  <a:pt x="162818" y="26670"/>
                </a:cubicBezTo>
                <a:lnTo>
                  <a:pt x="185678" y="43815"/>
                </a:lnTo>
                <a:cubicBezTo>
                  <a:pt x="188952" y="46315"/>
                  <a:pt x="193000" y="47625"/>
                  <a:pt x="197108" y="47625"/>
                </a:cubicBezTo>
                <a:lnTo>
                  <a:pt x="266938" y="47625"/>
                </a:lnTo>
                <a:cubicBezTo>
                  <a:pt x="287953" y="47625"/>
                  <a:pt x="305038" y="64710"/>
                  <a:pt x="305038" y="85725"/>
                </a:cubicBezTo>
                <a:lnTo>
                  <a:pt x="305038" y="95250"/>
                </a:lnTo>
                <a:lnTo>
                  <a:pt x="87511" y="95250"/>
                </a:lnTo>
                <a:cubicBezTo>
                  <a:pt x="62925" y="95250"/>
                  <a:pt x="41077" y="110966"/>
                  <a:pt x="33278" y="134303"/>
                </a:cubicBezTo>
                <a:close/>
                <a:moveTo>
                  <a:pt x="284440" y="266700"/>
                </a:moveTo>
                <a:lnTo>
                  <a:pt x="58936" y="266700"/>
                </a:lnTo>
                <a:cubicBezTo>
                  <a:pt x="39410" y="266700"/>
                  <a:pt x="25658" y="247590"/>
                  <a:pt x="31849" y="229076"/>
                </a:cubicBezTo>
                <a:lnTo>
                  <a:pt x="60424" y="143351"/>
                </a:lnTo>
                <a:cubicBezTo>
                  <a:pt x="64294" y="131683"/>
                  <a:pt x="75248" y="123825"/>
                  <a:pt x="87511" y="123825"/>
                </a:cubicBezTo>
                <a:lnTo>
                  <a:pt x="313015" y="123825"/>
                </a:lnTo>
                <a:cubicBezTo>
                  <a:pt x="332542" y="123825"/>
                  <a:pt x="346293" y="142935"/>
                  <a:pt x="340102" y="161449"/>
                </a:cubicBezTo>
                <a:lnTo>
                  <a:pt x="311527" y="247174"/>
                </a:lnTo>
                <a:cubicBezTo>
                  <a:pt x="307658" y="258842"/>
                  <a:pt x="296704" y="266700"/>
                  <a:pt x="284440" y="266700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45" name="Text 43"/>
          <p:cNvSpPr/>
          <p:nvPr/>
        </p:nvSpPr>
        <p:spPr>
          <a:xfrm>
            <a:off x="11904067" y="2032000"/>
            <a:ext cx="13716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技术文档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42067" y="2743200"/>
            <a:ext cx="47117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提供完整的技术文档，便于系统维护、二次开发与团队协作。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1142067" y="36068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48" name="Shape 46"/>
          <p:cNvSpPr/>
          <p:nvPr/>
        </p:nvSpPr>
        <p:spPr>
          <a:xfrm>
            <a:off x="11319867" y="378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76200" y="25400"/>
                </a:moveTo>
                <a:cubicBezTo>
                  <a:pt x="76200" y="18375"/>
                  <a:pt x="81875" y="12700"/>
                  <a:pt x="88900" y="12700"/>
                </a:cubicBezTo>
                <a:lnTo>
                  <a:pt x="114300" y="12700"/>
                </a:lnTo>
                <a:cubicBezTo>
                  <a:pt x="121325" y="12700"/>
                  <a:pt x="127000" y="18375"/>
                  <a:pt x="127000" y="25400"/>
                </a:cubicBezTo>
                <a:lnTo>
                  <a:pt x="127000" y="50800"/>
                </a:lnTo>
                <a:cubicBezTo>
                  <a:pt x="127000" y="57825"/>
                  <a:pt x="121325" y="63500"/>
                  <a:pt x="114300" y="63500"/>
                </a:cubicBezTo>
                <a:lnTo>
                  <a:pt x="111125" y="63500"/>
                </a:lnTo>
                <a:lnTo>
                  <a:pt x="111125" y="88900"/>
                </a:lnTo>
                <a:lnTo>
                  <a:pt x="158750" y="88900"/>
                </a:lnTo>
                <a:cubicBezTo>
                  <a:pt x="174546" y="88900"/>
                  <a:pt x="187325" y="101679"/>
                  <a:pt x="187325" y="117475"/>
                </a:cubicBezTo>
                <a:lnTo>
                  <a:pt x="187325" y="139700"/>
                </a:lnTo>
                <a:lnTo>
                  <a:pt x="190500" y="139700"/>
                </a:lnTo>
                <a:cubicBezTo>
                  <a:pt x="197525" y="139700"/>
                  <a:pt x="203200" y="145375"/>
                  <a:pt x="203200" y="152400"/>
                </a:cubicBezTo>
                <a:lnTo>
                  <a:pt x="203200" y="177800"/>
                </a:lnTo>
                <a:cubicBezTo>
                  <a:pt x="203200" y="184825"/>
                  <a:pt x="197525" y="190500"/>
                  <a:pt x="190500" y="190500"/>
                </a:cubicBezTo>
                <a:lnTo>
                  <a:pt x="165100" y="190500"/>
                </a:lnTo>
                <a:cubicBezTo>
                  <a:pt x="158075" y="190500"/>
                  <a:pt x="152400" y="184825"/>
                  <a:pt x="152400" y="177800"/>
                </a:cubicBezTo>
                <a:lnTo>
                  <a:pt x="152400" y="152400"/>
                </a:lnTo>
                <a:cubicBezTo>
                  <a:pt x="152400" y="145375"/>
                  <a:pt x="158075" y="139700"/>
                  <a:pt x="165100" y="139700"/>
                </a:cubicBezTo>
                <a:lnTo>
                  <a:pt x="168275" y="139700"/>
                </a:lnTo>
                <a:lnTo>
                  <a:pt x="168275" y="117475"/>
                </a:lnTo>
                <a:cubicBezTo>
                  <a:pt x="168275" y="112197"/>
                  <a:pt x="164028" y="107950"/>
                  <a:pt x="158750" y="107950"/>
                </a:cubicBezTo>
                <a:lnTo>
                  <a:pt x="111125" y="107950"/>
                </a:lnTo>
                <a:lnTo>
                  <a:pt x="111125" y="139700"/>
                </a:lnTo>
                <a:lnTo>
                  <a:pt x="114300" y="139700"/>
                </a:lnTo>
                <a:cubicBezTo>
                  <a:pt x="121325" y="139700"/>
                  <a:pt x="127000" y="145375"/>
                  <a:pt x="127000" y="152400"/>
                </a:cubicBezTo>
                <a:lnTo>
                  <a:pt x="127000" y="177800"/>
                </a:lnTo>
                <a:cubicBezTo>
                  <a:pt x="127000" y="184825"/>
                  <a:pt x="121325" y="190500"/>
                  <a:pt x="114300" y="190500"/>
                </a:cubicBezTo>
                <a:lnTo>
                  <a:pt x="88900" y="190500"/>
                </a:lnTo>
                <a:cubicBezTo>
                  <a:pt x="81875" y="190500"/>
                  <a:pt x="76200" y="184825"/>
                  <a:pt x="76200" y="177800"/>
                </a:cubicBezTo>
                <a:lnTo>
                  <a:pt x="76200" y="152400"/>
                </a:lnTo>
                <a:cubicBezTo>
                  <a:pt x="76200" y="145375"/>
                  <a:pt x="81875" y="139700"/>
                  <a:pt x="88900" y="139700"/>
                </a:cubicBezTo>
                <a:lnTo>
                  <a:pt x="92075" y="139700"/>
                </a:lnTo>
                <a:lnTo>
                  <a:pt x="92075" y="107950"/>
                </a:lnTo>
                <a:lnTo>
                  <a:pt x="44450" y="107950"/>
                </a:lnTo>
                <a:cubicBezTo>
                  <a:pt x="39172" y="107950"/>
                  <a:pt x="34925" y="112197"/>
                  <a:pt x="34925" y="117475"/>
                </a:cubicBezTo>
                <a:lnTo>
                  <a:pt x="34925" y="139700"/>
                </a:lnTo>
                <a:lnTo>
                  <a:pt x="38100" y="139700"/>
                </a:lnTo>
                <a:cubicBezTo>
                  <a:pt x="45125" y="139700"/>
                  <a:pt x="50800" y="145375"/>
                  <a:pt x="50800" y="152400"/>
                </a:cubicBezTo>
                <a:lnTo>
                  <a:pt x="50800" y="177800"/>
                </a:lnTo>
                <a:cubicBezTo>
                  <a:pt x="50800" y="184825"/>
                  <a:pt x="45125" y="190500"/>
                  <a:pt x="38100" y="190500"/>
                </a:cubicBezTo>
                <a:lnTo>
                  <a:pt x="12700" y="190500"/>
                </a:lnTo>
                <a:cubicBezTo>
                  <a:pt x="5675" y="190500"/>
                  <a:pt x="0" y="184825"/>
                  <a:pt x="0" y="177800"/>
                </a:cubicBezTo>
                <a:lnTo>
                  <a:pt x="0" y="152400"/>
                </a:lnTo>
                <a:cubicBezTo>
                  <a:pt x="0" y="145375"/>
                  <a:pt x="5675" y="139700"/>
                  <a:pt x="12700" y="139700"/>
                </a:cubicBezTo>
                <a:lnTo>
                  <a:pt x="15875" y="139700"/>
                </a:lnTo>
                <a:lnTo>
                  <a:pt x="15875" y="117475"/>
                </a:lnTo>
                <a:cubicBezTo>
                  <a:pt x="15875" y="101679"/>
                  <a:pt x="28654" y="88900"/>
                  <a:pt x="44450" y="88900"/>
                </a:cubicBezTo>
                <a:lnTo>
                  <a:pt x="92075" y="88900"/>
                </a:lnTo>
                <a:lnTo>
                  <a:pt x="92075" y="63500"/>
                </a:lnTo>
                <a:lnTo>
                  <a:pt x="88900" y="63500"/>
                </a:lnTo>
                <a:cubicBezTo>
                  <a:pt x="81875" y="63500"/>
                  <a:pt x="76200" y="57825"/>
                  <a:pt x="76200" y="50800"/>
                </a:cubicBezTo>
                <a:lnTo>
                  <a:pt x="76200" y="2540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49" name="Text 47"/>
          <p:cNvSpPr/>
          <p:nvPr/>
        </p:nvSpPr>
        <p:spPr>
          <a:xfrm>
            <a:off x="11650067" y="37592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系统</a:t>
            </a:r>
            <a:r>
              <a:rPr lang="zh-CN" alt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开题报告</a:t>
            </a: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294467" y="40640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1142067" y="45212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52" name="Shape 50"/>
          <p:cNvSpPr/>
          <p:nvPr/>
        </p:nvSpPr>
        <p:spPr>
          <a:xfrm>
            <a:off x="11332567" y="46990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7800" y="81677"/>
                </a:moveTo>
                <a:cubicBezTo>
                  <a:pt x="171926" y="85566"/>
                  <a:pt x="165179" y="88702"/>
                  <a:pt x="158155" y="91202"/>
                </a:cubicBezTo>
                <a:cubicBezTo>
                  <a:pt x="139502" y="97869"/>
                  <a:pt x="115014" y="101600"/>
                  <a:pt x="88900" y="101600"/>
                </a:cubicBezTo>
                <a:cubicBezTo>
                  <a:pt x="62786" y="101600"/>
                  <a:pt x="38259" y="97830"/>
                  <a:pt x="19645" y="91202"/>
                </a:cubicBezTo>
                <a:cubicBezTo>
                  <a:pt x="12660" y="88702"/>
                  <a:pt x="5874" y="85566"/>
                  <a:pt x="0" y="81677"/>
                </a:cubicBezTo>
                <a:lnTo>
                  <a:pt x="0" y="114300"/>
                </a:lnTo>
                <a:cubicBezTo>
                  <a:pt x="0" y="131842"/>
                  <a:pt x="39807" y="146050"/>
                  <a:pt x="88900" y="146050"/>
                </a:cubicBezTo>
                <a:cubicBezTo>
                  <a:pt x="137993" y="146050"/>
                  <a:pt x="177800" y="131842"/>
                  <a:pt x="177800" y="114300"/>
                </a:cubicBezTo>
                <a:lnTo>
                  <a:pt x="177800" y="81677"/>
                </a:lnTo>
                <a:close/>
                <a:moveTo>
                  <a:pt x="177800" y="50800"/>
                </a:moveTo>
                <a:lnTo>
                  <a:pt x="177800" y="31750"/>
                </a:lnTo>
                <a:cubicBezTo>
                  <a:pt x="177800" y="14208"/>
                  <a:pt x="137993" y="0"/>
                  <a:pt x="88900" y="0"/>
                </a:cubicBezTo>
                <a:cubicBezTo>
                  <a:pt x="39807" y="0"/>
                  <a:pt x="0" y="14208"/>
                  <a:pt x="0" y="31750"/>
                </a:cubicBezTo>
                <a:lnTo>
                  <a:pt x="0" y="50800"/>
                </a:lnTo>
                <a:cubicBezTo>
                  <a:pt x="0" y="68342"/>
                  <a:pt x="39807" y="82550"/>
                  <a:pt x="88900" y="82550"/>
                </a:cubicBezTo>
                <a:cubicBezTo>
                  <a:pt x="137993" y="82550"/>
                  <a:pt x="177800" y="68342"/>
                  <a:pt x="177800" y="50800"/>
                </a:cubicBezTo>
                <a:close/>
                <a:moveTo>
                  <a:pt x="158155" y="154702"/>
                </a:moveTo>
                <a:cubicBezTo>
                  <a:pt x="139541" y="161330"/>
                  <a:pt x="115054" y="165100"/>
                  <a:pt x="88900" y="165100"/>
                </a:cubicBezTo>
                <a:cubicBezTo>
                  <a:pt x="62746" y="165100"/>
                  <a:pt x="38259" y="161330"/>
                  <a:pt x="19645" y="154702"/>
                </a:cubicBezTo>
                <a:cubicBezTo>
                  <a:pt x="12660" y="152202"/>
                  <a:pt x="5874" y="149066"/>
                  <a:pt x="0" y="145177"/>
                </a:cubicBezTo>
                <a:lnTo>
                  <a:pt x="0" y="171450"/>
                </a:lnTo>
                <a:cubicBezTo>
                  <a:pt x="0" y="188992"/>
                  <a:pt x="39807" y="203200"/>
                  <a:pt x="88900" y="203200"/>
                </a:cubicBezTo>
                <a:cubicBezTo>
                  <a:pt x="137993" y="203200"/>
                  <a:pt x="177800" y="188992"/>
                  <a:pt x="177800" y="171450"/>
                </a:cubicBezTo>
                <a:lnTo>
                  <a:pt x="177800" y="145177"/>
                </a:lnTo>
                <a:cubicBezTo>
                  <a:pt x="171926" y="149066"/>
                  <a:pt x="165179" y="152202"/>
                  <a:pt x="158155" y="154702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3" name="Text 51"/>
          <p:cNvSpPr/>
          <p:nvPr/>
        </p:nvSpPr>
        <p:spPr>
          <a:xfrm>
            <a:off x="11650067" y="4673600"/>
            <a:ext cx="13335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数据库设计文档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1294467" y="49784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E-R图、表结构、数据字典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11142067" y="54356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56" name="Shape 54"/>
          <p:cNvSpPr/>
          <p:nvPr/>
        </p:nvSpPr>
        <p:spPr>
          <a:xfrm>
            <a:off x="11307167" y="56134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143193" y="476"/>
                </a:moveTo>
                <a:cubicBezTo>
                  <a:pt x="136446" y="-1468"/>
                  <a:pt x="129421" y="2461"/>
                  <a:pt x="127476" y="9207"/>
                </a:cubicBezTo>
                <a:lnTo>
                  <a:pt x="76676" y="187008"/>
                </a:lnTo>
                <a:cubicBezTo>
                  <a:pt x="74732" y="193754"/>
                  <a:pt x="78661" y="200779"/>
                  <a:pt x="85408" y="202724"/>
                </a:cubicBezTo>
                <a:cubicBezTo>
                  <a:pt x="92154" y="204668"/>
                  <a:pt x="99179" y="200739"/>
                  <a:pt x="101124" y="193993"/>
                </a:cubicBezTo>
                <a:lnTo>
                  <a:pt x="151924" y="16193"/>
                </a:lnTo>
                <a:cubicBezTo>
                  <a:pt x="153868" y="9446"/>
                  <a:pt x="149939" y="2421"/>
                  <a:pt x="143192" y="476"/>
                </a:cubicBezTo>
                <a:close/>
                <a:moveTo>
                  <a:pt x="168831" y="54491"/>
                </a:moveTo>
                <a:cubicBezTo>
                  <a:pt x="163870" y="59452"/>
                  <a:pt x="163870" y="67508"/>
                  <a:pt x="168831" y="72469"/>
                </a:cubicBezTo>
                <a:lnTo>
                  <a:pt x="197961" y="101600"/>
                </a:lnTo>
                <a:lnTo>
                  <a:pt x="168831" y="130731"/>
                </a:lnTo>
                <a:cubicBezTo>
                  <a:pt x="163870" y="135692"/>
                  <a:pt x="163870" y="143748"/>
                  <a:pt x="168831" y="148709"/>
                </a:cubicBezTo>
                <a:cubicBezTo>
                  <a:pt x="173792" y="153670"/>
                  <a:pt x="181848" y="153670"/>
                  <a:pt x="186809" y="148709"/>
                </a:cubicBezTo>
                <a:lnTo>
                  <a:pt x="224909" y="110609"/>
                </a:lnTo>
                <a:cubicBezTo>
                  <a:pt x="229870" y="105648"/>
                  <a:pt x="229870" y="97592"/>
                  <a:pt x="224909" y="92631"/>
                </a:cubicBezTo>
                <a:lnTo>
                  <a:pt x="186809" y="54531"/>
                </a:lnTo>
                <a:cubicBezTo>
                  <a:pt x="181848" y="49570"/>
                  <a:pt x="173792" y="49570"/>
                  <a:pt x="168831" y="54531"/>
                </a:cubicBezTo>
                <a:close/>
                <a:moveTo>
                  <a:pt x="59809" y="54491"/>
                </a:moveTo>
                <a:cubicBezTo>
                  <a:pt x="54848" y="49530"/>
                  <a:pt x="46792" y="49530"/>
                  <a:pt x="41831" y="54491"/>
                </a:cubicBezTo>
                <a:lnTo>
                  <a:pt x="3731" y="92591"/>
                </a:lnTo>
                <a:cubicBezTo>
                  <a:pt x="-1230" y="97552"/>
                  <a:pt x="-1230" y="105608"/>
                  <a:pt x="3731" y="110569"/>
                </a:cubicBezTo>
                <a:lnTo>
                  <a:pt x="41831" y="148669"/>
                </a:lnTo>
                <a:cubicBezTo>
                  <a:pt x="46792" y="153630"/>
                  <a:pt x="54848" y="153630"/>
                  <a:pt x="59809" y="148669"/>
                </a:cubicBezTo>
                <a:cubicBezTo>
                  <a:pt x="64770" y="143708"/>
                  <a:pt x="64770" y="135652"/>
                  <a:pt x="59809" y="130691"/>
                </a:cubicBezTo>
                <a:lnTo>
                  <a:pt x="30678" y="101600"/>
                </a:lnTo>
                <a:lnTo>
                  <a:pt x="59769" y="72469"/>
                </a:lnTo>
                <a:cubicBezTo>
                  <a:pt x="64730" y="67508"/>
                  <a:pt x="64730" y="59452"/>
                  <a:pt x="59769" y="54491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57" name="Text 55"/>
          <p:cNvSpPr/>
          <p:nvPr/>
        </p:nvSpPr>
        <p:spPr>
          <a:xfrm>
            <a:off x="11650067" y="5588000"/>
            <a:ext cx="10668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API接口文档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1294467" y="58928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Swagger生成，接口说明、参数、返回值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1142067" y="6350000"/>
            <a:ext cx="4610100" cy="812800"/>
          </a:xfrm>
          <a:custGeom>
            <a:avLst/>
            <a:gdLst/>
            <a:ahLst/>
            <a:cxnLst/>
            <a:rect l="l" t="t" r="r" b="b"/>
            <a:pathLst>
              <a:path w="4610100" h="812800">
                <a:moveTo>
                  <a:pt x="50800" y="0"/>
                </a:moveTo>
                <a:lnTo>
                  <a:pt x="4559300" y="0"/>
                </a:lnTo>
                <a:cubicBezTo>
                  <a:pt x="4587337" y="0"/>
                  <a:pt x="4610100" y="22763"/>
                  <a:pt x="4610100" y="50800"/>
                </a:cubicBezTo>
                <a:lnTo>
                  <a:pt x="4610100" y="762000"/>
                </a:lnTo>
                <a:cubicBezTo>
                  <a:pt x="4610100" y="790037"/>
                  <a:pt x="4587337" y="812800"/>
                  <a:pt x="4559300" y="812800"/>
                </a:cubicBezTo>
                <a:lnTo>
                  <a:pt x="50800" y="812800"/>
                </a:lnTo>
                <a:cubicBezTo>
                  <a:pt x="22763" y="812800"/>
                  <a:pt x="0" y="790037"/>
                  <a:pt x="0" y="762000"/>
                </a:cubicBezTo>
                <a:lnTo>
                  <a:pt x="0" y="50800"/>
                </a:lnTo>
                <a:cubicBezTo>
                  <a:pt x="0" y="22763"/>
                  <a:pt x="22763" y="0"/>
                  <a:pt x="50800" y="0"/>
                </a:cubicBezTo>
                <a:close/>
              </a:path>
            </a:pathLst>
          </a:custGeom>
          <a:solidFill>
            <a:srgbClr val="8D99AE">
              <a:alpha val="10196"/>
            </a:srgbClr>
          </a:solidFill>
        </p:spPr>
      </p:sp>
      <p:sp>
        <p:nvSpPr>
          <p:cNvPr id="60" name="Shape 58"/>
          <p:cNvSpPr/>
          <p:nvPr/>
        </p:nvSpPr>
        <p:spPr>
          <a:xfrm>
            <a:off x="11345267" y="6527800"/>
            <a:ext cx="152400" cy="203200"/>
          </a:xfrm>
          <a:custGeom>
            <a:avLst/>
            <a:gdLst/>
            <a:ahLst/>
            <a:cxnLst/>
            <a:rect l="l" t="t" r="r" b="b"/>
            <a:pathLst>
              <a:path w="152400" h="203200">
                <a:moveTo>
                  <a:pt x="0" y="25400"/>
                </a:moveTo>
                <a:cubicBezTo>
                  <a:pt x="0" y="11390"/>
                  <a:pt x="11390" y="0"/>
                  <a:pt x="25400" y="0"/>
                </a:cubicBezTo>
                <a:lnTo>
                  <a:pt x="84733" y="0"/>
                </a:lnTo>
                <a:cubicBezTo>
                  <a:pt x="91480" y="0"/>
                  <a:pt x="97949" y="2659"/>
                  <a:pt x="102711" y="7422"/>
                </a:cubicBezTo>
                <a:lnTo>
                  <a:pt x="144978" y="49728"/>
                </a:lnTo>
                <a:cubicBezTo>
                  <a:pt x="149741" y="54491"/>
                  <a:pt x="152400" y="60960"/>
                  <a:pt x="152400" y="67707"/>
                </a:cubicBezTo>
                <a:lnTo>
                  <a:pt x="152400" y="177800"/>
                </a:lnTo>
                <a:cubicBezTo>
                  <a:pt x="152400" y="191810"/>
                  <a:pt x="141010" y="203200"/>
                  <a:pt x="127000" y="203200"/>
                </a:cubicBezTo>
                <a:lnTo>
                  <a:pt x="25400" y="203200"/>
                </a:lnTo>
                <a:cubicBezTo>
                  <a:pt x="11390" y="203200"/>
                  <a:pt x="0" y="191810"/>
                  <a:pt x="0" y="177800"/>
                </a:cubicBezTo>
                <a:lnTo>
                  <a:pt x="0" y="25400"/>
                </a:lnTo>
                <a:close/>
                <a:moveTo>
                  <a:pt x="82550" y="23217"/>
                </a:moveTo>
                <a:lnTo>
                  <a:pt x="82550" y="60325"/>
                </a:lnTo>
                <a:cubicBezTo>
                  <a:pt x="82550" y="65603"/>
                  <a:pt x="86797" y="69850"/>
                  <a:pt x="92075" y="69850"/>
                </a:cubicBezTo>
                <a:lnTo>
                  <a:pt x="129183" y="69850"/>
                </a:lnTo>
                <a:lnTo>
                  <a:pt x="82550" y="23217"/>
                </a:lnTo>
                <a:close/>
                <a:moveTo>
                  <a:pt x="61198" y="117316"/>
                </a:moveTo>
                <a:cubicBezTo>
                  <a:pt x="64611" y="113308"/>
                  <a:pt x="64175" y="107315"/>
                  <a:pt x="60166" y="103902"/>
                </a:cubicBezTo>
                <a:cubicBezTo>
                  <a:pt x="56158" y="100489"/>
                  <a:pt x="50165" y="100925"/>
                  <a:pt x="46752" y="104934"/>
                </a:cubicBezTo>
                <a:lnTo>
                  <a:pt x="27702" y="127159"/>
                </a:lnTo>
                <a:cubicBezTo>
                  <a:pt x="24646" y="130731"/>
                  <a:pt x="24646" y="135969"/>
                  <a:pt x="27702" y="139541"/>
                </a:cubicBezTo>
                <a:lnTo>
                  <a:pt x="46752" y="161766"/>
                </a:lnTo>
                <a:cubicBezTo>
                  <a:pt x="50165" y="165775"/>
                  <a:pt x="56198" y="166211"/>
                  <a:pt x="60166" y="162798"/>
                </a:cubicBezTo>
                <a:cubicBezTo>
                  <a:pt x="64135" y="159385"/>
                  <a:pt x="64611" y="153353"/>
                  <a:pt x="61198" y="149384"/>
                </a:cubicBezTo>
                <a:lnTo>
                  <a:pt x="47466" y="133350"/>
                </a:lnTo>
                <a:lnTo>
                  <a:pt x="61198" y="117316"/>
                </a:lnTo>
                <a:close/>
                <a:moveTo>
                  <a:pt x="105648" y="104934"/>
                </a:moveTo>
                <a:cubicBezTo>
                  <a:pt x="102235" y="100925"/>
                  <a:pt x="96202" y="100489"/>
                  <a:pt x="92234" y="103902"/>
                </a:cubicBezTo>
                <a:cubicBezTo>
                  <a:pt x="88265" y="107315"/>
                  <a:pt x="87789" y="113348"/>
                  <a:pt x="91202" y="117316"/>
                </a:cubicBezTo>
                <a:lnTo>
                  <a:pt x="104934" y="133350"/>
                </a:lnTo>
                <a:lnTo>
                  <a:pt x="91202" y="149384"/>
                </a:lnTo>
                <a:cubicBezTo>
                  <a:pt x="87789" y="153392"/>
                  <a:pt x="88225" y="159385"/>
                  <a:pt x="92234" y="162798"/>
                </a:cubicBezTo>
                <a:cubicBezTo>
                  <a:pt x="96242" y="166211"/>
                  <a:pt x="102235" y="165775"/>
                  <a:pt x="105648" y="161766"/>
                </a:cubicBezTo>
                <a:lnTo>
                  <a:pt x="124698" y="139541"/>
                </a:lnTo>
                <a:cubicBezTo>
                  <a:pt x="127754" y="135969"/>
                  <a:pt x="127754" y="130731"/>
                  <a:pt x="124698" y="127159"/>
                </a:cubicBezTo>
                <a:lnTo>
                  <a:pt x="105648" y="104934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61" name="Text 59"/>
          <p:cNvSpPr/>
          <p:nvPr/>
        </p:nvSpPr>
        <p:spPr>
          <a:xfrm>
            <a:off x="11650067" y="6502400"/>
            <a:ext cx="11557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毕业设计</a:t>
            </a:r>
            <a:r>
              <a:rPr lang="en-US" sz="14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文档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294467" y="6807200"/>
            <a:ext cx="4381500" cy="203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1142067" y="7366000"/>
            <a:ext cx="4610100" cy="609600"/>
          </a:xfrm>
          <a:custGeom>
            <a:avLst/>
            <a:gdLst/>
            <a:ahLst/>
            <a:cxnLst/>
            <a:rect l="l" t="t" r="r" b="b"/>
            <a:pathLst>
              <a:path w="4610100" h="609600">
                <a:moveTo>
                  <a:pt x="50798" y="0"/>
                </a:moveTo>
                <a:lnTo>
                  <a:pt x="4559302" y="0"/>
                </a:lnTo>
                <a:cubicBezTo>
                  <a:pt x="4587357" y="0"/>
                  <a:pt x="4610100" y="22743"/>
                  <a:pt x="4610100" y="50798"/>
                </a:cubicBezTo>
                <a:lnTo>
                  <a:pt x="4610100" y="558802"/>
                </a:lnTo>
                <a:cubicBezTo>
                  <a:pt x="4610100" y="586857"/>
                  <a:pt x="4587357" y="609600"/>
                  <a:pt x="4559302" y="609600"/>
                </a:cubicBezTo>
                <a:lnTo>
                  <a:pt x="50798" y="609600"/>
                </a:lnTo>
                <a:cubicBezTo>
                  <a:pt x="22743" y="609600"/>
                  <a:pt x="0" y="586857"/>
                  <a:pt x="0" y="558802"/>
                </a:cubicBezTo>
                <a:lnTo>
                  <a:pt x="0" y="50798"/>
                </a:lnTo>
                <a:cubicBezTo>
                  <a:pt x="0" y="22743"/>
                  <a:pt x="22743" y="0"/>
                  <a:pt x="50798" y="0"/>
                </a:cubicBezTo>
                <a:close/>
              </a:path>
            </a:pathLst>
          </a:custGeom>
          <a:solidFill>
            <a:srgbClr val="8D99AE">
              <a:alpha val="20000"/>
            </a:srgbClr>
          </a:solidFill>
        </p:spPr>
      </p:sp>
      <p:sp>
        <p:nvSpPr>
          <p:cNvPr id="64" name="Text 62"/>
          <p:cNvSpPr/>
          <p:nvPr/>
        </p:nvSpPr>
        <p:spPr>
          <a:xfrm>
            <a:off x="11243667" y="7518400"/>
            <a:ext cx="44069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验收标准: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文档完整度≥90%，格式规范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3416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INNOVATION HIGHLIGHTS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8000" y="914400"/>
            <a:ext cx="15468600" cy="508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创新点:技术整合与地域特色融合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000" y="15748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3"/>
          <p:cNvSpPr/>
          <p:nvPr/>
        </p:nvSpPr>
        <p:spPr>
          <a:xfrm>
            <a:off x="533400" y="1930400"/>
            <a:ext cx="50800" cy="1828800"/>
          </a:xfrm>
          <a:custGeom>
            <a:avLst/>
            <a:gdLst/>
            <a:ahLst/>
            <a:cxnLst/>
            <a:rect l="l" t="t" r="r" b="b"/>
            <a:pathLst>
              <a:path w="50800" h="1828800">
                <a:moveTo>
                  <a:pt x="0" y="0"/>
                </a:moveTo>
                <a:lnTo>
                  <a:pt x="50800" y="0"/>
                </a:lnTo>
                <a:lnTo>
                  <a:pt x="50800" y="1828800"/>
                </a:lnTo>
                <a:lnTo>
                  <a:pt x="0" y="1828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Shape 4"/>
          <p:cNvSpPr/>
          <p:nvPr/>
        </p:nvSpPr>
        <p:spPr>
          <a:xfrm>
            <a:off x="8128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7" name="Text 5"/>
          <p:cNvSpPr/>
          <p:nvPr/>
        </p:nvSpPr>
        <p:spPr>
          <a:xfrm>
            <a:off x="950119" y="2006600"/>
            <a:ext cx="3429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73200" y="2006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前后端分离架构的完整应用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590800"/>
            <a:ext cx="7289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基于Spring Boot + Vue3构建完整的前后端分离架构，实现并行开发与独立部署。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2800" y="3403600"/>
            <a:ext cx="1257300" cy="355600"/>
          </a:xfrm>
          <a:custGeom>
            <a:avLst/>
            <a:gdLst/>
            <a:ahLst/>
            <a:cxnLst/>
            <a:rect l="l" t="t" r="r" b="b"/>
            <a:pathLst>
              <a:path w="1257300" h="355600">
                <a:moveTo>
                  <a:pt x="50801" y="0"/>
                </a:moveTo>
                <a:lnTo>
                  <a:pt x="1206499" y="0"/>
                </a:lnTo>
                <a:cubicBezTo>
                  <a:pt x="1234556" y="0"/>
                  <a:pt x="1257300" y="22744"/>
                  <a:pt x="1257300" y="50801"/>
                </a:cubicBezTo>
                <a:lnTo>
                  <a:pt x="1257300" y="304799"/>
                </a:lnTo>
                <a:cubicBezTo>
                  <a:pt x="1257300" y="332856"/>
                  <a:pt x="1234556" y="355600"/>
                  <a:pt x="12064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812800" y="3403600"/>
            <a:ext cx="13462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RESTful API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77455" y="3403600"/>
            <a:ext cx="1193800" cy="355600"/>
          </a:xfrm>
          <a:custGeom>
            <a:avLst/>
            <a:gdLst/>
            <a:ahLst/>
            <a:cxnLst/>
            <a:rect l="l" t="t" r="r" b="b"/>
            <a:pathLst>
              <a:path w="1193800" h="355600">
                <a:moveTo>
                  <a:pt x="50801" y="0"/>
                </a:moveTo>
                <a:lnTo>
                  <a:pt x="1142999" y="0"/>
                </a:lnTo>
                <a:cubicBezTo>
                  <a:pt x="1171056" y="0"/>
                  <a:pt x="1193800" y="22744"/>
                  <a:pt x="1193800" y="50801"/>
                </a:cubicBezTo>
                <a:lnTo>
                  <a:pt x="1193800" y="304799"/>
                </a:lnTo>
                <a:cubicBezTo>
                  <a:pt x="1193800" y="332856"/>
                  <a:pt x="1171056" y="355600"/>
                  <a:pt x="11429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3" name="Text 11"/>
          <p:cNvSpPr/>
          <p:nvPr/>
        </p:nvSpPr>
        <p:spPr>
          <a:xfrm>
            <a:off x="2177455" y="3403600"/>
            <a:ext cx="12827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组件化开发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72855" y="3403600"/>
            <a:ext cx="1016000" cy="355600"/>
          </a:xfrm>
          <a:custGeom>
            <a:avLst/>
            <a:gdLst/>
            <a:ahLst/>
            <a:cxnLst/>
            <a:rect l="l" t="t" r="r" b="b"/>
            <a:pathLst>
              <a:path w="1016000" h="355600">
                <a:moveTo>
                  <a:pt x="50801" y="0"/>
                </a:moveTo>
                <a:lnTo>
                  <a:pt x="965199" y="0"/>
                </a:lnTo>
                <a:cubicBezTo>
                  <a:pt x="993256" y="0"/>
                  <a:pt x="1016000" y="22744"/>
                  <a:pt x="1016000" y="50801"/>
                </a:cubicBezTo>
                <a:lnTo>
                  <a:pt x="1016000" y="304799"/>
                </a:lnTo>
                <a:cubicBezTo>
                  <a:pt x="1016000" y="332856"/>
                  <a:pt x="993256" y="355600"/>
                  <a:pt x="965199" y="355600"/>
                </a:cubicBezTo>
                <a:lnTo>
                  <a:pt x="50801" y="355600"/>
                </a:lnTo>
                <a:cubicBezTo>
                  <a:pt x="22744" y="355600"/>
                  <a:pt x="0" y="332856"/>
                  <a:pt x="0" y="3047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15" name="Text 13"/>
          <p:cNvSpPr/>
          <p:nvPr/>
        </p:nvSpPr>
        <p:spPr>
          <a:xfrm>
            <a:off x="3472855" y="3403600"/>
            <a:ext cx="1104900" cy="355600"/>
          </a:xfrm>
          <a:prstGeom prst="rect">
            <a:avLst/>
          </a:prstGeom>
          <a:noFill/>
        </p:spPr>
        <p:txBody>
          <a:bodyPr wrap="square" lIns="152400" tIns="50800" rIns="152400" bIns="5080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独立部署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962400"/>
            <a:ext cx="50800" cy="2006600"/>
          </a:xfrm>
          <a:custGeom>
            <a:avLst/>
            <a:gdLst/>
            <a:ahLst/>
            <a:cxnLst/>
            <a:rect l="l" t="t" r="r" b="b"/>
            <a:pathLst>
              <a:path w="50800" h="2006600">
                <a:moveTo>
                  <a:pt x="0" y="0"/>
                </a:moveTo>
                <a:lnTo>
                  <a:pt x="50800" y="0"/>
                </a:lnTo>
                <a:lnTo>
                  <a:pt x="508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17" name="Shape 15"/>
          <p:cNvSpPr/>
          <p:nvPr/>
        </p:nvSpPr>
        <p:spPr>
          <a:xfrm>
            <a:off x="812800" y="3962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5F7A8D"/>
          </a:solidFill>
        </p:spPr>
      </p:sp>
      <p:sp>
        <p:nvSpPr>
          <p:cNvPr id="18" name="Text 16"/>
          <p:cNvSpPr/>
          <p:nvPr/>
        </p:nvSpPr>
        <p:spPr>
          <a:xfrm>
            <a:off x="930870" y="4038600"/>
            <a:ext cx="38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73200" y="40386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实名制购票与分区票务控制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46228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构建多层次的安全机制，解决传统音乐节票务管理中的痛点问题。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8200" y="51308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2" name="Text 20"/>
          <p:cNvSpPr/>
          <p:nvPr/>
        </p:nvSpPr>
        <p:spPr>
          <a:xfrm>
            <a:off x="1143000" y="51054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身份证验证 + 单用户限购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38200" y="54356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4" name="Text 22"/>
          <p:cNvSpPr/>
          <p:nvPr/>
        </p:nvSpPr>
        <p:spPr>
          <a:xfrm>
            <a:off x="1143000" y="54102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分区库存管理 + 区域限额控制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" y="5740400"/>
            <a:ext cx="177800" cy="177800"/>
          </a:xfrm>
          <a:custGeom>
            <a:avLst/>
            <a:gdLst/>
            <a:ahLst/>
            <a:cxnLst/>
            <a:rect l="l" t="t" r="r" b="b"/>
            <a:pathLst>
              <a:path w="177800" h="177800">
                <a:moveTo>
                  <a:pt x="88900" y="0"/>
                </a:moveTo>
                <a:cubicBezTo>
                  <a:pt x="90497" y="0"/>
                  <a:pt x="92095" y="347"/>
                  <a:pt x="93553" y="1007"/>
                </a:cubicBezTo>
                <a:lnTo>
                  <a:pt x="158978" y="28754"/>
                </a:lnTo>
                <a:cubicBezTo>
                  <a:pt x="166618" y="31983"/>
                  <a:pt x="172313" y="39519"/>
                  <a:pt x="172278" y="48617"/>
                </a:cubicBezTo>
                <a:cubicBezTo>
                  <a:pt x="172105" y="83066"/>
                  <a:pt x="157936" y="146095"/>
                  <a:pt x="98103" y="174744"/>
                </a:cubicBezTo>
                <a:cubicBezTo>
                  <a:pt x="92303" y="177522"/>
                  <a:pt x="85566" y="177522"/>
                  <a:pt x="79767" y="174744"/>
                </a:cubicBezTo>
                <a:cubicBezTo>
                  <a:pt x="19898" y="146095"/>
                  <a:pt x="5765" y="83066"/>
                  <a:pt x="5591" y="48617"/>
                </a:cubicBezTo>
                <a:cubicBezTo>
                  <a:pt x="5556" y="39519"/>
                  <a:pt x="11251" y="31983"/>
                  <a:pt x="18891" y="28754"/>
                </a:cubicBezTo>
                <a:lnTo>
                  <a:pt x="84281" y="1007"/>
                </a:lnTo>
                <a:cubicBezTo>
                  <a:pt x="85740" y="347"/>
                  <a:pt x="87303" y="0"/>
                  <a:pt x="88900" y="0"/>
                </a:cubicBezTo>
                <a:close/>
                <a:moveTo>
                  <a:pt x="88900" y="23197"/>
                </a:moveTo>
                <a:lnTo>
                  <a:pt x="88900" y="154498"/>
                </a:lnTo>
                <a:cubicBezTo>
                  <a:pt x="136823" y="131301"/>
                  <a:pt x="149706" y="79906"/>
                  <a:pt x="150019" y="49138"/>
                </a:cubicBezTo>
                <a:lnTo>
                  <a:pt x="88900" y="23232"/>
                </a:lnTo>
                <a:lnTo>
                  <a:pt x="88900" y="23232"/>
                </a:lnTo>
                <a:close/>
              </a:path>
            </a:pathLst>
          </a:custGeom>
          <a:solidFill>
            <a:srgbClr val="5F7A8D"/>
          </a:solidFill>
        </p:spPr>
      </p:sp>
      <p:sp>
        <p:nvSpPr>
          <p:cNvPr id="26" name="Text 24"/>
          <p:cNvSpPr/>
          <p:nvPr/>
        </p:nvSpPr>
        <p:spPr>
          <a:xfrm>
            <a:off x="1143000" y="57150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事务控制 + 数据库层约束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80400" y="1930400"/>
            <a:ext cx="50800" cy="2336800"/>
          </a:xfrm>
          <a:custGeom>
            <a:avLst/>
            <a:gdLst/>
            <a:ahLst/>
            <a:cxnLst/>
            <a:rect l="l" t="t" r="r" b="b"/>
            <a:pathLst>
              <a:path w="50800" h="2336800">
                <a:moveTo>
                  <a:pt x="0" y="0"/>
                </a:moveTo>
                <a:lnTo>
                  <a:pt x="50800" y="0"/>
                </a:lnTo>
                <a:lnTo>
                  <a:pt x="50800" y="2336800"/>
                </a:lnTo>
                <a:lnTo>
                  <a:pt x="0" y="2336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</p:spPr>
      </p:sp>
      <p:sp>
        <p:nvSpPr>
          <p:cNvPr id="28" name="Shape 26"/>
          <p:cNvSpPr/>
          <p:nvPr/>
        </p:nvSpPr>
        <p:spPr>
          <a:xfrm>
            <a:off x="8559800" y="193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29" name="Text 27"/>
          <p:cNvSpPr/>
          <p:nvPr/>
        </p:nvSpPr>
        <p:spPr>
          <a:xfrm>
            <a:off x="8674894" y="20066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220200" y="2006600"/>
            <a:ext cx="2921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盛京文化沉浸式互动体验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59800" y="2590800"/>
            <a:ext cx="72898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创新性地将地域文化特色融入系统设计，通过地图打卡、积分体系等功能提升文化体验。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607425" y="34290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65494"/>
                </a:moveTo>
                <a:cubicBezTo>
                  <a:pt x="0" y="29309"/>
                  <a:pt x="29865" y="0"/>
                  <a:pt x="66675" y="0"/>
                </a:cubicBezTo>
                <a:cubicBezTo>
                  <a:pt x="103485" y="0"/>
                  <a:pt x="133350" y="29309"/>
                  <a:pt x="133350" y="65494"/>
                </a:cubicBezTo>
                <a:cubicBezTo>
                  <a:pt x="133350" y="106923"/>
                  <a:pt x="91609" y="156582"/>
                  <a:pt x="74176" y="175508"/>
                </a:cubicBezTo>
                <a:cubicBezTo>
                  <a:pt x="70078" y="179953"/>
                  <a:pt x="63237" y="179953"/>
                  <a:pt x="59139" y="175508"/>
                </a:cubicBezTo>
                <a:cubicBezTo>
                  <a:pt x="41707" y="156582"/>
                  <a:pt x="-35" y="106923"/>
                  <a:pt x="-35" y="65494"/>
                </a:cubicBezTo>
                <a:close/>
                <a:moveTo>
                  <a:pt x="66675" y="88900"/>
                </a:moveTo>
                <a:cubicBezTo>
                  <a:pt x="78941" y="88900"/>
                  <a:pt x="88900" y="78941"/>
                  <a:pt x="88900" y="66675"/>
                </a:cubicBezTo>
                <a:cubicBezTo>
                  <a:pt x="88900" y="54409"/>
                  <a:pt x="78941" y="44450"/>
                  <a:pt x="66675" y="44450"/>
                </a:cubicBezTo>
                <a:cubicBezTo>
                  <a:pt x="54409" y="44450"/>
                  <a:pt x="44450" y="54409"/>
                  <a:pt x="44450" y="66675"/>
                </a:cubicBezTo>
                <a:cubicBezTo>
                  <a:pt x="44450" y="78941"/>
                  <a:pt x="54409" y="88900"/>
                  <a:pt x="66675" y="889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3" name="Text 31"/>
          <p:cNvSpPr/>
          <p:nvPr/>
        </p:nvSpPr>
        <p:spPr>
          <a:xfrm>
            <a:off x="8890000" y="34036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高德地图API展示文化打卡点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607425" y="37338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65494"/>
                </a:moveTo>
                <a:cubicBezTo>
                  <a:pt x="0" y="29309"/>
                  <a:pt x="29865" y="0"/>
                  <a:pt x="66675" y="0"/>
                </a:cubicBezTo>
                <a:cubicBezTo>
                  <a:pt x="103485" y="0"/>
                  <a:pt x="133350" y="29309"/>
                  <a:pt x="133350" y="65494"/>
                </a:cubicBezTo>
                <a:cubicBezTo>
                  <a:pt x="133350" y="106923"/>
                  <a:pt x="91609" y="156582"/>
                  <a:pt x="74176" y="175508"/>
                </a:cubicBezTo>
                <a:cubicBezTo>
                  <a:pt x="70078" y="179953"/>
                  <a:pt x="63237" y="179953"/>
                  <a:pt x="59139" y="175508"/>
                </a:cubicBezTo>
                <a:cubicBezTo>
                  <a:pt x="41707" y="156582"/>
                  <a:pt x="-35" y="106923"/>
                  <a:pt x="-35" y="65494"/>
                </a:cubicBezTo>
                <a:close/>
                <a:moveTo>
                  <a:pt x="66675" y="88900"/>
                </a:moveTo>
                <a:cubicBezTo>
                  <a:pt x="78941" y="88900"/>
                  <a:pt x="88900" y="78941"/>
                  <a:pt x="88900" y="66675"/>
                </a:cubicBezTo>
                <a:cubicBezTo>
                  <a:pt x="88900" y="54409"/>
                  <a:pt x="78941" y="44450"/>
                  <a:pt x="66675" y="44450"/>
                </a:cubicBezTo>
                <a:cubicBezTo>
                  <a:pt x="54409" y="44450"/>
                  <a:pt x="44450" y="54409"/>
                  <a:pt x="44450" y="66675"/>
                </a:cubicBezTo>
                <a:cubicBezTo>
                  <a:pt x="44450" y="78941"/>
                  <a:pt x="54409" y="88900"/>
                  <a:pt x="66675" y="889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5" name="Text 33"/>
          <p:cNvSpPr/>
          <p:nvPr/>
        </p:nvSpPr>
        <p:spPr>
          <a:xfrm>
            <a:off x="8890000" y="37084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游戏化积分体系激励用户参与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607425" y="4038600"/>
            <a:ext cx="133350" cy="177800"/>
          </a:xfrm>
          <a:custGeom>
            <a:avLst/>
            <a:gdLst/>
            <a:ahLst/>
            <a:cxnLst/>
            <a:rect l="l" t="t" r="r" b="b"/>
            <a:pathLst>
              <a:path w="133350" h="177800">
                <a:moveTo>
                  <a:pt x="0" y="65494"/>
                </a:moveTo>
                <a:cubicBezTo>
                  <a:pt x="0" y="29309"/>
                  <a:pt x="29865" y="0"/>
                  <a:pt x="66675" y="0"/>
                </a:cubicBezTo>
                <a:cubicBezTo>
                  <a:pt x="103485" y="0"/>
                  <a:pt x="133350" y="29309"/>
                  <a:pt x="133350" y="65494"/>
                </a:cubicBezTo>
                <a:cubicBezTo>
                  <a:pt x="133350" y="106923"/>
                  <a:pt x="91609" y="156582"/>
                  <a:pt x="74176" y="175508"/>
                </a:cubicBezTo>
                <a:cubicBezTo>
                  <a:pt x="70078" y="179953"/>
                  <a:pt x="63237" y="179953"/>
                  <a:pt x="59139" y="175508"/>
                </a:cubicBezTo>
                <a:cubicBezTo>
                  <a:pt x="41707" y="156582"/>
                  <a:pt x="-35" y="106923"/>
                  <a:pt x="-35" y="65494"/>
                </a:cubicBezTo>
                <a:close/>
                <a:moveTo>
                  <a:pt x="66675" y="88900"/>
                </a:moveTo>
                <a:cubicBezTo>
                  <a:pt x="78941" y="88900"/>
                  <a:pt x="88900" y="78941"/>
                  <a:pt x="88900" y="66675"/>
                </a:cubicBezTo>
                <a:cubicBezTo>
                  <a:pt x="88900" y="54409"/>
                  <a:pt x="78941" y="44450"/>
                  <a:pt x="66675" y="44450"/>
                </a:cubicBezTo>
                <a:cubicBezTo>
                  <a:pt x="54409" y="44450"/>
                  <a:pt x="44450" y="54409"/>
                  <a:pt x="44450" y="66675"/>
                </a:cubicBezTo>
                <a:cubicBezTo>
                  <a:pt x="44450" y="78941"/>
                  <a:pt x="54409" y="88900"/>
                  <a:pt x="66675" y="88900"/>
                </a:cubicBezTo>
                <a:close/>
              </a:path>
            </a:pathLst>
          </a:custGeom>
          <a:solidFill>
            <a:srgbClr val="8D99AE"/>
          </a:solidFill>
        </p:spPr>
      </p:sp>
      <p:sp>
        <p:nvSpPr>
          <p:cNvPr id="37" name="Text 35"/>
          <p:cNvSpPr/>
          <p:nvPr/>
        </p:nvSpPr>
        <p:spPr>
          <a:xfrm>
            <a:off x="8890000" y="4013200"/>
            <a:ext cx="69469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盛京文化专题展示历史文化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0400" y="4470400"/>
            <a:ext cx="50800" cy="1701800"/>
          </a:xfrm>
          <a:custGeom>
            <a:avLst/>
            <a:gdLst/>
            <a:ahLst/>
            <a:cxnLst/>
            <a:rect l="l" t="t" r="r" b="b"/>
            <a:pathLst>
              <a:path w="50800" h="1701800">
                <a:moveTo>
                  <a:pt x="0" y="0"/>
                </a:moveTo>
                <a:lnTo>
                  <a:pt x="50800" y="0"/>
                </a:lnTo>
                <a:lnTo>
                  <a:pt x="50800" y="1701800"/>
                </a:lnTo>
                <a:lnTo>
                  <a:pt x="0" y="17018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39" name="Shape 37"/>
          <p:cNvSpPr/>
          <p:nvPr/>
        </p:nvSpPr>
        <p:spPr>
          <a:xfrm>
            <a:off x="8559800" y="44704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54000" y="0"/>
                </a:moveTo>
                <a:lnTo>
                  <a:pt x="254000" y="0"/>
                </a:lnTo>
                <a:cubicBezTo>
                  <a:pt x="394186" y="0"/>
                  <a:pt x="508000" y="113814"/>
                  <a:pt x="508000" y="254000"/>
                </a:cubicBezTo>
                <a:lnTo>
                  <a:pt x="508000" y="254000"/>
                </a:lnTo>
                <a:cubicBezTo>
                  <a:pt x="508000" y="394186"/>
                  <a:pt x="394186" y="508000"/>
                  <a:pt x="254000" y="508000"/>
                </a:cubicBezTo>
                <a:lnTo>
                  <a:pt x="254000" y="508000"/>
                </a:lnTo>
                <a:cubicBezTo>
                  <a:pt x="113814" y="508000"/>
                  <a:pt x="0" y="394186"/>
                  <a:pt x="0" y="254000"/>
                </a:cubicBezTo>
                <a:lnTo>
                  <a:pt x="0" y="254000"/>
                </a:lnTo>
                <a:cubicBezTo>
                  <a:pt x="0" y="113814"/>
                  <a:pt x="113814" y="0"/>
                  <a:pt x="2540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40" name="Text 38"/>
          <p:cNvSpPr/>
          <p:nvPr/>
        </p:nvSpPr>
        <p:spPr>
          <a:xfrm>
            <a:off x="8675092" y="4546600"/>
            <a:ext cx="3937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1A1D24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220200" y="4546600"/>
            <a:ext cx="34290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票务核销与地图打卡有机整合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559800" y="5130800"/>
            <a:ext cx="7289800" cy="330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将票务核销与地图打卡功能有机结合，实现购票-打卡-积分-兑换的完整闭环。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559800" y="5613400"/>
            <a:ext cx="7188200" cy="558800"/>
          </a:xfrm>
          <a:custGeom>
            <a:avLst/>
            <a:gdLst/>
            <a:ahLst/>
            <a:cxnLst/>
            <a:rect l="l" t="t" r="r" b="b"/>
            <a:pathLst>
              <a:path w="7188200" h="558800">
                <a:moveTo>
                  <a:pt x="50801" y="0"/>
                </a:moveTo>
                <a:lnTo>
                  <a:pt x="7137399" y="0"/>
                </a:lnTo>
                <a:cubicBezTo>
                  <a:pt x="7165456" y="0"/>
                  <a:pt x="7188200" y="22744"/>
                  <a:pt x="7188200" y="50801"/>
                </a:cubicBezTo>
                <a:lnTo>
                  <a:pt x="7188200" y="507999"/>
                </a:lnTo>
                <a:cubicBezTo>
                  <a:pt x="7188200" y="536056"/>
                  <a:pt x="7165456" y="558800"/>
                  <a:pt x="7137399" y="558800"/>
                </a:cubicBezTo>
                <a:lnTo>
                  <a:pt x="50801" y="558800"/>
                </a:lnTo>
                <a:cubicBezTo>
                  <a:pt x="22744" y="558800"/>
                  <a:pt x="0" y="536056"/>
                  <a:pt x="0" y="5079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E07A5F">
              <a:alpha val="10196"/>
            </a:srgbClr>
          </a:solidFill>
        </p:spPr>
      </p:sp>
      <p:sp>
        <p:nvSpPr>
          <p:cNvPr id="44" name="Text 42"/>
          <p:cNvSpPr/>
          <p:nvPr/>
        </p:nvSpPr>
        <p:spPr>
          <a:xfrm>
            <a:off x="8712200" y="5765800"/>
            <a:ext cx="6972300" cy="254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购票 → 获得积分 → 地图打卡 → 更多积分 → 兑换奖励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508000" y="6438900"/>
            <a:ext cx="15240000" cy="25400"/>
          </a:xfrm>
          <a:custGeom>
            <a:avLst/>
            <a:gdLst/>
            <a:ahLst/>
            <a:cxnLst/>
            <a:rect l="l" t="t" r="r" b="b"/>
            <a:pathLst>
              <a:path w="15240000" h="25400">
                <a:moveTo>
                  <a:pt x="0" y="0"/>
                </a:moveTo>
                <a:lnTo>
                  <a:pt x="15240000" y="0"/>
                </a:lnTo>
                <a:lnTo>
                  <a:pt x="15240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30196"/>
            </a:srgbClr>
          </a:solidFill>
        </p:spPr>
      </p:sp>
      <p:sp>
        <p:nvSpPr>
          <p:cNvPr id="46" name="Text 44"/>
          <p:cNvSpPr/>
          <p:nvPr/>
        </p:nvSpPr>
        <p:spPr>
          <a:xfrm>
            <a:off x="508000" y="6654800"/>
            <a:ext cx="15341600" cy="660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07A5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创新总结：</a:t>
            </a:r>
            <a:r>
              <a:rPr lang="en-US" sz="1600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本研究在技术整合、安全机制、文化融合、功能整合四个维度实现突破，构建一个功能完整、特色鲜明、安全可靠的音乐节管理系统，为同类系统的设计与实现提供参考方案。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redocn.com/a413fd0081d359feb5017fdbe89513b9843e12ea.jpg"/>
          <p:cNvPicPr>
            <a:picLocks noChangeAspect="1"/>
          </p:cNvPicPr>
          <p:nvPr/>
        </p:nvPicPr>
        <p:blipFill>
          <a:blip r:embed="rId1">
            <a:alphaModFix amt="25000"/>
          </a:blip>
          <a:srcRect t="7843" b="7843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/>
              </a:gs>
              <a:gs pos="50000">
                <a:srgbClr val="1A1D24">
                  <a:alpha val="90000"/>
                </a:srgbClr>
              </a:gs>
              <a:gs pos="100000">
                <a:srgbClr val="1A1D24">
                  <a:alpha val="60000"/>
                </a:srgbClr>
              </a:gs>
            </a:gsLst>
            <a:lin ang="0" scaled="1"/>
          </a:gradFill>
        </p:spPr>
      </p:sp>
      <p:sp>
        <p:nvSpPr>
          <p:cNvPr id="4" name="Shape 1"/>
          <p:cNvSpPr/>
          <p:nvPr/>
        </p:nvSpPr>
        <p:spPr>
          <a:xfrm>
            <a:off x="533400" y="2165350"/>
            <a:ext cx="3187700" cy="711200"/>
          </a:xfrm>
          <a:custGeom>
            <a:avLst/>
            <a:gdLst/>
            <a:ahLst/>
            <a:cxnLst/>
            <a:rect l="l" t="t" r="r" b="b"/>
            <a:pathLst>
              <a:path w="3187700" h="711200">
                <a:moveTo>
                  <a:pt x="0" y="0"/>
                </a:moveTo>
                <a:lnTo>
                  <a:pt x="3187700" y="0"/>
                </a:lnTo>
                <a:lnTo>
                  <a:pt x="31877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>
              <a:alpha val="20000"/>
            </a:srgbClr>
          </a:solidFill>
        </p:spPr>
      </p:sp>
      <p:sp>
        <p:nvSpPr>
          <p:cNvPr id="5" name="Shape 2"/>
          <p:cNvSpPr/>
          <p:nvPr/>
        </p:nvSpPr>
        <p:spPr>
          <a:xfrm>
            <a:off x="533400" y="2165350"/>
            <a:ext cx="50800" cy="711200"/>
          </a:xfrm>
          <a:custGeom>
            <a:avLst/>
            <a:gdLst/>
            <a:ahLst/>
            <a:cxnLst/>
            <a:rect l="l" t="t" r="r" b="b"/>
            <a:pathLst>
              <a:path w="50800" h="711200">
                <a:moveTo>
                  <a:pt x="0" y="0"/>
                </a:moveTo>
                <a:lnTo>
                  <a:pt x="50800" y="0"/>
                </a:lnTo>
                <a:lnTo>
                  <a:pt x="50800" y="711200"/>
                </a:lnTo>
                <a:lnTo>
                  <a:pt x="0" y="7112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6" name="Text 3"/>
          <p:cNvSpPr/>
          <p:nvPr/>
        </p:nvSpPr>
        <p:spPr>
          <a:xfrm>
            <a:off x="863600" y="2317750"/>
            <a:ext cx="2705100" cy="406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kern="0" spc="120" dirty="0">
                <a:solidFill>
                  <a:srgbClr val="E07A5F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CHAPTER EIGHT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08000" y="3282950"/>
            <a:ext cx="156972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08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进度安排与参考文献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975350"/>
            <a:ext cx="2438400" cy="101600"/>
          </a:xfrm>
          <a:custGeom>
            <a:avLst/>
            <a:gdLst/>
            <a:ahLst/>
            <a:cxnLst/>
            <a:rect l="l" t="t" r="r" b="b"/>
            <a:pathLst>
              <a:path w="2438400" h="101600">
                <a:moveTo>
                  <a:pt x="0" y="0"/>
                </a:moveTo>
                <a:lnTo>
                  <a:pt x="2438400" y="0"/>
                </a:lnTo>
                <a:lnTo>
                  <a:pt x="24384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9" name="Text 6"/>
          <p:cNvSpPr/>
          <p:nvPr/>
        </p:nvSpPr>
        <p:spPr>
          <a:xfrm>
            <a:off x="508000" y="6483350"/>
            <a:ext cx="86868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明确项目的时间规划与学术支撑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pixabay.com/70fe8111436efa6763e0dcfdb140a32871f657d6.jpg"/>
          <p:cNvPicPr>
            <a:picLocks noChangeAspect="1"/>
          </p:cNvPicPr>
          <p:nvPr/>
        </p:nvPicPr>
        <p:blipFill>
          <a:blip r:embed="rId1">
            <a:alphaModFix amt="30000"/>
          </a:blip>
          <a:srcRect t="7547" b="7547"/>
          <a:stretch>
            <a:fillRect/>
          </a:stretch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4">
                  <a:alpha val="95000"/>
                </a:srgbClr>
              </a:gs>
              <a:gs pos="50000">
                <a:srgbClr val="1A1D24">
                  <a:alpha val="85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</p:spPr>
      </p:sp>
      <p:sp>
        <p:nvSpPr>
          <p:cNvPr id="4" name="Shape 1"/>
          <p:cNvSpPr/>
          <p:nvPr/>
        </p:nvSpPr>
        <p:spPr>
          <a:xfrm>
            <a:off x="7518400" y="75565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609600" y="0"/>
                </a:lnTo>
                <a:cubicBezTo>
                  <a:pt x="946047" y="0"/>
                  <a:pt x="1219200" y="273153"/>
                  <a:pt x="1219200" y="609600"/>
                </a:cubicBezTo>
                <a:lnTo>
                  <a:pt x="1219200" y="609600"/>
                </a:lnTo>
                <a:cubicBezTo>
                  <a:pt x="1219200" y="946047"/>
                  <a:pt x="946047" y="1219200"/>
                  <a:pt x="6096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5" name="Shape 2"/>
          <p:cNvSpPr/>
          <p:nvPr/>
        </p:nvSpPr>
        <p:spPr>
          <a:xfrm>
            <a:off x="7823200" y="10604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57213" y="8334"/>
                </a:moveTo>
                <a:cubicBezTo>
                  <a:pt x="566261" y="15597"/>
                  <a:pt x="571500" y="26551"/>
                  <a:pt x="571500" y="38100"/>
                </a:cubicBezTo>
                <a:lnTo>
                  <a:pt x="571500" y="400050"/>
                </a:lnTo>
                <a:cubicBezTo>
                  <a:pt x="571500" y="452676"/>
                  <a:pt x="520303" y="495300"/>
                  <a:pt x="457200" y="495300"/>
                </a:cubicBezTo>
                <a:cubicBezTo>
                  <a:pt x="394097" y="495300"/>
                  <a:pt x="342900" y="452676"/>
                  <a:pt x="342900" y="400050"/>
                </a:cubicBezTo>
                <a:cubicBezTo>
                  <a:pt x="342900" y="347424"/>
                  <a:pt x="394097" y="304800"/>
                  <a:pt x="457200" y="304800"/>
                </a:cubicBezTo>
                <a:cubicBezTo>
                  <a:pt x="470535" y="304800"/>
                  <a:pt x="483394" y="306705"/>
                  <a:pt x="495300" y="310277"/>
                </a:cubicBezTo>
                <a:lnTo>
                  <a:pt x="495300" y="171331"/>
                </a:lnTo>
                <a:lnTo>
                  <a:pt x="228600" y="230624"/>
                </a:lnTo>
                <a:lnTo>
                  <a:pt x="228600" y="476250"/>
                </a:lnTo>
                <a:cubicBezTo>
                  <a:pt x="228600" y="528876"/>
                  <a:pt x="177403" y="571500"/>
                  <a:pt x="114300" y="571500"/>
                </a:cubicBezTo>
                <a:cubicBezTo>
                  <a:pt x="51197" y="571500"/>
                  <a:pt x="0" y="528876"/>
                  <a:pt x="0" y="476250"/>
                </a:cubicBezTo>
                <a:cubicBezTo>
                  <a:pt x="0" y="423624"/>
                  <a:pt x="51197" y="381000"/>
                  <a:pt x="114300" y="381000"/>
                </a:cubicBezTo>
                <a:cubicBezTo>
                  <a:pt x="127635" y="381000"/>
                  <a:pt x="140494" y="382905"/>
                  <a:pt x="152400" y="386477"/>
                </a:cubicBezTo>
                <a:lnTo>
                  <a:pt x="152400" y="114300"/>
                </a:lnTo>
                <a:cubicBezTo>
                  <a:pt x="152400" y="96441"/>
                  <a:pt x="164783" y="80962"/>
                  <a:pt x="182285" y="77152"/>
                </a:cubicBezTo>
                <a:lnTo>
                  <a:pt x="525185" y="952"/>
                </a:lnTo>
                <a:cubicBezTo>
                  <a:pt x="536496" y="-1548"/>
                  <a:pt x="548283" y="1191"/>
                  <a:pt x="557332" y="8453"/>
                </a:cubicBezTo>
                <a:close/>
              </a:path>
            </a:pathLst>
          </a:custGeom>
          <a:solidFill>
            <a:srgbClr val="1A1D24"/>
          </a:solidFill>
        </p:spPr>
      </p:sp>
      <p:sp>
        <p:nvSpPr>
          <p:cNvPr id="6" name="Text 3"/>
          <p:cNvSpPr/>
          <p:nvPr/>
        </p:nvSpPr>
        <p:spPr>
          <a:xfrm>
            <a:off x="4737100" y="2279650"/>
            <a:ext cx="6781800" cy="190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感谢聆听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6000" b="1" dirty="0">
                <a:solidFill>
                  <a:srgbClr val="F0F2F5"/>
                </a:solidFill>
                <a:latin typeface="阿里妈妈数黑体" pitchFamily="34" charset="-122"/>
                <a:ea typeface="阿里妈妈数黑体" pitchFamily="34" charset="-122"/>
                <a:cs typeface="阿里妈妈数黑体" pitchFamily="34" charset="-120"/>
              </a:rPr>
              <a:t>敬请指导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200" y="4489450"/>
            <a:ext cx="1625600" cy="101600"/>
          </a:xfrm>
          <a:custGeom>
            <a:avLst/>
            <a:gdLst/>
            <a:ahLst/>
            <a:cxnLst/>
            <a:rect l="l" t="t" r="r" b="b"/>
            <a:pathLst>
              <a:path w="1625600" h="101600">
                <a:moveTo>
                  <a:pt x="0" y="0"/>
                </a:moveTo>
                <a:lnTo>
                  <a:pt x="1625600" y="0"/>
                </a:lnTo>
                <a:lnTo>
                  <a:pt x="16256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8" name="Text 5"/>
          <p:cNvSpPr/>
          <p:nvPr/>
        </p:nvSpPr>
        <p:spPr>
          <a:xfrm>
            <a:off x="4851400" y="4895850"/>
            <a:ext cx="65532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汇报完毕，期待各位专家老师的宝贵意见与指导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629150" y="5803900"/>
            <a:ext cx="2120900" cy="1816100"/>
          </a:xfrm>
          <a:custGeom>
            <a:avLst/>
            <a:gdLst/>
            <a:ahLst/>
            <a:cxnLst/>
            <a:rect l="l" t="t" r="r" b="b"/>
            <a:pathLst>
              <a:path w="2120900" h="1816100">
                <a:moveTo>
                  <a:pt x="101593" y="0"/>
                </a:moveTo>
                <a:lnTo>
                  <a:pt x="2019307" y="0"/>
                </a:lnTo>
                <a:cubicBezTo>
                  <a:pt x="2075415" y="0"/>
                  <a:pt x="2120900" y="45485"/>
                  <a:pt x="2120900" y="101593"/>
                </a:cubicBezTo>
                <a:lnTo>
                  <a:pt x="2120900" y="1714507"/>
                </a:lnTo>
                <a:cubicBezTo>
                  <a:pt x="2120900" y="1770615"/>
                  <a:pt x="2075415" y="1816100"/>
                  <a:pt x="2019307" y="1816100"/>
                </a:cubicBezTo>
                <a:lnTo>
                  <a:pt x="101593" y="1816100"/>
                </a:lnTo>
                <a:cubicBezTo>
                  <a:pt x="45485" y="1816100"/>
                  <a:pt x="0" y="1770615"/>
                  <a:pt x="0" y="17145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02275" y="606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5719" y="47625"/>
                </a:moveTo>
                <a:cubicBezTo>
                  <a:pt x="15999" y="47625"/>
                  <a:pt x="0" y="63624"/>
                  <a:pt x="0" y="83344"/>
                </a:cubicBezTo>
                <a:cubicBezTo>
                  <a:pt x="0" y="94580"/>
                  <a:pt x="5283" y="105147"/>
                  <a:pt x="14288" y="111919"/>
                </a:cubicBezTo>
                <a:lnTo>
                  <a:pt x="169069" y="228005"/>
                </a:lnTo>
                <a:cubicBezTo>
                  <a:pt x="181794" y="237530"/>
                  <a:pt x="199206" y="237530"/>
                  <a:pt x="211931" y="228005"/>
                </a:cubicBezTo>
                <a:lnTo>
                  <a:pt x="366713" y="111919"/>
                </a:lnTo>
                <a:cubicBezTo>
                  <a:pt x="375717" y="105147"/>
                  <a:pt x="381000" y="94580"/>
                  <a:pt x="381000" y="83344"/>
                </a:cubicBezTo>
                <a:cubicBezTo>
                  <a:pt x="381000" y="63624"/>
                  <a:pt x="365001" y="47625"/>
                  <a:pt x="345281" y="47625"/>
                </a:cubicBezTo>
                <a:lnTo>
                  <a:pt x="35719" y="47625"/>
                </a:lnTo>
                <a:close/>
                <a:moveTo>
                  <a:pt x="0" y="145852"/>
                </a:moveTo>
                <a:lnTo>
                  <a:pt x="0" y="285750"/>
                </a:lnTo>
                <a:cubicBezTo>
                  <a:pt x="0" y="312018"/>
                  <a:pt x="21357" y="333375"/>
                  <a:pt x="47625" y="333375"/>
                </a:cubicBezTo>
                <a:lnTo>
                  <a:pt x="333375" y="333375"/>
                </a:lnTo>
                <a:cubicBezTo>
                  <a:pt x="359643" y="333375"/>
                  <a:pt x="381000" y="312018"/>
                  <a:pt x="381000" y="285750"/>
                </a:cubicBezTo>
                <a:lnTo>
                  <a:pt x="381000" y="145852"/>
                </a:lnTo>
                <a:lnTo>
                  <a:pt x="233363" y="256580"/>
                </a:lnTo>
                <a:cubicBezTo>
                  <a:pt x="207987" y="275630"/>
                  <a:pt x="173013" y="275630"/>
                  <a:pt x="147638" y="256580"/>
                </a:cubicBezTo>
                <a:lnTo>
                  <a:pt x="0" y="145852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1" name="Text 8"/>
          <p:cNvSpPr/>
          <p:nvPr/>
        </p:nvSpPr>
        <p:spPr>
          <a:xfrm>
            <a:off x="4838700" y="6597650"/>
            <a:ext cx="170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联系方式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32350" y="700405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欢迎提问与交流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067550" y="5803900"/>
            <a:ext cx="2120900" cy="1816100"/>
          </a:xfrm>
          <a:custGeom>
            <a:avLst/>
            <a:gdLst/>
            <a:ahLst/>
            <a:cxnLst/>
            <a:rect l="l" t="t" r="r" b="b"/>
            <a:pathLst>
              <a:path w="2120900" h="1816100">
                <a:moveTo>
                  <a:pt x="101593" y="0"/>
                </a:moveTo>
                <a:lnTo>
                  <a:pt x="2019307" y="0"/>
                </a:lnTo>
                <a:cubicBezTo>
                  <a:pt x="2075415" y="0"/>
                  <a:pt x="2120900" y="45485"/>
                  <a:pt x="2120900" y="101593"/>
                </a:cubicBezTo>
                <a:lnTo>
                  <a:pt x="2120900" y="1714507"/>
                </a:lnTo>
                <a:cubicBezTo>
                  <a:pt x="2120900" y="1770615"/>
                  <a:pt x="2075415" y="1816100"/>
                  <a:pt x="2019307" y="1816100"/>
                </a:cubicBezTo>
                <a:lnTo>
                  <a:pt x="101593" y="1816100"/>
                </a:lnTo>
                <a:cubicBezTo>
                  <a:pt x="45485" y="1816100"/>
                  <a:pt x="0" y="1770615"/>
                  <a:pt x="0" y="17145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64488" y="606425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95250" y="0"/>
                </a:moveTo>
                <a:cubicBezTo>
                  <a:pt x="108421" y="0"/>
                  <a:pt x="119063" y="10641"/>
                  <a:pt x="119063" y="23812"/>
                </a:cubicBezTo>
                <a:lnTo>
                  <a:pt x="119063" y="47625"/>
                </a:lnTo>
                <a:lnTo>
                  <a:pt x="214313" y="47625"/>
                </a:lnTo>
                <a:lnTo>
                  <a:pt x="214313" y="23812"/>
                </a:lnTo>
                <a:cubicBezTo>
                  <a:pt x="214313" y="10641"/>
                  <a:pt x="224954" y="0"/>
                  <a:pt x="238125" y="0"/>
                </a:cubicBezTo>
                <a:cubicBezTo>
                  <a:pt x="251296" y="0"/>
                  <a:pt x="261938" y="10641"/>
                  <a:pt x="261938" y="23812"/>
                </a:cubicBezTo>
                <a:lnTo>
                  <a:pt x="261938" y="47625"/>
                </a:lnTo>
                <a:lnTo>
                  <a:pt x="285750" y="47625"/>
                </a:lnTo>
                <a:cubicBezTo>
                  <a:pt x="312018" y="47625"/>
                  <a:pt x="333375" y="68982"/>
                  <a:pt x="333375" y="95250"/>
                </a:cubicBezTo>
                <a:lnTo>
                  <a:pt x="333375" y="309563"/>
                </a:lnTo>
                <a:cubicBezTo>
                  <a:pt x="333375" y="335831"/>
                  <a:pt x="312018" y="357188"/>
                  <a:pt x="285750" y="357188"/>
                </a:cubicBezTo>
                <a:lnTo>
                  <a:pt x="47625" y="357188"/>
                </a:lnTo>
                <a:cubicBezTo>
                  <a:pt x="21357" y="357188"/>
                  <a:pt x="0" y="335831"/>
                  <a:pt x="0" y="309563"/>
                </a:cubicBezTo>
                <a:lnTo>
                  <a:pt x="0" y="95250"/>
                </a:lnTo>
                <a:cubicBezTo>
                  <a:pt x="0" y="68982"/>
                  <a:pt x="21357" y="47625"/>
                  <a:pt x="47625" y="47625"/>
                </a:cubicBezTo>
                <a:lnTo>
                  <a:pt x="71438" y="47625"/>
                </a:lnTo>
                <a:lnTo>
                  <a:pt x="71438" y="23812"/>
                </a:lnTo>
                <a:cubicBezTo>
                  <a:pt x="71438" y="10641"/>
                  <a:pt x="82079" y="0"/>
                  <a:pt x="95250" y="0"/>
                </a:cubicBezTo>
                <a:close/>
                <a:moveTo>
                  <a:pt x="229493" y="170185"/>
                </a:moveTo>
                <a:cubicBezTo>
                  <a:pt x="234702" y="161851"/>
                  <a:pt x="232172" y="150837"/>
                  <a:pt x="223837" y="145554"/>
                </a:cubicBezTo>
                <a:cubicBezTo>
                  <a:pt x="215503" y="140271"/>
                  <a:pt x="204490" y="142875"/>
                  <a:pt x="199206" y="151209"/>
                </a:cubicBezTo>
                <a:lnTo>
                  <a:pt x="153516" y="224358"/>
                </a:lnTo>
                <a:lnTo>
                  <a:pt x="133424" y="197569"/>
                </a:lnTo>
                <a:cubicBezTo>
                  <a:pt x="127471" y="189681"/>
                  <a:pt x="116309" y="188044"/>
                  <a:pt x="108421" y="193997"/>
                </a:cubicBezTo>
                <a:cubicBezTo>
                  <a:pt x="100533" y="199951"/>
                  <a:pt x="98896" y="211113"/>
                  <a:pt x="104849" y="219001"/>
                </a:cubicBezTo>
                <a:lnTo>
                  <a:pt x="140568" y="266626"/>
                </a:lnTo>
                <a:cubicBezTo>
                  <a:pt x="144066" y="271314"/>
                  <a:pt x="149721" y="273993"/>
                  <a:pt x="155600" y="273769"/>
                </a:cubicBezTo>
                <a:cubicBezTo>
                  <a:pt x="161479" y="273546"/>
                  <a:pt x="166836" y="270421"/>
                  <a:pt x="169962" y="265361"/>
                </a:cubicBezTo>
                <a:lnTo>
                  <a:pt x="229493" y="170111"/>
                </a:lnTo>
                <a:close/>
              </a:path>
            </a:pathLst>
          </a:custGeom>
          <a:solidFill>
            <a:srgbClr val="E07A5F"/>
          </a:solidFill>
        </p:spPr>
      </p:sp>
      <p:sp>
        <p:nvSpPr>
          <p:cNvPr id="15" name="Text 12"/>
          <p:cNvSpPr/>
          <p:nvPr/>
        </p:nvSpPr>
        <p:spPr>
          <a:xfrm>
            <a:off x="7277100" y="6597650"/>
            <a:ext cx="170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后续工作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270750" y="700405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按计划推进实施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05950" y="5803900"/>
            <a:ext cx="2120900" cy="1816100"/>
          </a:xfrm>
          <a:custGeom>
            <a:avLst/>
            <a:gdLst/>
            <a:ahLst/>
            <a:cxnLst/>
            <a:rect l="l" t="t" r="r" b="b"/>
            <a:pathLst>
              <a:path w="2120900" h="1816100">
                <a:moveTo>
                  <a:pt x="101593" y="0"/>
                </a:moveTo>
                <a:lnTo>
                  <a:pt x="2019307" y="0"/>
                </a:lnTo>
                <a:cubicBezTo>
                  <a:pt x="2075415" y="0"/>
                  <a:pt x="2120900" y="45485"/>
                  <a:pt x="2120900" y="101593"/>
                </a:cubicBezTo>
                <a:lnTo>
                  <a:pt x="2120900" y="1714507"/>
                </a:lnTo>
                <a:cubicBezTo>
                  <a:pt x="2120900" y="1770615"/>
                  <a:pt x="2075415" y="1816100"/>
                  <a:pt x="2019307" y="1816100"/>
                </a:cubicBezTo>
                <a:lnTo>
                  <a:pt x="101593" y="1816100"/>
                </a:lnTo>
                <a:cubicBezTo>
                  <a:pt x="45485" y="1816100"/>
                  <a:pt x="0" y="1770615"/>
                  <a:pt x="0" y="1714507"/>
                </a:cubicBezTo>
                <a:lnTo>
                  <a:pt x="0" y="101593"/>
                </a:lnTo>
                <a:cubicBezTo>
                  <a:pt x="0" y="45522"/>
                  <a:pt x="45522" y="0"/>
                  <a:pt x="101593" y="0"/>
                </a:cubicBezTo>
                <a:close/>
              </a:path>
            </a:pathLst>
          </a:custGeom>
          <a:solidFill>
            <a:srgbClr val="5F7A8D">
              <a:alpha val="20000"/>
            </a:srgbClr>
          </a:solidFill>
          <a:ln w="12700">
            <a:solidFill>
              <a:srgbClr val="5F7A8D">
                <a:alpha val="30196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379075" y="6064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95250" y="238125"/>
                </a:moveTo>
                <a:lnTo>
                  <a:pt x="18231" y="238125"/>
                </a:lnTo>
                <a:cubicBezTo>
                  <a:pt x="-298" y="238125"/>
                  <a:pt x="-11683" y="217959"/>
                  <a:pt x="-2158" y="202034"/>
                </a:cubicBezTo>
                <a:lnTo>
                  <a:pt x="37207" y="136401"/>
                </a:lnTo>
                <a:cubicBezTo>
                  <a:pt x="43681" y="125611"/>
                  <a:pt x="55290" y="119063"/>
                  <a:pt x="67866" y="119063"/>
                </a:cubicBezTo>
                <a:lnTo>
                  <a:pt x="138559" y="119063"/>
                </a:lnTo>
                <a:cubicBezTo>
                  <a:pt x="195188" y="23143"/>
                  <a:pt x="279648" y="18306"/>
                  <a:pt x="336128" y="26566"/>
                </a:cubicBezTo>
                <a:cubicBezTo>
                  <a:pt x="345653" y="27980"/>
                  <a:pt x="353095" y="35421"/>
                  <a:pt x="354434" y="44872"/>
                </a:cubicBezTo>
                <a:cubicBezTo>
                  <a:pt x="362694" y="101352"/>
                  <a:pt x="357857" y="185812"/>
                  <a:pt x="261938" y="242441"/>
                </a:cubicBezTo>
                <a:lnTo>
                  <a:pt x="261938" y="313134"/>
                </a:lnTo>
                <a:cubicBezTo>
                  <a:pt x="261938" y="325710"/>
                  <a:pt x="255389" y="337319"/>
                  <a:pt x="244599" y="343793"/>
                </a:cubicBezTo>
                <a:lnTo>
                  <a:pt x="178966" y="383158"/>
                </a:lnTo>
                <a:cubicBezTo>
                  <a:pt x="163116" y="392683"/>
                  <a:pt x="142875" y="381223"/>
                  <a:pt x="142875" y="362769"/>
                </a:cubicBezTo>
                <a:lnTo>
                  <a:pt x="142875" y="285750"/>
                </a:lnTo>
                <a:cubicBezTo>
                  <a:pt x="142875" y="259482"/>
                  <a:pt x="121518" y="238125"/>
                  <a:pt x="95250" y="238125"/>
                </a:cubicBezTo>
                <a:lnTo>
                  <a:pt x="95176" y="238125"/>
                </a:lnTo>
                <a:close/>
                <a:moveTo>
                  <a:pt x="297656" y="119063"/>
                </a:moveTo>
                <a:cubicBezTo>
                  <a:pt x="297656" y="99349"/>
                  <a:pt x="281651" y="83344"/>
                  <a:pt x="261938" y="83344"/>
                </a:cubicBezTo>
                <a:cubicBezTo>
                  <a:pt x="242224" y="83344"/>
                  <a:pt x="226219" y="99349"/>
                  <a:pt x="226219" y="119063"/>
                </a:cubicBezTo>
                <a:cubicBezTo>
                  <a:pt x="226219" y="138776"/>
                  <a:pt x="242224" y="154781"/>
                  <a:pt x="261938" y="154781"/>
                </a:cubicBezTo>
                <a:cubicBezTo>
                  <a:pt x="281651" y="154781"/>
                  <a:pt x="297656" y="138776"/>
                  <a:pt x="297656" y="119063"/>
                </a:cubicBezTo>
                <a:close/>
              </a:path>
            </a:pathLst>
          </a:custGeom>
          <a:solidFill>
            <a:srgbClr val="E07A5F"/>
          </a:solidFill>
        </p:spPr>
      </p:sp>
      <p:sp>
        <p:nvSpPr>
          <p:cNvPr id="19" name="Text 16"/>
          <p:cNvSpPr/>
          <p:nvPr/>
        </p:nvSpPr>
        <p:spPr>
          <a:xfrm>
            <a:off x="9715500" y="6597650"/>
            <a:ext cx="170180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项目展望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709150" y="7004050"/>
            <a:ext cx="17145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F0F2F5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打造优质系统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630267" y="8032750"/>
            <a:ext cx="4991100" cy="355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沈阳音乐节管理系统 | Spring Boot + Vue | 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5338</Words>
  <Application>WPS 演示</Application>
  <PresentationFormat>On-screen Show (16:9)</PresentationFormat>
  <Paragraphs>745</Paragraphs>
  <Slides>23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Arial</vt:lpstr>
      <vt:lpstr>宋体</vt:lpstr>
      <vt:lpstr>Wingdings</vt:lpstr>
      <vt:lpstr>阿里妈妈数黑体</vt:lpstr>
      <vt:lpstr>阿里妈妈数黑体</vt:lpstr>
      <vt:lpstr>MiSans</vt:lpstr>
      <vt:lpstr>MiSans</vt:lpstr>
      <vt:lpstr>Calibri</vt:lpstr>
      <vt:lpstr>微软雅黑</vt:lpstr>
      <vt:lpstr>Arial Unicode MS</vt:lpstr>
      <vt:lpstr>等线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基于Spring Boot + Vue的沈阳音乐节管理系统设计与实现</dc:title>
  <dc:creator>Kimi</dc:creator>
  <dc:subject>基于Spring Boot + Vue的沈阳音乐节管理系统设计与实现</dc:subject>
  <cp:lastModifiedBy>#%Code</cp:lastModifiedBy>
  <cp:revision>7</cp:revision>
  <dcterms:created xsi:type="dcterms:W3CDTF">2025-12-20T12:02:00Z</dcterms:created>
  <dcterms:modified xsi:type="dcterms:W3CDTF">2025-12-22T11:08:23Z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{"Label":"基于Spring Boot + Vue的沈阳音乐节管理系统设计与实现","ContentProducer":"001191110108MACG2KBH8F10000","ProduceID":"19b3b8a8-6ea2-8a3b-8000-00007fa382ff","ReservedCode1":"","ContentPropagator":"001191110108MACG2KBH8F20000","PropagateID":"19b3b8a8-6ea2-8a3b-8000-00007fa382ff","ReservedCode2":""}</vt:lpwstr>
  </property>
  <property fmtid="{D5CDD505-2E9C-101B-9397-08002B2CF9AE}" pid="3" name="ICV">
    <vt:lpwstr>B248FDE076BD44F0893456F92D4538B7_12</vt:lpwstr>
  </property>
  <property fmtid="{D5CDD505-2E9C-101B-9397-08002B2CF9AE}" pid="4" name="KSOProductBuildVer">
    <vt:lpwstr>2052-12.1.0.24031</vt:lpwstr>
  </property>
</Properties>
</file>