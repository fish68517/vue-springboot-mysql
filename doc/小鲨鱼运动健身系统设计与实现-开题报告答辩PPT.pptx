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custDataLst>
    <p:tags r:id="rId2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0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管理端功能模块：</a:t>
            </a:r>
            <a:endParaRPr lang="zh-CN" altLang="en-US" dirty="0"/>
          </a:p>
          <a:p>
            <a:r>
              <a:rPr lang="zh-CN" altLang="en-US" dirty="0"/>
              <a:t>管理员认证与权限模块：实现管理员登录、权限控制等功能。</a:t>
            </a:r>
            <a:endParaRPr lang="zh-CN" altLang="en-US" dirty="0"/>
          </a:p>
          <a:p>
            <a:r>
              <a:rPr lang="zh-CN" altLang="en-US" dirty="0"/>
              <a:t>用户管理模块：对普通用户和教练信息进行增、删、改、查。</a:t>
            </a:r>
            <a:endParaRPr lang="zh-CN" altLang="en-US" dirty="0"/>
          </a:p>
          <a:p>
            <a:r>
              <a:rPr lang="zh-CN" altLang="en-US" dirty="0"/>
              <a:t>健身资料管理模块：对健身书籍、视频等教学资源进行上传、分类和维护。</a:t>
            </a:r>
            <a:endParaRPr lang="zh-CN" altLang="en-US" dirty="0"/>
          </a:p>
          <a:p>
            <a:r>
              <a:rPr lang="zh-CN" altLang="en-US" dirty="0"/>
              <a:t>内容与评论审核模块：审核用户和教练发布的动态、评论，维护社区环境。</a:t>
            </a:r>
            <a:endParaRPr lang="zh-CN" altLang="en-US" dirty="0"/>
          </a:p>
          <a:p>
            <a:r>
              <a:rPr lang="zh-CN" altLang="en-US" dirty="0"/>
              <a:t>用户端功能模块：</a:t>
            </a:r>
            <a:endParaRPr lang="zh-CN" altLang="en-US" dirty="0"/>
          </a:p>
          <a:p>
            <a:r>
              <a:rPr lang="zh-CN" altLang="en-US" dirty="0"/>
              <a:t>用户认证模块：实现用户注册、登录、忘记密码等功能。</a:t>
            </a:r>
            <a:endParaRPr lang="zh-CN" altLang="en-US" dirty="0"/>
          </a:p>
          <a:p>
            <a:r>
              <a:rPr lang="zh-CN" altLang="en-US" dirty="0"/>
              <a:t>个人中心模块：用户可以编辑个人资料、查看我的计划、我的收藏等。</a:t>
            </a:r>
            <a:endParaRPr lang="zh-CN" altLang="en-US" dirty="0"/>
          </a:p>
          <a:p>
            <a:r>
              <a:rPr lang="zh-CN" altLang="en-US" dirty="0"/>
              <a:t>首页内容展示模块：展示推荐的健身资料、热门动态等。</a:t>
            </a:r>
            <a:endParaRPr lang="zh-CN" altLang="en-US" dirty="0"/>
          </a:p>
          <a:p>
            <a:r>
              <a:rPr lang="zh-CN" altLang="en-US" dirty="0"/>
              <a:t>健身资料浏览与管理模块：用户可以浏览、搜索、收藏健身资料，并将其加入个人计划。</a:t>
            </a:r>
            <a:endParaRPr lang="zh-CN" altLang="en-US" dirty="0"/>
          </a:p>
          <a:p>
            <a:r>
              <a:rPr lang="zh-CN" altLang="en-US" dirty="0"/>
              <a:t>个性化训练计划模块：根据用户选择生成训练计划，并可进行管理。</a:t>
            </a:r>
            <a:endParaRPr lang="zh-CN" altLang="en-US" dirty="0"/>
          </a:p>
          <a:p>
            <a:r>
              <a:rPr lang="zh-CN" altLang="en-US" dirty="0"/>
              <a:t>社区互动模块：用户可以发布动态、评论、点赞，与其他用户交流。</a:t>
            </a:r>
            <a:endParaRPr lang="zh-CN" altLang="en-US" dirty="0"/>
          </a:p>
          <a:p>
            <a:r>
              <a:rPr lang="zh-CN" altLang="en-US" dirty="0"/>
              <a:t>饮食记录模块：记录每日饮食摄入情况。</a:t>
            </a:r>
            <a:endParaRPr lang="zh-CN" altLang="en-US" dirty="0"/>
          </a:p>
          <a:p>
            <a:r>
              <a:rPr lang="zh-CN" altLang="en-US" dirty="0"/>
              <a:t>每日打卡模块：记录和展示用户的健身打卡情况，提供激励。</a:t>
            </a:r>
            <a:endParaRPr lang="zh-CN" altLang="en-US" dirty="0"/>
          </a:p>
          <a:p>
            <a:r>
              <a:rPr lang="zh-CN" altLang="en-US" dirty="0"/>
              <a:t>教练端功能模块：</a:t>
            </a:r>
            <a:endParaRPr lang="zh-CN" altLang="en-US" dirty="0"/>
          </a:p>
          <a:p>
            <a:r>
              <a:rPr lang="zh-CN" altLang="en-US" dirty="0"/>
              <a:t>教练认证模块：实现教练的注册、登录及资质认证。</a:t>
            </a:r>
            <a:endParaRPr lang="zh-CN" altLang="en-US" dirty="0"/>
          </a:p>
          <a:p>
            <a:r>
              <a:rPr lang="zh-CN" altLang="en-US" dirty="0"/>
              <a:t>个人资料模块：教练可以编辑和展示自己的专业背景、特长等。</a:t>
            </a:r>
            <a:endParaRPr lang="zh-CN" altLang="en-US" dirty="0"/>
          </a:p>
          <a:p>
            <a:r>
              <a:rPr lang="zh-CN" altLang="en-US" dirty="0"/>
              <a:t>学员管理模块：管理名下学员，查看学员的训练数据和进度。</a:t>
            </a:r>
            <a:endParaRPr lang="zh-CN" altLang="en-US" dirty="0"/>
          </a:p>
          <a:p>
            <a:r>
              <a:rPr lang="zh-CN" altLang="en-US" dirty="0"/>
              <a:t>训练计划定制与管理模块：为学员量身定制专业的训练计划。</a:t>
            </a:r>
            <a:endParaRPr lang="zh-CN" altLang="en-US" dirty="0"/>
          </a:p>
          <a:p>
            <a:r>
              <a:rPr lang="zh-CN" altLang="en-US" dirty="0"/>
              <a:t>进度追踪与数据分析模块：通过图表等形式直观展示学员的训练成果。</a:t>
            </a:r>
            <a:endParaRPr lang="zh-CN" altLang="en-US" dirty="0"/>
          </a:p>
          <a:p>
            <a:r>
              <a:rPr lang="zh-CN" altLang="en-US" dirty="0"/>
              <a:t>内容创作与知识库模块：教练可以发布专业的健身文章或视频，构建个人知识库。</a:t>
            </a:r>
            <a:endParaRPr lang="zh-CN" altLang="en-US" dirty="0"/>
          </a:p>
          <a:p>
            <a:r>
              <a:rPr lang="zh-CN" altLang="en-US" dirty="0"/>
              <a:t>专业认证模块：上传和管理相关专业资格证书。</a:t>
            </a:r>
            <a:endParaRPr lang="zh-CN" altLang="en-US" dirty="0"/>
          </a:p>
          <a:p>
            <a:r>
              <a:rPr lang="zh-CN" altLang="en-US" dirty="0"/>
              <a:t>社区互动模块：在社区中回答用户问题，进行专业指导。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3.xml"/><Relationship Id="rId7" Type="http://schemas.openxmlformats.org/officeDocument/2006/relationships/image" Target="../media/image10.png"/><Relationship Id="rId6" Type="http://schemas.openxmlformats.org/officeDocument/2006/relationships/tags" Target="../tags/tag2.xml"/><Relationship Id="rId5" Type="http://schemas.openxmlformats.org/officeDocument/2006/relationships/image" Target="../media/image9.png"/><Relationship Id="rId4" Type="http://schemas.openxmlformats.org/officeDocument/2006/relationships/tags" Target="../tags/tag1.xml"/><Relationship Id="rId3" Type="http://schemas.openxmlformats.org/officeDocument/2006/relationships/image" Target="../media/image7.png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image" Target="../media/image6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image" Target="../media/image12.png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tags" Target="../tags/tag4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21.xml"/><Relationship Id="rId7" Type="http://schemas.openxmlformats.org/officeDocument/2006/relationships/image" Target="../media/image10.png"/><Relationship Id="rId6" Type="http://schemas.openxmlformats.org/officeDocument/2006/relationships/tags" Target="../tags/tag20.xml"/><Relationship Id="rId5" Type="http://schemas.openxmlformats.org/officeDocument/2006/relationships/image" Target="../media/image9.png"/><Relationship Id="rId4" Type="http://schemas.openxmlformats.org/officeDocument/2006/relationships/tags" Target="../tags/tag19.xml"/><Relationship Id="rId3" Type="http://schemas.openxmlformats.org/officeDocument/2006/relationships/image" Target="../media/image7.png"/><Relationship Id="rId27" Type="http://schemas.openxmlformats.org/officeDocument/2006/relationships/notesSlide" Target="../notesSlides/notesSlide7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image" Target="../media/image6.png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image" Target="../media/image12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tags" Target="../tags/tag39.xml"/><Relationship Id="rId7" Type="http://schemas.openxmlformats.org/officeDocument/2006/relationships/image" Target="../media/image17.png"/><Relationship Id="rId6" Type="http://schemas.openxmlformats.org/officeDocument/2006/relationships/tags" Target="../tags/tag38.xml"/><Relationship Id="rId5" Type="http://schemas.openxmlformats.org/officeDocument/2006/relationships/image" Target="../media/image16.png"/><Relationship Id="rId4" Type="http://schemas.openxmlformats.org/officeDocument/2006/relationships/tags" Target="../tags/tag37.xml"/><Relationship Id="rId30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54.xml"/><Relationship Id="rId27" Type="http://schemas.openxmlformats.org/officeDocument/2006/relationships/tags" Target="../tags/tag53.xml"/><Relationship Id="rId26" Type="http://schemas.openxmlformats.org/officeDocument/2006/relationships/tags" Target="../tags/tag52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image" Target="../media/image22.png"/><Relationship Id="rId2" Type="http://schemas.openxmlformats.org/officeDocument/2006/relationships/image" Target="../media/image6.png"/><Relationship Id="rId19" Type="http://schemas.openxmlformats.org/officeDocument/2006/relationships/tags" Target="../tags/tag46.xml"/><Relationship Id="rId18" Type="http://schemas.openxmlformats.org/officeDocument/2006/relationships/image" Target="../media/image21.png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image" Target="../media/image20.png"/><Relationship Id="rId13" Type="http://schemas.openxmlformats.org/officeDocument/2006/relationships/tags" Target="../tags/tag42.xml"/><Relationship Id="rId12" Type="http://schemas.openxmlformats.org/officeDocument/2006/relationships/image" Target="../media/image19.png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tags" Target="../tags/tag57.xml"/><Relationship Id="rId7" Type="http://schemas.openxmlformats.org/officeDocument/2006/relationships/image" Target="../media/image25.png"/><Relationship Id="rId6" Type="http://schemas.openxmlformats.org/officeDocument/2006/relationships/tags" Target="../tags/tag56.xml"/><Relationship Id="rId5" Type="http://schemas.openxmlformats.org/officeDocument/2006/relationships/image" Target="../media/image24.png"/><Relationship Id="rId4" Type="http://schemas.openxmlformats.org/officeDocument/2006/relationships/tags" Target="../tags/tag55.xml"/><Relationship Id="rId3" Type="http://schemas.openxmlformats.org/officeDocument/2006/relationships/image" Target="../media/image7.png"/><Relationship Id="rId29" Type="http://schemas.openxmlformats.org/officeDocument/2006/relationships/notesSlide" Target="../notesSlides/notesSlide13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72.xml"/><Relationship Id="rId26" Type="http://schemas.openxmlformats.org/officeDocument/2006/relationships/tags" Target="../tags/tag71.xml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openxmlformats.org/officeDocument/2006/relationships/tags" Target="../tags/tag68.xml"/><Relationship Id="rId22" Type="http://schemas.openxmlformats.org/officeDocument/2006/relationships/tags" Target="../tags/tag67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image" Target="../media/image6.png"/><Relationship Id="rId19" Type="http://schemas.openxmlformats.org/officeDocument/2006/relationships/tags" Target="../tags/tag64.xml"/><Relationship Id="rId18" Type="http://schemas.openxmlformats.org/officeDocument/2006/relationships/image" Target="../media/image28.png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image" Target="../media/image27.png"/><Relationship Id="rId13" Type="http://schemas.openxmlformats.org/officeDocument/2006/relationships/tags" Target="../tags/tag60.xml"/><Relationship Id="rId12" Type="http://schemas.openxmlformats.org/officeDocument/2006/relationships/image" Target="../media/image26.png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image" Target="../media/image32.png"/><Relationship Id="rId6" Type="http://schemas.openxmlformats.org/officeDocument/2006/relationships/tags" Target="../tags/tag74.xml"/><Relationship Id="rId5" Type="http://schemas.openxmlformats.org/officeDocument/2006/relationships/image" Target="../media/image31.png"/><Relationship Id="rId43" Type="http://schemas.openxmlformats.org/officeDocument/2006/relationships/notesSlide" Target="../notesSlides/notesSlide18.xml"/><Relationship Id="rId42" Type="http://schemas.openxmlformats.org/officeDocument/2006/relationships/slideLayout" Target="../slideLayouts/slideLayout1.xml"/><Relationship Id="rId41" Type="http://schemas.openxmlformats.org/officeDocument/2006/relationships/image" Target="../media/image29.png"/><Relationship Id="rId40" Type="http://schemas.openxmlformats.org/officeDocument/2006/relationships/tags" Target="../tags/tag100.xml"/><Relationship Id="rId4" Type="http://schemas.openxmlformats.org/officeDocument/2006/relationships/tags" Target="../tags/tag73.xml"/><Relationship Id="rId39" Type="http://schemas.openxmlformats.org/officeDocument/2006/relationships/tags" Target="../tags/tag99.xml"/><Relationship Id="rId38" Type="http://schemas.openxmlformats.org/officeDocument/2006/relationships/tags" Target="../tags/tag98.xml"/><Relationship Id="rId37" Type="http://schemas.openxmlformats.org/officeDocument/2006/relationships/tags" Target="../tags/tag97.xml"/><Relationship Id="rId36" Type="http://schemas.openxmlformats.org/officeDocument/2006/relationships/tags" Target="../tags/tag96.xml"/><Relationship Id="rId35" Type="http://schemas.openxmlformats.org/officeDocument/2006/relationships/tags" Target="../tags/tag95.xml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image" Target="../media/image39.png"/><Relationship Id="rId30" Type="http://schemas.openxmlformats.org/officeDocument/2006/relationships/tags" Target="../tags/tag91.xml"/><Relationship Id="rId3" Type="http://schemas.openxmlformats.org/officeDocument/2006/relationships/image" Target="../media/image7.png"/><Relationship Id="rId29" Type="http://schemas.openxmlformats.org/officeDocument/2006/relationships/tags" Target="../tags/tag90.xml"/><Relationship Id="rId28" Type="http://schemas.openxmlformats.org/officeDocument/2006/relationships/tags" Target="../tags/tag89.xml"/><Relationship Id="rId27" Type="http://schemas.openxmlformats.org/officeDocument/2006/relationships/image" Target="../media/image38.png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image" Target="../media/image37.png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image" Target="../media/image6.png"/><Relationship Id="rId19" Type="http://schemas.openxmlformats.org/officeDocument/2006/relationships/image" Target="../media/image36.png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image" Target="../media/image35.png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image" Target="../media/image34.png"/><Relationship Id="rId11" Type="http://schemas.openxmlformats.org/officeDocument/2006/relationships/tags" Target="../tags/tag77.xml"/><Relationship Id="rId10" Type="http://schemas.openxmlformats.org/officeDocument/2006/relationships/image" Target="../media/image33.png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3917" y="3221192"/>
            <a:ext cx="3256166" cy="42481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汇报人：        指导老师：于林林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307643" y="2813092"/>
            <a:ext cx="4528714" cy="0"/>
          </a:xfrm>
          <a:custGeom>
            <a:avLst/>
            <a:gdLst/>
            <a:ahLst/>
            <a:cxnLst/>
            <a:rect l="l" t="t" r="r" b="b"/>
            <a:pathLst>
              <a:path w="4528714">
                <a:moveTo>
                  <a:pt x="0" y="0"/>
                </a:moveTo>
                <a:lnTo>
                  <a:pt x="452871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432664" y="397054"/>
            <a:ext cx="8278672" cy="14630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200" b="1" kern="0" spc="375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大连科技学院</a:t>
            </a:r>
            <a:endParaRPr lang="en-US" sz="1500" dirty="0"/>
          </a:p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200" b="1" kern="0" spc="375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开题报告答辩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45695" y="2054493"/>
            <a:ext cx="5652609" cy="6851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zh-CN" altLang="en-US" sz="285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小鲨鱼运动健身系统设计与实现</a:t>
            </a:r>
            <a:endParaRPr lang="zh-CN" altLang="en-US" sz="285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3936" y="131018"/>
            <a:ext cx="4113526" cy="11704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5400" b="1" dirty="0">
                <a:solidFill>
                  <a:srgbClr val="5A85D9">
                    <a:alpha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9411" y="412164"/>
            <a:ext cx="1699339" cy="95097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2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36376" y="1943254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选题的意义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1920" y="1831195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68353" y="1943254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国内外现状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53896" y="1831195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36376" y="2556167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研究内容方法及功能结构图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1920" y="2444108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68353" y="2556452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53896" y="2444393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36376" y="3169080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课题特色及预期目标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1920" y="3057021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68353" y="3169100"/>
            <a:ext cx="3017520" cy="4572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70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课题实施计划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3896" y="3057041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400" b="1" dirty="0">
                <a:solidFill>
                  <a:srgbClr val="5A85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选题的意义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选题的意义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736340" y="1199515"/>
            <a:ext cx="5212080" cy="278638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algn="l"/>
            <a:r>
              <a:rPr lang="zh-CN" altLang="en-US" sz="1200">
                <a:sym typeface="+mn-ea"/>
              </a:rPr>
              <a:t>随着社会经济水平的不断提高和人们健康意识的普遍增强，运动健身已逐渐成为现代生活的重要组成部分。然而，许多健身初学者在面对海量的健身信息时，常常感到无所适从，缺乏系统、科学的指导，不仅浪费了大量的时间和金钱，甚至可能因不当的锻炼方式导致运动损伤。与此同时，健身教练和管理者也需要一个高效的平台来管理学员、发布内容和追踪训练效果。</a:t>
            </a:r>
            <a:endParaRPr lang="zh-CN" altLang="en-US" sz="1200">
              <a:solidFill>
                <a:schemeClr val="tx1"/>
              </a:solidFill>
            </a:endParaRPr>
          </a:p>
          <a:p>
            <a:pPr algn="l"/>
            <a:endParaRPr lang="en-US" altLang="zh-CN" sz="1200">
              <a:sym typeface="+mn-ea"/>
            </a:endParaRPr>
          </a:p>
          <a:p>
            <a:pPr algn="l"/>
            <a:r>
              <a:rPr lang="en-US" altLang="zh-CN" sz="1200">
                <a:sym typeface="+mn-ea"/>
              </a:rPr>
              <a:t>“</a:t>
            </a:r>
            <a:r>
              <a:rPr lang="zh-CN" altLang="en-US" sz="1200">
                <a:sym typeface="+mn-ea"/>
              </a:rPr>
              <a:t>小鲨鱼运动健身管理系统</a:t>
            </a:r>
            <a:r>
              <a:rPr lang="en-US" altLang="zh-CN" sz="1200">
                <a:sym typeface="+mn-ea"/>
              </a:rPr>
              <a:t>”</a:t>
            </a:r>
            <a:r>
              <a:rPr lang="zh-CN" altLang="en-US" sz="1200">
                <a:sym typeface="+mn-ea"/>
              </a:rPr>
              <a:t>旨在解决这一痛点。本课题通过开发一个集用户、教练、管理员三方于一体的综合性网络平台，实现了健身知识的系统化管理、个性化训练计划的定制与追踪、以及社区互动等功能。该系统的开发具有以下几点重要意义：</a:t>
            </a:r>
            <a:endParaRPr lang="zh-CN" altLang="en-US" sz="1200">
              <a:solidFill>
                <a:schemeClr val="tx1"/>
              </a:solidFill>
            </a:endParaRPr>
          </a:p>
          <a:p>
            <a:pPr algn="l"/>
            <a:r>
              <a:rPr lang="zh-CN" altLang="en-US" sz="1200">
                <a:sym typeface="+mn-ea"/>
              </a:rPr>
              <a:t>提升健身学习效率与科学性，降低健身成本，优化健身行业运营管理，促进健身社区的形成。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10" y="1143000"/>
            <a:ext cx="2692400" cy="3458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国内外现状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国内研究现状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601345" y="1875790"/>
            <a:ext cx="2741295" cy="297624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066906" y="1534826"/>
            <a:ext cx="530506" cy="25721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40994" y="1018720"/>
            <a:ext cx="426013" cy="426013"/>
          </a:xfrm>
          <a:prstGeom prst="rect">
            <a:avLst/>
          </a:prstGeom>
        </p:spPr>
      </p:pic>
      <p:sp>
        <p:nvSpPr>
          <p:cNvPr id="9" name="Shape 1"/>
          <p:cNvSpPr/>
          <p:nvPr>
            <p:custDataLst>
              <p:tags r:id="rId10"/>
            </p:custDataLst>
          </p:nvPr>
        </p:nvSpPr>
        <p:spPr>
          <a:xfrm>
            <a:off x="158947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pic>
        <p:nvPicPr>
          <p:cNvPr id="10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3416935" y="1875790"/>
            <a:ext cx="2526665" cy="300672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alphaModFix amt="10000"/>
          </a:blip>
          <a:stretch>
            <a:fillRect/>
          </a:stretch>
        </p:blipFill>
        <p:spPr>
          <a:xfrm>
            <a:off x="6015990" y="1881505"/>
            <a:ext cx="2487295" cy="2991485"/>
          </a:xfrm>
          <a:prstGeom prst="rect">
            <a:avLst/>
          </a:prstGeom>
        </p:spPr>
      </p:pic>
      <p:sp>
        <p:nvSpPr>
          <p:cNvPr id="12" name="Text 2"/>
          <p:cNvSpPr/>
          <p:nvPr>
            <p:custDataLst>
              <p:tags r:id="rId14"/>
            </p:custDataLst>
          </p:nvPr>
        </p:nvSpPr>
        <p:spPr>
          <a:xfrm>
            <a:off x="652145" y="1882140"/>
            <a:ext cx="2529205" cy="277685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国内的线上健身市场近年来也发展迅速，头部应用如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Keep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Fittime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即刻运动）等已经积累了亿级的用户规模。这些平台成功地将健身内容与社交元素相结合，通过提供从零基础入门到高阶训练的全套视频课程、发起线上挑战活动、建立用户社群等方式，极大地降低了大众参与健身的门槛。</a:t>
            </a:r>
            <a:r>
              <a:rPr lang="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" alt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 3"/>
          <p:cNvSpPr/>
          <p:nvPr>
            <p:custDataLst>
              <p:tags r:id="rId15"/>
            </p:custDataLst>
          </p:nvPr>
        </p:nvSpPr>
        <p:spPr>
          <a:xfrm>
            <a:off x="3411855" y="1938655"/>
            <a:ext cx="2538730" cy="291782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国内应用更注重本土化的内容和运营策略，例如针对中国用户的饮食习惯设计减脂餐单，或结合传统节气推出特色训练课程。同时，它们也在积极探索商业模式，从最初的免费内容，逐步拓展到付费会员、线上私教、运动商品电商等多个领域。然而，部分产品也存在功能臃肿、内容同质化、课程推荐不够精准等问题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 4"/>
          <p:cNvSpPr/>
          <p:nvPr>
            <p:custDataLst>
              <p:tags r:id="rId16"/>
            </p:custDataLst>
          </p:nvPr>
        </p:nvSpPr>
        <p:spPr>
          <a:xfrm>
            <a:off x="6125845" y="1938655"/>
            <a:ext cx="2267585" cy="251333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综上所述，无论是国内还是国外，线上健身管理系统都朝着智能化、个性化、社交化的方向发展。本课题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小鲨鱼运动健身管理系统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正是在借鉴了这些成熟产品的核心理念基础上，旨在打造一个功能清晰、操作便捷、专注于服务健身新手和教练的垂直管理平台，通过精简核心功能，优化用户体验，来满足特定用户的实际需求。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 5"/>
          <p:cNvSpPr/>
          <p:nvPr>
            <p:custDataLst>
              <p:tags r:id="rId17"/>
            </p:custDataLst>
          </p:nvPr>
        </p:nvSpPr>
        <p:spPr>
          <a:xfrm>
            <a:off x="640994" y="1048069"/>
            <a:ext cx="679728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16" name="Image 8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339835" y="1018720"/>
            <a:ext cx="426013" cy="426013"/>
          </a:xfrm>
          <a:prstGeom prst="rect">
            <a:avLst/>
          </a:prstGeom>
        </p:spPr>
      </p:pic>
      <p:sp>
        <p:nvSpPr>
          <p:cNvPr id="17" name="Text 6"/>
          <p:cNvSpPr/>
          <p:nvPr>
            <p:custDataLst>
              <p:tags r:id="rId19"/>
            </p:custDataLst>
          </p:nvPr>
        </p:nvSpPr>
        <p:spPr>
          <a:xfrm>
            <a:off x="3349080" y="1048069"/>
            <a:ext cx="70996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8" name="Image 9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015819" y="1018720"/>
            <a:ext cx="426013" cy="426013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21"/>
            </p:custDataLst>
          </p:nvPr>
        </p:nvSpPr>
        <p:spPr>
          <a:xfrm>
            <a:off x="6016304" y="1048069"/>
            <a:ext cx="7236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8"/>
          <p:cNvSpPr/>
          <p:nvPr>
            <p:custDataLst>
              <p:tags r:id="rId22"/>
            </p:custDataLst>
          </p:nvPr>
        </p:nvSpPr>
        <p:spPr>
          <a:xfrm>
            <a:off x="4228093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sp>
        <p:nvSpPr>
          <p:cNvPr id="21" name="Shape 9"/>
          <p:cNvSpPr/>
          <p:nvPr>
            <p:custDataLst>
              <p:tags r:id="rId23"/>
            </p:custDataLst>
          </p:nvPr>
        </p:nvSpPr>
        <p:spPr>
          <a:xfrm>
            <a:off x="691303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pic>
        <p:nvPicPr>
          <p:cNvPr id="22" name="Image 10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3765747" y="1534826"/>
            <a:ext cx="530506" cy="257215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6441731" y="1534826"/>
            <a:ext cx="530506" cy="257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国外研究现状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601345" y="1882140"/>
            <a:ext cx="2487295" cy="282511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066906" y="1534826"/>
            <a:ext cx="530506" cy="25721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40994" y="1018720"/>
            <a:ext cx="426013" cy="426013"/>
          </a:xfrm>
          <a:prstGeom prst="rect">
            <a:avLst/>
          </a:prstGeom>
        </p:spPr>
      </p:pic>
      <p:sp>
        <p:nvSpPr>
          <p:cNvPr id="9" name="Shape 1"/>
          <p:cNvSpPr/>
          <p:nvPr>
            <p:custDataLst>
              <p:tags r:id="rId10"/>
            </p:custDataLst>
          </p:nvPr>
        </p:nvSpPr>
        <p:spPr>
          <a:xfrm>
            <a:off x="158947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pic>
        <p:nvPicPr>
          <p:cNvPr id="10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3416935" y="1890395"/>
            <a:ext cx="2487295" cy="285242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alphaModFix amt="10000"/>
          </a:blip>
          <a:stretch>
            <a:fillRect/>
          </a:stretch>
        </p:blipFill>
        <p:spPr>
          <a:xfrm>
            <a:off x="6015990" y="1791970"/>
            <a:ext cx="2487295" cy="2960370"/>
          </a:xfrm>
          <a:prstGeom prst="rect">
            <a:avLst/>
          </a:prstGeom>
        </p:spPr>
      </p:pic>
      <p:sp>
        <p:nvSpPr>
          <p:cNvPr id="12" name="Text 2"/>
          <p:cNvSpPr/>
          <p:nvPr>
            <p:custDataLst>
              <p:tags r:id="rId14"/>
            </p:custDataLst>
          </p:nvPr>
        </p:nvSpPr>
        <p:spPr>
          <a:xfrm>
            <a:off x="711217" y="1938345"/>
            <a:ext cx="2267712" cy="249872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在国外，运动健身应用的开发已经进入一个相对成熟的阶段，市场涌现了大量功能完善、用户体验优秀的产品。例如，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MyFitnessPal 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凭借其强大的食物数据库和热量追踪功能，成为全球领先的健康管理应用之一。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Peloton 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则通过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硬件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内容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社区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的模式，将智能动感单车与高质量的直播课程相结合，创造了沉浸式的家庭健身体验。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 3"/>
          <p:cNvSpPr/>
          <p:nvPr>
            <p:custDataLst>
              <p:tags r:id="rId15"/>
            </p:custDataLst>
          </p:nvPr>
        </p:nvSpPr>
        <p:spPr>
          <a:xfrm>
            <a:off x="3526790" y="1956435"/>
            <a:ext cx="2267585" cy="16662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/>
              <a:t>这些国外产品的共同特点是功能集成度高、内容专业化、注重数据分析与用户社交。它们不仅提供训练指导，还延伸到饮食记录、睡眠监测、心理健康等多个维度，并通过与可穿戴设备联动，为用户提供全面的健康数据分析和个性化建议。</a:t>
            </a:r>
            <a:endParaRPr lang="zh-CN" altLang="en-US" sz="1000" dirty="0"/>
          </a:p>
        </p:txBody>
      </p:sp>
      <p:sp>
        <p:nvSpPr>
          <p:cNvPr id="14" name="Text 4"/>
          <p:cNvSpPr/>
          <p:nvPr>
            <p:custDataLst>
              <p:tags r:id="rId16"/>
            </p:custDataLst>
          </p:nvPr>
        </p:nvSpPr>
        <p:spPr>
          <a:xfrm>
            <a:off x="6125566" y="1938345"/>
            <a:ext cx="2267712" cy="226758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无论是国内还是国外，线上健身管理系统都朝着智能化、个性化、社交化的方向发展。本课题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小鲨鱼运动健身管理系统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正是在借鉴了这些成熟产品的核心理念基础上，旨在打造一个功能清晰、操作便捷、专注于服务健身新手和教练的垂直管理平台，通过精简核心功能，优化用户体验，来满足特定用户的实际需求。</a:t>
            </a:r>
            <a:endParaRPr lang="zh-CN" altLang="en-US" sz="1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</p:txBody>
      </p:sp>
      <p:sp>
        <p:nvSpPr>
          <p:cNvPr id="15" name="Text 5"/>
          <p:cNvSpPr/>
          <p:nvPr>
            <p:custDataLst>
              <p:tags r:id="rId17"/>
            </p:custDataLst>
          </p:nvPr>
        </p:nvSpPr>
        <p:spPr>
          <a:xfrm>
            <a:off x="640994" y="1048069"/>
            <a:ext cx="679728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16" name="Image 8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339835" y="1018720"/>
            <a:ext cx="426013" cy="426013"/>
          </a:xfrm>
          <a:prstGeom prst="rect">
            <a:avLst/>
          </a:prstGeom>
        </p:spPr>
      </p:pic>
      <p:sp>
        <p:nvSpPr>
          <p:cNvPr id="17" name="Text 6"/>
          <p:cNvSpPr/>
          <p:nvPr>
            <p:custDataLst>
              <p:tags r:id="rId19"/>
            </p:custDataLst>
          </p:nvPr>
        </p:nvSpPr>
        <p:spPr>
          <a:xfrm>
            <a:off x="3349080" y="1048069"/>
            <a:ext cx="70996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8" name="Image 9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015819" y="1018720"/>
            <a:ext cx="426013" cy="426013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21"/>
            </p:custDataLst>
          </p:nvPr>
        </p:nvSpPr>
        <p:spPr>
          <a:xfrm>
            <a:off x="6016304" y="1048069"/>
            <a:ext cx="7236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8"/>
          <p:cNvSpPr/>
          <p:nvPr>
            <p:custDataLst>
              <p:tags r:id="rId22"/>
            </p:custDataLst>
          </p:nvPr>
        </p:nvSpPr>
        <p:spPr>
          <a:xfrm>
            <a:off x="4228093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sp>
        <p:nvSpPr>
          <p:cNvPr id="21" name="Shape 9"/>
          <p:cNvSpPr/>
          <p:nvPr>
            <p:custDataLst>
              <p:tags r:id="rId23"/>
            </p:custDataLst>
          </p:nvPr>
        </p:nvSpPr>
        <p:spPr>
          <a:xfrm>
            <a:off x="691303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0055FF"/>
            </a:solidFill>
            <a:prstDash val="solid"/>
            <a:headEnd type="none"/>
            <a:tailEnd type="arrow"/>
          </a:ln>
        </p:spPr>
      </p:sp>
      <p:pic>
        <p:nvPicPr>
          <p:cNvPr id="22" name="Image 10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3765747" y="1534826"/>
            <a:ext cx="530506" cy="257215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6441731" y="1534826"/>
            <a:ext cx="530506" cy="257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5154" y="1959269"/>
            <a:ext cx="5339328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研究内容方法及功能结构图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课题研究的目标和内容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03401" y="1099566"/>
            <a:ext cx="7497539" cy="114882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-8100000">
            <a:off x="8148204" y="3558047"/>
            <a:ext cx="325055" cy="32505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601489" y="2311193"/>
            <a:ext cx="7497539" cy="255772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-8100000">
            <a:off x="8148223" y="2543063"/>
            <a:ext cx="325055" cy="325055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-8100000">
            <a:off x="8148185" y="1394239"/>
            <a:ext cx="325055" cy="32505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834307" y="1323749"/>
            <a:ext cx="2845133" cy="57310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课题研究的目标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3586576" y="1267261"/>
            <a:ext cx="4333133" cy="813435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indent="0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本课题的研究目标是设计并实现一个基于Web的“小鲨鱼运动健身管理系统”。系统需要满足管理员、普通用户和教练三类角色的使用需求，提供稳定、可靠、易用的服务。具体研究内容如下：</a:t>
            </a:r>
            <a:endParaRPr lang="zh-CN" alt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774793" y="2409000"/>
            <a:ext cx="2531059" cy="2459917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课题研究的角色内容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3586480" y="2312035"/>
            <a:ext cx="4333240" cy="2557145"/>
          </a:xfrm>
          <a:prstGeom prst="rect">
            <a:avLst/>
          </a:prstGeom>
          <a:noFill/>
        </p:spPr>
        <p:txBody>
          <a:bodyPr wrap="square" lIns="95250" tIns="95250" rIns="95250" bIns="9525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本系统结合实际需求，设计了</a:t>
            </a: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教练</a:t>
            </a: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、管理员和用户三种角色，并分别赋予不同的权限和功能。以下是网站的主要功能概述：</a:t>
            </a:r>
            <a:endParaRPr lang="en-US" sz="1500" dirty="0"/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管理端功能模块：</a:t>
            </a:r>
            <a:endParaRPr 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管理员认证与权限模块：实现管理员登录、权限控制等功能。</a:t>
            </a:r>
            <a:endParaRPr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用户管理模块：对普通用户和教练信息进行增、删、改、查。</a:t>
            </a:r>
            <a:endParaRPr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健身资料管理模块：对健身书籍、视频等教学资源进行上传、分类和维护。</a:t>
            </a:r>
            <a:endParaRPr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内容与评论审核模块：审核用户和教练发布的动态、评论，维护社区环境。</a:t>
            </a:r>
            <a:endParaRPr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用户端功能模块：</a:t>
            </a:r>
            <a:endParaRPr 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教练端功能模块</a:t>
            </a:r>
            <a:endParaRPr 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课题研究方法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0000"/>
          </a:blip>
          <a:stretch>
            <a:fillRect/>
          </a:stretch>
        </p:blipFill>
        <p:spPr>
          <a:xfrm rot="-366000">
            <a:off x="641874" y="1004724"/>
            <a:ext cx="2450592" cy="328400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79498" y="987328"/>
            <a:ext cx="2450592" cy="3243323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92065" y="924995"/>
            <a:ext cx="512064" cy="512064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10"/>
            </p:custDataLst>
          </p:nvPr>
        </p:nvSpPr>
        <p:spPr>
          <a:xfrm>
            <a:off x="541223" y="870131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10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50000"/>
          </a:blip>
          <a:stretch>
            <a:fillRect/>
          </a:stretch>
        </p:blipFill>
        <p:spPr>
          <a:xfrm rot="-366000">
            <a:off x="3435198" y="987374"/>
            <a:ext cx="2450592" cy="3301402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435198" y="883816"/>
            <a:ext cx="2450592" cy="3346835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14357" y="924995"/>
            <a:ext cx="512064" cy="512064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6"/>
            </p:custDataLst>
          </p:nvPr>
        </p:nvSpPr>
        <p:spPr>
          <a:xfrm>
            <a:off x="3363515" y="883816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4" name="Image 9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alphaModFix amt="50000"/>
          </a:blip>
          <a:stretch>
            <a:fillRect/>
          </a:stretch>
        </p:blipFill>
        <p:spPr>
          <a:xfrm rot="-366000">
            <a:off x="6044602" y="931739"/>
            <a:ext cx="2450592" cy="3224893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6093184" y="883816"/>
            <a:ext cx="2450592" cy="330565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205105" y="987328"/>
            <a:ext cx="512064" cy="512064"/>
          </a:xfrm>
          <a:prstGeom prst="rect">
            <a:avLst/>
          </a:prstGeom>
        </p:spPr>
      </p:pic>
      <p:sp>
        <p:nvSpPr>
          <p:cNvPr id="17" name="Text 3"/>
          <p:cNvSpPr/>
          <p:nvPr>
            <p:custDataLst>
              <p:tags r:id="rId22"/>
            </p:custDataLst>
          </p:nvPr>
        </p:nvSpPr>
        <p:spPr>
          <a:xfrm>
            <a:off x="6054263" y="924995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4"/>
          <p:cNvSpPr/>
          <p:nvPr>
            <p:custDataLst>
              <p:tags r:id="rId23"/>
            </p:custDataLst>
          </p:nvPr>
        </p:nvSpPr>
        <p:spPr>
          <a:xfrm>
            <a:off x="601489" y="1275364"/>
            <a:ext cx="2449397" cy="467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文献研究</a:t>
            </a: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</a:t>
            </a:r>
            <a:endParaRPr lang="en-US" sz="1500" dirty="0"/>
          </a:p>
        </p:txBody>
      </p:sp>
      <p:sp>
        <p:nvSpPr>
          <p:cNvPr id="19" name="Text 5"/>
          <p:cNvSpPr/>
          <p:nvPr>
            <p:custDataLst>
              <p:tags r:id="rId24"/>
            </p:custDataLst>
          </p:nvPr>
        </p:nvSpPr>
        <p:spPr>
          <a:xfrm>
            <a:off x="774700" y="1674495"/>
            <a:ext cx="2194560" cy="26409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广泛查阅国内外关于健身管理系统、</a:t>
            </a:r>
            <a:r>
              <a:rPr lang="en-US" altLang="zh-CN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Web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应用开发、数据库设计等领域的学术论文、书籍和技术文档，借鉴现有研究成果和成熟的技术方案。</a:t>
            </a:r>
            <a:r>
              <a:rPr 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将通过查阅相关书籍、期刊、论文和在线资源，了解当前</a:t>
            </a:r>
            <a:r>
              <a:rPr lang="zh-CN" alt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健身</a:t>
            </a:r>
            <a:r>
              <a:rPr 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市场的趋势、软件开发的最佳实践和用户体验设计的原则。这些理论知识将提供指导，确保在开发过程中遵循最佳实践，避免走弯路。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endParaRPr lang="zh-CN" altLang="en-US" sz="1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</p:txBody>
      </p:sp>
      <p:sp>
        <p:nvSpPr>
          <p:cNvPr id="20" name="Text 6"/>
          <p:cNvSpPr/>
          <p:nvPr>
            <p:custDataLst>
              <p:tags r:id="rId25"/>
            </p:custDataLst>
          </p:nvPr>
        </p:nvSpPr>
        <p:spPr>
          <a:xfrm>
            <a:off x="3435796" y="1275364"/>
            <a:ext cx="2449397" cy="467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处理流程</a:t>
            </a:r>
            <a:endParaRPr lang="en-US" sz="1500" dirty="0"/>
          </a:p>
        </p:txBody>
      </p:sp>
      <p:sp>
        <p:nvSpPr>
          <p:cNvPr id="21" name="Text 7"/>
          <p:cNvSpPr/>
          <p:nvPr>
            <p:custDataLst>
              <p:tags r:id="rId26"/>
            </p:custDataLst>
          </p:nvPr>
        </p:nvSpPr>
        <p:spPr>
          <a:xfrm>
            <a:off x="3563214" y="1667126"/>
            <a:ext cx="2194560" cy="27679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采用面向对象的设计思想，进行系统架构设计、功能模块划分和数据库设计。使用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UML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（统一建模语言）绘制类图、时序图等，清晰地表达系统结构和交互逻辑。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敏捷开发与迭代：采用前后端分离的开发模式。后端使用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语言和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SpringBoot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框架进行开发，前端使用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Vue.js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框架。通过短期迭代的方式，逐步完成各个功能模块的编码、测试和集成。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 8"/>
          <p:cNvSpPr/>
          <p:nvPr>
            <p:custDataLst>
              <p:tags r:id="rId27"/>
            </p:custDataLst>
          </p:nvPr>
        </p:nvSpPr>
        <p:spPr>
          <a:xfrm>
            <a:off x="6172618" y="1275364"/>
            <a:ext cx="2449397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对比分析法</a:t>
            </a:r>
            <a:endParaRPr lang="en-US" sz="1500" dirty="0"/>
          </a:p>
        </p:txBody>
      </p:sp>
      <p:sp>
        <p:nvSpPr>
          <p:cNvPr id="23" name="Text 9"/>
          <p:cNvSpPr/>
          <p:nvPr>
            <p:custDataLst>
              <p:tags r:id="rId28"/>
            </p:custDataLst>
          </p:nvPr>
        </p:nvSpPr>
        <p:spPr>
          <a:xfrm>
            <a:off x="6221200" y="1614791"/>
            <a:ext cx="2194560" cy="226758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indent="254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en-US" sz="1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对比分析法将用于评估的系统在功能、性能和用户体验等方面与竞品相比的优势和不足。将选择市场上几个具有代表性的童装电商网站作为竞品，对它们的功能模块、操作流程、界面设计等方面进行详细的分析和比较。通过对比分析，可以发现竞品的长处和短处，从而为系统优化提供方向。</a:t>
            </a:r>
            <a:endParaRPr lang="en-US" sz="1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功能结构图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330" y="796290"/>
            <a:ext cx="614934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可行性分析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0000"/>
          </a:blip>
          <a:stretch>
            <a:fillRect/>
          </a:stretch>
        </p:blipFill>
        <p:spPr>
          <a:xfrm rot="-366000">
            <a:off x="524077" y="1002567"/>
            <a:ext cx="2450592" cy="404598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1489" y="947471"/>
            <a:ext cx="2450592" cy="415617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92065" y="924995"/>
            <a:ext cx="512064" cy="512064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10"/>
            </p:custDataLst>
          </p:nvPr>
        </p:nvSpPr>
        <p:spPr>
          <a:xfrm>
            <a:off x="541223" y="870131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10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50000"/>
          </a:blip>
          <a:stretch>
            <a:fillRect/>
          </a:stretch>
        </p:blipFill>
        <p:spPr>
          <a:xfrm rot="-366000">
            <a:off x="3471349" y="985448"/>
            <a:ext cx="2450592" cy="398180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435198" y="883816"/>
            <a:ext cx="2450592" cy="4219827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14357" y="924995"/>
            <a:ext cx="512064" cy="512064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6"/>
            </p:custDataLst>
          </p:nvPr>
        </p:nvSpPr>
        <p:spPr>
          <a:xfrm>
            <a:off x="3363515" y="883816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4" name="Image 9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alphaModFix amt="50000"/>
          </a:blip>
          <a:stretch>
            <a:fillRect/>
          </a:stretch>
        </p:blipFill>
        <p:spPr>
          <a:xfrm rot="-366000">
            <a:off x="6089978" y="929321"/>
            <a:ext cx="2450592" cy="4078909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093184" y="883816"/>
            <a:ext cx="2450592" cy="4219827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205105" y="987328"/>
            <a:ext cx="512064" cy="512064"/>
          </a:xfrm>
          <a:prstGeom prst="rect">
            <a:avLst/>
          </a:prstGeom>
        </p:spPr>
      </p:pic>
      <p:sp>
        <p:nvSpPr>
          <p:cNvPr id="17" name="Text 3"/>
          <p:cNvSpPr/>
          <p:nvPr>
            <p:custDataLst>
              <p:tags r:id="rId21"/>
            </p:custDataLst>
          </p:nvPr>
        </p:nvSpPr>
        <p:spPr>
          <a:xfrm>
            <a:off x="6054263" y="924995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4"/>
          <p:cNvSpPr/>
          <p:nvPr>
            <p:custDataLst>
              <p:tags r:id="rId22"/>
            </p:custDataLst>
          </p:nvPr>
        </p:nvSpPr>
        <p:spPr>
          <a:xfrm>
            <a:off x="601489" y="1051336"/>
            <a:ext cx="2449397" cy="467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</a:t>
            </a: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</a:t>
            </a:r>
            <a:endParaRPr lang="en-US" sz="1500" dirty="0"/>
          </a:p>
        </p:txBody>
      </p:sp>
      <p:sp>
        <p:nvSpPr>
          <p:cNvPr id="19" name="Text 5"/>
          <p:cNvSpPr/>
          <p:nvPr>
            <p:custDataLst>
              <p:tags r:id="rId23"/>
            </p:custDataLst>
          </p:nvPr>
        </p:nvSpPr>
        <p:spPr>
          <a:xfrm>
            <a:off x="692150" y="1695450"/>
            <a:ext cx="2194560" cy="317182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810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 dirty="0"/>
              <a:t>经济可行性：研究所需的软件工具（如</a:t>
            </a:r>
            <a:r>
              <a:rPr lang="en-US" altLang="zh-CN" sz="1500" dirty="0"/>
              <a:t>JDK</a:t>
            </a:r>
            <a:r>
              <a:rPr lang="zh-CN" altLang="en-US" sz="1500" dirty="0"/>
              <a:t>、</a:t>
            </a:r>
            <a:r>
              <a:rPr lang="en-US" altLang="zh-CN" sz="1500" dirty="0"/>
              <a:t>Maven</a:t>
            </a:r>
            <a:r>
              <a:rPr lang="zh-CN" altLang="en-US" sz="1500" dirty="0"/>
              <a:t>、</a:t>
            </a:r>
            <a:r>
              <a:rPr lang="en-US" altLang="zh-CN" sz="1500" dirty="0"/>
              <a:t>MySQL</a:t>
            </a:r>
            <a:r>
              <a:rPr lang="zh-CN" altLang="en-US" sz="1500" dirty="0"/>
              <a:t>、</a:t>
            </a:r>
            <a:r>
              <a:rPr lang="en-US" altLang="zh-CN" sz="1500" dirty="0"/>
              <a:t>IDEA</a:t>
            </a:r>
            <a:r>
              <a:rPr lang="zh-CN" altLang="en-US" sz="1500" dirty="0"/>
              <a:t>社区版等）均为免费或开源软件，硬件方面使用个人计算机即可满足开发要求，无需投入额外的经济成本。</a:t>
            </a:r>
            <a:endParaRPr lang="zh-CN" altLang="en-US" sz="1500" dirty="0"/>
          </a:p>
        </p:txBody>
      </p:sp>
      <p:sp>
        <p:nvSpPr>
          <p:cNvPr id="20" name="Text 6"/>
          <p:cNvSpPr/>
          <p:nvPr>
            <p:custDataLst>
              <p:tags r:id="rId24"/>
            </p:custDataLst>
          </p:nvPr>
        </p:nvSpPr>
        <p:spPr>
          <a:xfrm>
            <a:off x="3435796" y="1051336"/>
            <a:ext cx="2449397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技术可行性</a:t>
            </a:r>
            <a:endParaRPr lang="en-US" sz="1500" dirty="0"/>
          </a:p>
        </p:txBody>
      </p:sp>
      <p:sp>
        <p:nvSpPr>
          <p:cNvPr id="21" name="Text 7"/>
          <p:cNvSpPr/>
          <p:nvPr>
            <p:custDataLst>
              <p:tags r:id="rId25"/>
            </p:custDataLst>
          </p:nvPr>
        </p:nvSpPr>
        <p:spPr>
          <a:xfrm>
            <a:off x="3562985" y="1700530"/>
            <a:ext cx="2194560" cy="28676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/>
              <a:t>技术可行性：本系统计划采用</a:t>
            </a:r>
            <a:r>
              <a:rPr lang="en-US" altLang="zh-CN" sz="1200" dirty="0"/>
              <a:t> SpringBoot + Vue + MySQL </a:t>
            </a:r>
            <a:r>
              <a:rPr lang="zh-CN" altLang="en-US" sz="1200" dirty="0"/>
              <a:t>的技术栈。这些都是当今主流、成熟的</a:t>
            </a:r>
            <a:r>
              <a:rPr lang="en-US" altLang="zh-CN" sz="1200" dirty="0"/>
              <a:t>Web</a:t>
            </a:r>
            <a:r>
              <a:rPr lang="zh-CN" altLang="en-US" sz="1200" dirty="0"/>
              <a:t>开发技术，拥有丰富的开源社区支持和海量的技术文档。开发工具如</a:t>
            </a:r>
            <a:r>
              <a:rPr lang="en-US" altLang="zh-CN" sz="1200" dirty="0"/>
              <a:t>IntelliJ IDEA</a:t>
            </a:r>
            <a:r>
              <a:rPr lang="zh-CN" altLang="en-US" sz="1200" dirty="0"/>
              <a:t>、</a:t>
            </a:r>
            <a:r>
              <a:rPr lang="en-US" altLang="zh-CN" sz="1200" dirty="0"/>
              <a:t>VSCode</a:t>
            </a:r>
            <a:r>
              <a:rPr lang="zh-CN" altLang="en-US" sz="1200" dirty="0"/>
              <a:t>等功能强大且易于获取。因此，从技术角度来看，本课题的实现不存在难以逾越的障碍。</a:t>
            </a:r>
            <a:endParaRPr lang="zh-CN" altLang="en-US" sz="1200" dirty="0"/>
          </a:p>
        </p:txBody>
      </p:sp>
      <p:sp>
        <p:nvSpPr>
          <p:cNvPr id="22" name="Text 8"/>
          <p:cNvSpPr/>
          <p:nvPr>
            <p:custDataLst>
              <p:tags r:id="rId26"/>
            </p:custDataLst>
          </p:nvPr>
        </p:nvSpPr>
        <p:spPr>
          <a:xfrm>
            <a:off x="6210205" y="1153595"/>
            <a:ext cx="2449397" cy="467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操作可行性</a:t>
            </a:r>
            <a:endParaRPr lang="en-US" sz="1500" dirty="0"/>
          </a:p>
        </p:txBody>
      </p:sp>
      <p:sp>
        <p:nvSpPr>
          <p:cNvPr id="23" name="Text 9"/>
          <p:cNvSpPr/>
          <p:nvPr>
            <p:custDataLst>
              <p:tags r:id="rId27"/>
            </p:custDataLst>
          </p:nvPr>
        </p:nvSpPr>
        <p:spPr>
          <a:xfrm>
            <a:off x="6217920" y="1665605"/>
            <a:ext cx="2194560" cy="313499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/>
              <a:t>操作可行性：系统将设计简洁直观的用户界面和清晰的操作流程，使得不同角色的用户都能快速上手。系统部署在服务器上后，用户通过浏览器即可访问，操作便捷，具有良好的可行性。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课题特色及预期目标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课题特色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809365" y="1210310"/>
            <a:ext cx="4593590" cy="294322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048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三方角色整合：系统有机地整合了普通用户、专业教练和平台管理员三种角色，形成了一个从内容生产、专业指导到用户消费、平台监管的完整闭环生态。</a:t>
            </a:r>
            <a:endParaRPr lang="zh-CN" altLang="en-US" sz="1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  <a:p>
            <a:pPr indent="3048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轻量化与实用性：相较于市面上功能繁杂的大型健身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APP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，本系统聚焦于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健身知识管理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和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“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训练计划定制</a:t>
            </a:r>
            <a:r>
              <a:rPr lang="en-US" altLang="zh-CN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”</a:t>
            </a: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两大核心功能，力求为健身新手提供一个轻量、纯粹、实用的入门工具。</a:t>
            </a:r>
            <a:endParaRPr lang="zh-CN" altLang="en-US" sz="1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  <a:p>
            <a:pPr indent="3048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</a:rPr>
              <a:t>前后端分离架构：采用主流的前后端分离开发模式，使得前端和后端可以独立开发、测试和部署，提高了开发效率，也为未来系统功能的扩展和移动端的适配打下了良好基础。</a:t>
            </a:r>
            <a:endParaRPr lang="zh-CN" altLang="en-US" sz="1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" y="1624965"/>
            <a:ext cx="3554095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预期目标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809365" y="1251585"/>
            <a:ext cx="4520565" cy="28949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indent="381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成功开发出一个功能完善、运行稳定的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小鲨鱼运动健身管理系统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”Web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应用。</a:t>
            </a:r>
            <a:endParaRPr lang="zh-CN" alt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81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系统能够准确实现任务书中规划的管理端、用户端、教练端的所有核心功能模块。</a:t>
            </a:r>
            <a:endParaRPr lang="zh-CN" alt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81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系统界面美观、交互友好，用户体验良好。</a:t>
            </a:r>
            <a:endParaRPr lang="zh-CN" alt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81000" algn="just" fontAlgn="auto">
              <a:lnSpc>
                <a:spcPct val="150000"/>
              </a:lnSpc>
              <a:spcBef>
                <a:spcPts val="300"/>
              </a:spcBef>
              <a:buNone/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完成所有相关的设计文档，并撰写一篇结构完整、内容详实、符合规范的毕业设计（论文）。</a:t>
            </a:r>
            <a:endParaRPr lang="zh-CN" altLang="en-US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" y="1320800"/>
            <a:ext cx="3123565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78638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300" b="1" dirty="0">
                <a:solidFill>
                  <a:srgbClr val="005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课题实施计划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课题实施计划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294066" y="552732"/>
            <a:ext cx="4279233" cy="512064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82250" y="653062"/>
            <a:ext cx="411480" cy="411480"/>
          </a:xfrm>
          <a:prstGeom prst="rect">
            <a:avLst/>
          </a:prstGeom>
        </p:spPr>
      </p:pic>
      <p:sp>
        <p:nvSpPr>
          <p:cNvPr id="8" name="Text 1"/>
          <p:cNvSpPr/>
          <p:nvPr>
            <p:custDataLst>
              <p:tags r:id="rId8"/>
            </p:custDataLst>
          </p:nvPr>
        </p:nvSpPr>
        <p:spPr>
          <a:xfrm>
            <a:off x="3782321" y="643129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pic>
        <p:nvPicPr>
          <p:cNvPr id="9" name="Image 5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alphaModFix amt="10000"/>
          </a:blip>
          <a:stretch>
            <a:fillRect/>
          </a:stretch>
        </p:blipFill>
        <p:spPr>
          <a:xfrm>
            <a:off x="4320540" y="1116330"/>
            <a:ext cx="4279265" cy="57531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908920" y="1253642"/>
            <a:ext cx="411480" cy="411480"/>
          </a:xfrm>
          <a:prstGeom prst="rect">
            <a:avLst/>
          </a:prstGeom>
        </p:spPr>
      </p:pic>
      <p:sp>
        <p:nvSpPr>
          <p:cNvPr id="11" name="Text 2"/>
          <p:cNvSpPr/>
          <p:nvPr>
            <p:custDataLst>
              <p:tags r:id="rId13"/>
            </p:custDataLst>
          </p:nvPr>
        </p:nvSpPr>
        <p:spPr>
          <a:xfrm>
            <a:off x="3858628" y="1207922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pic>
        <p:nvPicPr>
          <p:cNvPr id="12" name="Image 7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10000"/>
          </a:blip>
          <a:stretch>
            <a:fillRect/>
          </a:stretch>
        </p:blipFill>
        <p:spPr>
          <a:xfrm>
            <a:off x="4347210" y="1672590"/>
            <a:ext cx="4252595" cy="60960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08920" y="1854406"/>
            <a:ext cx="411480" cy="411480"/>
          </a:xfrm>
          <a:prstGeom prst="rect">
            <a:avLst/>
          </a:prstGeom>
        </p:spPr>
      </p:pic>
      <p:sp>
        <p:nvSpPr>
          <p:cNvPr id="14" name="Text 3"/>
          <p:cNvSpPr/>
          <p:nvPr>
            <p:custDataLst>
              <p:tags r:id="rId17"/>
            </p:custDataLst>
          </p:nvPr>
        </p:nvSpPr>
        <p:spPr>
          <a:xfrm>
            <a:off x="3858628" y="1854406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pic>
        <p:nvPicPr>
          <p:cNvPr id="15" name="Image 9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alphaModFix amt="10000"/>
          </a:blip>
          <a:stretch>
            <a:fillRect/>
          </a:stretch>
        </p:blipFill>
        <p:spPr>
          <a:xfrm>
            <a:off x="4320540" y="2302510"/>
            <a:ext cx="4257675" cy="558165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908920" y="2311606"/>
            <a:ext cx="411480" cy="411480"/>
          </a:xfrm>
          <a:prstGeom prst="rect">
            <a:avLst/>
          </a:prstGeom>
        </p:spPr>
      </p:pic>
      <p:sp>
        <p:nvSpPr>
          <p:cNvPr id="17" name="Text 4"/>
          <p:cNvSpPr/>
          <p:nvPr>
            <p:custDataLst>
              <p:tags r:id="rId21"/>
            </p:custDataLst>
          </p:nvPr>
        </p:nvSpPr>
        <p:spPr>
          <a:xfrm>
            <a:off x="3858628" y="2311606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pic>
        <p:nvPicPr>
          <p:cNvPr id="18" name="Image 11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alphaModFix amt="10000"/>
          </a:blip>
          <a:stretch>
            <a:fillRect/>
          </a:stretch>
        </p:blipFill>
        <p:spPr>
          <a:xfrm>
            <a:off x="4397890" y="2880524"/>
            <a:ext cx="4175409" cy="585216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08920" y="2971964"/>
            <a:ext cx="411480" cy="411480"/>
          </a:xfrm>
          <a:prstGeom prst="rect">
            <a:avLst/>
          </a:prstGeom>
        </p:spPr>
      </p:pic>
      <p:sp>
        <p:nvSpPr>
          <p:cNvPr id="20" name="Text 5"/>
          <p:cNvSpPr/>
          <p:nvPr>
            <p:custDataLst>
              <p:tags r:id="rId25"/>
            </p:custDataLst>
          </p:nvPr>
        </p:nvSpPr>
        <p:spPr>
          <a:xfrm>
            <a:off x="3858628" y="2994824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pic>
        <p:nvPicPr>
          <p:cNvPr id="21" name="Image 13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alphaModFix amt="10000"/>
          </a:blip>
          <a:stretch>
            <a:fillRect/>
          </a:stretch>
        </p:blipFill>
        <p:spPr>
          <a:xfrm>
            <a:off x="4375150" y="3491230"/>
            <a:ext cx="4203065" cy="803275"/>
          </a:xfrm>
          <a:prstGeom prst="rect">
            <a:avLst/>
          </a:prstGeom>
        </p:spPr>
      </p:pic>
      <p:pic>
        <p:nvPicPr>
          <p:cNvPr id="22" name="Image 14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908920" y="3694340"/>
            <a:ext cx="411480" cy="411480"/>
          </a:xfrm>
          <a:prstGeom prst="rect">
            <a:avLst/>
          </a:prstGeom>
        </p:spPr>
      </p:pic>
      <p:sp>
        <p:nvSpPr>
          <p:cNvPr id="23" name="Text 6"/>
          <p:cNvSpPr/>
          <p:nvPr>
            <p:custDataLst>
              <p:tags r:id="rId29"/>
            </p:custDataLst>
          </p:nvPr>
        </p:nvSpPr>
        <p:spPr>
          <a:xfrm>
            <a:off x="3858628" y="3717200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pic>
        <p:nvPicPr>
          <p:cNvPr id="24" name="Image 15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alphaModFix amt="10000"/>
          </a:blip>
          <a:stretch>
            <a:fillRect/>
          </a:stretch>
        </p:blipFill>
        <p:spPr>
          <a:xfrm>
            <a:off x="4398645" y="4319905"/>
            <a:ext cx="4174490" cy="628015"/>
          </a:xfrm>
          <a:prstGeom prst="rect">
            <a:avLst/>
          </a:prstGeom>
        </p:spPr>
      </p:pic>
      <p:pic>
        <p:nvPicPr>
          <p:cNvPr id="25" name="Image 16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08920" y="4383080"/>
            <a:ext cx="411480" cy="411480"/>
          </a:xfrm>
          <a:prstGeom prst="rect">
            <a:avLst/>
          </a:prstGeom>
        </p:spPr>
      </p:pic>
      <p:sp>
        <p:nvSpPr>
          <p:cNvPr id="26" name="Text 7"/>
          <p:cNvSpPr/>
          <p:nvPr>
            <p:custDataLst>
              <p:tags r:id="rId33"/>
            </p:custDataLst>
          </p:nvPr>
        </p:nvSpPr>
        <p:spPr>
          <a:xfrm>
            <a:off x="3858628" y="4301165"/>
            <a:ext cx="5120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8" name="Text 8"/>
          <p:cNvSpPr/>
          <p:nvPr>
            <p:custDataLst>
              <p:tags r:id="rId34"/>
            </p:custDataLst>
          </p:nvPr>
        </p:nvSpPr>
        <p:spPr>
          <a:xfrm>
            <a:off x="4370585" y="531142"/>
            <a:ext cx="4071585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第一、二周：确定毕业设计题目、根据题目进行调研。完成开题报告和开题答辩</a:t>
            </a:r>
            <a:endParaRPr lang="en-US" sz="1500" dirty="0"/>
          </a:p>
        </p:txBody>
      </p:sp>
      <p:sp>
        <p:nvSpPr>
          <p:cNvPr id="29" name="Text 9"/>
          <p:cNvSpPr/>
          <p:nvPr>
            <p:custDataLst>
              <p:tags r:id="rId35"/>
            </p:custDataLst>
          </p:nvPr>
        </p:nvSpPr>
        <p:spPr>
          <a:xfrm>
            <a:off x="4398010" y="1118235"/>
            <a:ext cx="4044950" cy="5689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第三、四周：查阅资料完成外文翻译、确定思路开发工具及关键技术                                      </a:t>
            </a:r>
            <a:endParaRPr lang="en-US" sz="1500" dirty="0"/>
          </a:p>
        </p:txBody>
      </p:sp>
      <p:sp>
        <p:nvSpPr>
          <p:cNvPr id="30" name="Text 10"/>
          <p:cNvSpPr/>
          <p:nvPr>
            <p:custDataLst>
              <p:tags r:id="rId36"/>
            </p:custDataLst>
          </p:nvPr>
        </p:nvSpPr>
        <p:spPr>
          <a:xfrm>
            <a:off x="4424045" y="1684655"/>
            <a:ext cx="4149725" cy="5759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第五、六周：确定各个功能模块，完成总体设计、</a:t>
            </a: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开发各个功能模块，同步撰写论文初稿</a:t>
            </a:r>
            <a:endParaRPr lang="en-US" sz="1500" dirty="0"/>
          </a:p>
        </p:txBody>
      </p:sp>
      <p:sp>
        <p:nvSpPr>
          <p:cNvPr id="31" name="Text 11"/>
          <p:cNvSpPr/>
          <p:nvPr>
            <p:custDataLst>
              <p:tags r:id="rId37"/>
            </p:custDataLst>
          </p:nvPr>
        </p:nvSpPr>
        <p:spPr>
          <a:xfrm>
            <a:off x="4370705" y="2263140"/>
            <a:ext cx="4102100" cy="6521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第七、八周：开发各个功能模块，同步撰写论文初稿、网站测试并记录数据</a:t>
            </a:r>
            <a:r>
              <a:rPr lang="zh-CN" alt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保证稳定运行</a:t>
            </a:r>
            <a:endParaRPr lang="en-US" sz="1500" dirty="0"/>
          </a:p>
        </p:txBody>
      </p:sp>
      <p:sp>
        <p:nvSpPr>
          <p:cNvPr id="32" name="Text 12"/>
          <p:cNvSpPr/>
          <p:nvPr>
            <p:custDataLst>
              <p:tags r:id="rId38"/>
            </p:custDataLst>
          </p:nvPr>
        </p:nvSpPr>
        <p:spPr>
          <a:xfrm>
            <a:off x="4397890" y="2880270"/>
            <a:ext cx="3999159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第九、十周：对网站进行封装，完成论文初稿、修改论文完成答辩稿</a:t>
            </a:r>
            <a:endParaRPr lang="en-US" sz="1500" dirty="0"/>
          </a:p>
        </p:txBody>
      </p:sp>
      <p:sp>
        <p:nvSpPr>
          <p:cNvPr id="33" name="Text 13"/>
          <p:cNvSpPr/>
          <p:nvPr>
            <p:custDataLst>
              <p:tags r:id="rId39"/>
            </p:custDataLst>
          </p:nvPr>
        </p:nvSpPr>
        <p:spPr>
          <a:xfrm>
            <a:off x="4424045" y="3475990"/>
            <a:ext cx="4074795" cy="88265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第十一、十二周：完成软件验收并记录结果，继续修订论文答辩稿、完成毕业设计相关材料撰写，继续修订论文答辩稿，通过查重</a:t>
            </a:r>
            <a:endParaRPr lang="en-US" sz="1500" dirty="0"/>
          </a:p>
        </p:txBody>
      </p:sp>
      <p:sp>
        <p:nvSpPr>
          <p:cNvPr id="34" name="Text 14"/>
          <p:cNvSpPr/>
          <p:nvPr>
            <p:custDataLst>
              <p:tags r:id="rId40"/>
            </p:custDataLst>
          </p:nvPr>
        </p:nvSpPr>
        <p:spPr>
          <a:xfrm>
            <a:off x="4481195" y="4289425"/>
            <a:ext cx="4018280" cy="6521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2D8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第十三、十四周：准备论文答辩及ppt、毕业设计答辩，整理论文终稿及相关材料进行归档</a:t>
            </a:r>
            <a:endParaRPr lang="en-US" sz="1500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18440" y="1511300"/>
            <a:ext cx="3554095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6247" y="2002836"/>
            <a:ext cx="4911506" cy="17465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8250" b="1" dirty="0">
                <a:solidFill>
                  <a:srgbClr val="001C70">
                    <a:alpha val="1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46785" y="1273175"/>
            <a:ext cx="7573010" cy="21158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54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谢谢观看</a:t>
            </a:r>
            <a:endParaRPr lang="en-US" sz="1500" dirty="0"/>
          </a:p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5400" b="1" dirty="0">
                <a:solidFill>
                  <a:srgbClr val="002B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欢迎各位老师指导改正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2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3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4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5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6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7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8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9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0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1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2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3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4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5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6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7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8.xml><?xml version="1.0" encoding="utf-8"?>
<p:tagLst xmlns:p="http://schemas.openxmlformats.org/presentationml/2006/main">
  <p:tag name="KSO_WM_DIAGRAM_VIRTUALLY_FRAME" val="{&quot;height&quot;:453.9614173228347,&quot;left&quot;:47.35,&quot;top&quot;:80.21417322834645,&quot;width&quot;:622.2}"/>
</p:tagLst>
</file>

<file path=ppt/tags/tag19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0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1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2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3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4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5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6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7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8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29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0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1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2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3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4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5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6.xml><?xml version="1.0" encoding="utf-8"?>
<p:tagLst xmlns:p="http://schemas.openxmlformats.org/presentationml/2006/main">
  <p:tag name="KSO_WM_DIAGRAM_VIRTUALLY_FRAME" val="{&quot;height&quot;:349.11141732283465,&quot;left&quot;:47.35,&quot;top&quot;:80.21417322834645,&quot;width&quot;:622.2}"/>
</p:tagLst>
</file>

<file path=ppt/tags/tag37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38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39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0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1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2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3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4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5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6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7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8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49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50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51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52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53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54.xml><?xml version="1.0" encoding="utf-8"?>
<p:tagLst xmlns:p="http://schemas.openxmlformats.org/presentationml/2006/main">
  <p:tag name="KSO_WM_DIAGRAM_VIRTUALLY_FRAME" val="{&quot;height&quot;:285.387966880849,&quot;left&quot;:37.34849841536686,&quot;top&quot;:63.831796898678554,&quot;width&quot;:644.5098823323889}"/>
</p:tagLst>
</file>

<file path=ppt/tags/tag55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56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57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58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59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0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1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2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3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4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5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6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7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8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69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70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71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72.xml><?xml version="1.0" encoding="utf-8"?>
<p:tagLst xmlns:p="http://schemas.openxmlformats.org/presentationml/2006/main">
  <p:tag name="KSO_WM_DIAGRAM_VIRTUALLY_FRAME" val="{&quot;height&quot;:343.0420547550588,&quot;left&quot;:24.885318167942863,&quot;top&quot;:63.83177667439262,&quot;width&quot;:664.1188585304541}"/>
</p:tagLst>
</file>

<file path=ppt/tags/tag73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4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5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6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7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8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79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0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1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2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3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4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5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6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7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8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89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0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1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2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3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4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5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6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7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8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99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100.xml><?xml version="1.0" encoding="utf-8"?>
<p:tagLst xmlns:p="http://schemas.openxmlformats.org/presentationml/2006/main">
  <p:tag name="KSO_WM_DIAGRAM_VIRTUALLY_FRAME" val="{&quot;height&quot;:363.1122047244095,&quot;left&quot;:291.32055118110236,&quot;top&quot;:41.572204724409445,&quot;width&quot;:385.8423622047245}"/>
</p:tagLst>
</file>

<file path=ppt/tags/tag101.xml><?xml version="1.0" encoding="utf-8"?>
<p:tagLst xmlns:p="http://schemas.openxmlformats.org/presentationml/2006/main">
  <p:tag name="commondata" val="eyJoZGlkIjoiM2MxZDVhZTVhNTA4MmRhYTM2ZjU1NGY0ZTE2NDYwYz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3172</Words>
  <Application>WPS 演示</Application>
  <PresentationFormat>On-screen Show (16:9)</PresentationFormat>
  <Paragraphs>204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Arial</vt:lpstr>
      <vt:lpstr>Arial</vt:lpstr>
      <vt:lpstr>黑体</vt:lpstr>
      <vt:lpstr>微软雅黑</vt:lpstr>
      <vt:lpstr>微软雅黑</vt:lpstr>
      <vt:lpstr>宋体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#%Code</cp:lastModifiedBy>
  <cp:revision>20</cp:revision>
  <dcterms:created xsi:type="dcterms:W3CDTF">2024-11-03T09:44:00Z</dcterms:created>
  <dcterms:modified xsi:type="dcterms:W3CDTF">2025-11-03T06:45:23Z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9C6A723EC0F94FDBBF0A46969540C211_12</vt:lpwstr>
  </property>
  <property fmtid="{D5CDD505-2E9C-101B-9397-08002B2CF9AE}" pid="3" name="KSOProductBuildVer">
    <vt:lpwstr>2052-12.1.0.23122</vt:lpwstr>
  </property>
</Properties>
</file>