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custDataLst>
    <p:tags r:id="rId2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0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fontAlgn="auto"/>
            <a:fld id="{D997B5FA-0921-464F-AAE1-844C04324D75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fontAlgn="auto"/>
            <a:fld id="{565CE74E-AB26-4998-AD42-012C4C1AD07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7.png"/><Relationship Id="rId7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tags" Target="../tags/tag2.xml"/><Relationship Id="rId4" Type="http://schemas.openxmlformats.org/officeDocument/2006/relationships/image" Target="../media/image5.png"/><Relationship Id="rId3" Type="http://schemas.openxmlformats.org/officeDocument/2006/relationships/tags" Target="../tags/tag1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image" Target="../media/image3.png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8.png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image" Target="../media/image7.png"/><Relationship Id="rId7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tags" Target="../tags/tag20.xml"/><Relationship Id="rId4" Type="http://schemas.openxmlformats.org/officeDocument/2006/relationships/image" Target="../media/image5.png"/><Relationship Id="rId3" Type="http://schemas.openxmlformats.org/officeDocument/2006/relationships/tags" Target="../tags/tag1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image" Target="../media/image3.png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image" Target="../media/image8.png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14.png"/><Relationship Id="rId7" Type="http://schemas.openxmlformats.org/officeDocument/2006/relationships/tags" Target="../tags/tag39.xml"/><Relationship Id="rId6" Type="http://schemas.openxmlformats.org/officeDocument/2006/relationships/image" Target="../media/image13.png"/><Relationship Id="rId5" Type="http://schemas.openxmlformats.org/officeDocument/2006/relationships/tags" Target="../tags/tag38.xml"/><Relationship Id="rId4" Type="http://schemas.openxmlformats.org/officeDocument/2006/relationships/image" Target="../media/image12.png"/><Relationship Id="rId3" Type="http://schemas.openxmlformats.org/officeDocument/2006/relationships/tags" Target="../tags/tag37.xml"/><Relationship Id="rId29" Type="http://schemas.openxmlformats.org/officeDocument/2006/relationships/notesSlide" Target="../notesSlides/notesSlide10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image" Target="../media/image3.png"/><Relationship Id="rId19" Type="http://schemas.openxmlformats.org/officeDocument/2006/relationships/image" Target="../media/image18.png"/><Relationship Id="rId18" Type="http://schemas.openxmlformats.org/officeDocument/2006/relationships/tags" Target="../tags/tag46.xml"/><Relationship Id="rId17" Type="http://schemas.openxmlformats.org/officeDocument/2006/relationships/image" Target="../media/image17.png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image" Target="../media/image16.png"/><Relationship Id="rId12" Type="http://schemas.openxmlformats.org/officeDocument/2006/relationships/tags" Target="../tags/tag42.xml"/><Relationship Id="rId11" Type="http://schemas.openxmlformats.org/officeDocument/2006/relationships/image" Target="../media/image15.png"/><Relationship Id="rId10" Type="http://schemas.openxmlformats.org/officeDocument/2006/relationships/tags" Target="../tags/tag4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image" Target="../media/image14.png"/><Relationship Id="rId7" Type="http://schemas.openxmlformats.org/officeDocument/2006/relationships/tags" Target="../tags/tag57.xml"/><Relationship Id="rId6" Type="http://schemas.openxmlformats.org/officeDocument/2006/relationships/image" Target="../media/image21.png"/><Relationship Id="rId5" Type="http://schemas.openxmlformats.org/officeDocument/2006/relationships/tags" Target="../tags/tag56.xml"/><Relationship Id="rId4" Type="http://schemas.openxmlformats.org/officeDocument/2006/relationships/image" Target="../media/image20.png"/><Relationship Id="rId3" Type="http://schemas.openxmlformats.org/officeDocument/2006/relationships/tags" Target="../tags/tag55.xml"/><Relationship Id="rId28" Type="http://schemas.openxmlformats.org/officeDocument/2006/relationships/notesSlide" Target="../notesSlides/notesSlide13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72.xml"/><Relationship Id="rId25" Type="http://schemas.openxmlformats.org/officeDocument/2006/relationships/tags" Target="../tags/tag71.xml"/><Relationship Id="rId24" Type="http://schemas.openxmlformats.org/officeDocument/2006/relationships/tags" Target="../tags/tag70.xml"/><Relationship Id="rId23" Type="http://schemas.openxmlformats.org/officeDocument/2006/relationships/tags" Target="../tags/tag69.xml"/><Relationship Id="rId22" Type="http://schemas.openxmlformats.org/officeDocument/2006/relationships/tags" Target="../tags/tag68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image" Target="../media/image3.png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image" Target="../media/image24.png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image" Target="../media/image23.png"/><Relationship Id="rId12" Type="http://schemas.openxmlformats.org/officeDocument/2006/relationships/tags" Target="../tags/tag60.xml"/><Relationship Id="rId11" Type="http://schemas.openxmlformats.org/officeDocument/2006/relationships/image" Target="../media/image22.png"/><Relationship Id="rId10" Type="http://schemas.openxmlformats.org/officeDocument/2006/relationships/tags" Target="../tags/tag59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image" Target="../media/image27.png"/><Relationship Id="rId5" Type="http://schemas.openxmlformats.org/officeDocument/2006/relationships/tags" Target="../tags/tag74.xml"/><Relationship Id="rId42" Type="http://schemas.openxmlformats.org/officeDocument/2006/relationships/notesSlide" Target="../notesSlides/notesSlide18.xml"/><Relationship Id="rId41" Type="http://schemas.openxmlformats.org/officeDocument/2006/relationships/slideLayout" Target="../slideLayouts/slideLayout1.xml"/><Relationship Id="rId40" Type="http://schemas.openxmlformats.org/officeDocument/2006/relationships/image" Target="../media/image4.png"/><Relationship Id="rId4" Type="http://schemas.openxmlformats.org/officeDocument/2006/relationships/image" Target="../media/image26.png"/><Relationship Id="rId39" Type="http://schemas.openxmlformats.org/officeDocument/2006/relationships/tags" Target="../tags/tag100.xml"/><Relationship Id="rId38" Type="http://schemas.openxmlformats.org/officeDocument/2006/relationships/tags" Target="../tags/tag99.xml"/><Relationship Id="rId37" Type="http://schemas.openxmlformats.org/officeDocument/2006/relationships/tags" Target="../tags/tag98.xml"/><Relationship Id="rId36" Type="http://schemas.openxmlformats.org/officeDocument/2006/relationships/tags" Target="../tags/tag97.xml"/><Relationship Id="rId35" Type="http://schemas.openxmlformats.org/officeDocument/2006/relationships/tags" Target="../tags/tag96.xml"/><Relationship Id="rId34" Type="http://schemas.openxmlformats.org/officeDocument/2006/relationships/tags" Target="../tags/tag95.xml"/><Relationship Id="rId33" Type="http://schemas.openxmlformats.org/officeDocument/2006/relationships/tags" Target="../tags/tag94.xml"/><Relationship Id="rId32" Type="http://schemas.openxmlformats.org/officeDocument/2006/relationships/tags" Target="../tags/tag93.xml"/><Relationship Id="rId31" Type="http://schemas.openxmlformats.org/officeDocument/2006/relationships/tags" Target="../tags/tag92.xml"/><Relationship Id="rId30" Type="http://schemas.openxmlformats.org/officeDocument/2006/relationships/image" Target="../media/image34.png"/><Relationship Id="rId3" Type="http://schemas.openxmlformats.org/officeDocument/2006/relationships/tags" Target="../tags/tag73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image" Target="../media/image33.png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image" Target="../media/image32.png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image" Target="../media/image3.png"/><Relationship Id="rId19" Type="http://schemas.openxmlformats.org/officeDocument/2006/relationships/tags" Target="../tags/tag83.xml"/><Relationship Id="rId18" Type="http://schemas.openxmlformats.org/officeDocument/2006/relationships/image" Target="../media/image31.png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image" Target="../media/image30.png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image" Target="../media/image29.png"/><Relationship Id="rId10" Type="http://schemas.openxmlformats.org/officeDocument/2006/relationships/tags" Target="../tags/tag7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3917" y="3221192"/>
            <a:ext cx="3256166" cy="20567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姓    名：</a:t>
            </a:r>
            <a:endParaRPr lang="en-US" altLang="zh-CN" sz="135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专业班级：</a:t>
            </a:r>
            <a:r>
              <a:rPr lang="zh-CN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计算机科学与技术</a:t>
            </a:r>
            <a:r>
              <a:rPr lang="en-US" altLang="zh-CN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(</a:t>
            </a:r>
            <a:r>
              <a:rPr lang="zh-CN" altLang="en-US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专升本</a:t>
            </a:r>
            <a:r>
              <a:rPr lang="en-US" altLang="zh-CN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)22-1</a:t>
            </a:r>
            <a:endParaRPr lang="en-US" altLang="zh-CN" sz="135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指导老师：于林林</a:t>
            </a:r>
            <a:endParaRPr lang="en-US" altLang="zh-CN" sz="135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答辩日期：</a:t>
            </a:r>
            <a:r>
              <a:rPr lang="en-US" altLang="zh-CN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2024</a:t>
            </a:r>
            <a:r>
              <a:rPr lang="zh-CN" altLang="en-US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年</a:t>
            </a:r>
            <a:r>
              <a:rPr lang="en-US" altLang="zh-CN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1</a:t>
            </a:r>
            <a:r>
              <a:rPr lang="zh-CN" altLang="en-US" sz="1350" b="1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charset="0"/>
              </a:rPr>
              <a:t>月</a:t>
            </a:r>
            <a:endParaRPr lang="zh-CN" altLang="en-US" sz="1350" b="1" dirty="0">
              <a:latin typeface="宋体" panose="02010600030101010101" pitchFamily="2" charset="-122"/>
              <a:ea typeface="宋体" panose="02010600030101010101" pitchFamily="2" charset="-122"/>
              <a:sym typeface="Calibri" panose="020F0502020204030204" charset="0"/>
            </a:endParaRPr>
          </a:p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307643" y="2813092"/>
            <a:ext cx="4528714" cy="0"/>
          </a:xfrm>
          <a:custGeom>
            <a:avLst/>
            <a:gdLst/>
            <a:ahLst/>
            <a:cxnLst/>
            <a:rect l="l" t="t" r="r" b="b"/>
            <a:pathLst>
              <a:path w="4528714">
                <a:moveTo>
                  <a:pt x="0" y="0"/>
                </a:moveTo>
                <a:lnTo>
                  <a:pt x="452871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432664" y="397054"/>
            <a:ext cx="8278672" cy="153098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200" b="1" kern="0" spc="375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大连科技学院</a:t>
            </a:r>
            <a:endParaRPr lang="en-US" sz="1500" dirty="0"/>
          </a:p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4200" b="1" kern="0" spc="375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毕业设计</a:t>
            </a:r>
            <a:r>
              <a:rPr lang="en-US" sz="4200" b="1" kern="0" spc="375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开题报告答辩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45695" y="2054493"/>
            <a:ext cx="5652609" cy="6851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zh-CN" altLang="en-US" sz="285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星落宠物用品销售系统设计与实现</a:t>
            </a:r>
            <a:endParaRPr lang="zh-CN" altLang="en-US" sz="285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3936" y="131018"/>
            <a:ext cx="4113526" cy="11704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5400" b="1" dirty="0">
                <a:solidFill>
                  <a:srgbClr val="5A85D9">
                    <a:alpha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9411" y="412164"/>
            <a:ext cx="1699339" cy="95097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2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36376" y="1943254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选题的意义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1920" y="1831195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68353" y="1943254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国内外现状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53896" y="1831195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36376" y="2556167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研究内容方法及功能结构图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1920" y="2444108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68353" y="2556452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53896" y="2444393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36376" y="3169080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课题特色及预期目标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1920" y="305702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68353" y="3169100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课题实施计划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3896" y="305704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选题的意义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选题的意义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736340" y="1199515"/>
            <a:ext cx="5212080" cy="278638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algn="l"/>
            <a:r>
              <a:rPr lang="zh-CN" altLang="en-US" sz="1200">
                <a:sym typeface="+mn-ea"/>
              </a:rPr>
              <a:t>随着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行业发展需求：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随着社会经济发展，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它经济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（或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宠物经济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）悄然兴起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）养宠人群持续扩大，宠物主们对商品的品质化、个性化需求日益增长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现有模式局限：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早期的线下实体店和线上的简单商品罗列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，以及单纯的货架式电商已无法满足当今宠物主的需求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技术基础成熟：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移动互联网技术的发展，为构建集购物、社交、服务于一体的垂直领域电商平台提供了技术基础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项目科学价值：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本课题旨在通过建立用户和宠物的专属档案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，实现精准营销和服务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。其价值在于：提升宠物主的个性化购物体验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。优化商家的运营管理效率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。推动宠物零售行业的数字化转型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。为广大宠物主创建一个有价值的线上互动社区，满足其情感与社交需求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139065" y="1120140"/>
            <a:ext cx="3230245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国内外现状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国内研究现状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1345" y="1875790"/>
            <a:ext cx="2741295" cy="297624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1066906" y="1534826"/>
            <a:ext cx="530506" cy="25721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0994" y="1018720"/>
            <a:ext cx="426013" cy="426013"/>
          </a:xfrm>
          <a:prstGeom prst="rect">
            <a:avLst/>
          </a:prstGeom>
        </p:spPr>
      </p:pic>
      <p:sp>
        <p:nvSpPr>
          <p:cNvPr id="9" name="Shape 1"/>
          <p:cNvSpPr/>
          <p:nvPr>
            <p:custDataLst>
              <p:tags r:id="rId9"/>
            </p:custDataLst>
          </p:nvPr>
        </p:nvSpPr>
        <p:spPr>
          <a:xfrm>
            <a:off x="158947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3416935" y="1875790"/>
            <a:ext cx="2526665" cy="300672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10000"/>
          </a:blip>
          <a:stretch>
            <a:fillRect/>
          </a:stretch>
        </p:blipFill>
        <p:spPr>
          <a:xfrm>
            <a:off x="6015990" y="1881505"/>
            <a:ext cx="2487295" cy="2991485"/>
          </a:xfrm>
          <a:prstGeom prst="rect">
            <a:avLst/>
          </a:prstGeom>
        </p:spPr>
      </p:pic>
      <p:sp>
        <p:nvSpPr>
          <p:cNvPr id="12" name="Text 2"/>
          <p:cNvSpPr/>
          <p:nvPr>
            <p:custDataLst>
              <p:tags r:id="rId13"/>
            </p:custDataLst>
          </p:nvPr>
        </p:nvSpPr>
        <p:spPr>
          <a:xfrm>
            <a:off x="652145" y="1882140"/>
            <a:ext cx="2529205" cy="277685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国内的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它经济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宠物经济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近年来正经历爆发式增长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。以波奇宠物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(Boqii)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宠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(E-pet)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为代表的垂直电商平台，以及天猫、京东等综合电商的宠物频道，共同构成了繁荣的市场。这些平台成功抓住了国内养宠人群的需求，通过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内容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社交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电商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的模式吸引和留住用户。例如，它们普遍设有宠物社区，用户可以在其中分享养宠经验、提问互动，平台则通过这些内容沉淀增强用户粘性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。国内应用更注重本土化的运营策略：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3"/>
          <p:cNvSpPr/>
          <p:nvPr>
            <p:custDataLst>
              <p:tags r:id="rId14"/>
            </p:custDataLst>
          </p:nvPr>
        </p:nvSpPr>
        <p:spPr>
          <a:xfrm>
            <a:off x="3411855" y="1938655"/>
            <a:ext cx="2538730" cy="29178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社区与内容引流：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大力发展宠物社区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，通过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KOL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（意见领袖）分享、养宠知识科普等内容吸引新用户，再将其导流至商城。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国产品牌扶持与自有品牌开发：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随着国内宠物食品、用品品牌的崛起，平台积极与其合作，并开发自有品牌以追求更高的利润率。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4"/>
          <p:cNvSpPr/>
          <p:nvPr>
            <p:custDataLst>
              <p:tags r:id="rId15"/>
            </p:custDataLst>
          </p:nvPr>
        </p:nvSpPr>
        <p:spPr>
          <a:xfrm>
            <a:off x="6125845" y="1938655"/>
            <a:ext cx="2267585" cy="251333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服务模式探索：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积极整合线下资源，如宠物店、宠物医院，探索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O2O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（线上到线下）服务模式。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然而，国内市场也存在商品同质化严重、平台功能繁杂、以及个性化推荐不够精准等问题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。早期的电商平台多为简单的商品罗列，无法满足宠物主日益增长的个性化需求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 5"/>
          <p:cNvSpPr/>
          <p:nvPr>
            <p:custDataLst>
              <p:tags r:id="rId16"/>
            </p:custDataLst>
          </p:nvPr>
        </p:nvSpPr>
        <p:spPr>
          <a:xfrm>
            <a:off x="640994" y="1048069"/>
            <a:ext cx="679728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39835" y="1018720"/>
            <a:ext cx="426013" cy="426013"/>
          </a:xfrm>
          <a:prstGeom prst="rect">
            <a:avLst/>
          </a:prstGeom>
        </p:spPr>
      </p:pic>
      <p:sp>
        <p:nvSpPr>
          <p:cNvPr id="17" name="Text 6"/>
          <p:cNvSpPr/>
          <p:nvPr>
            <p:custDataLst>
              <p:tags r:id="rId18"/>
            </p:custDataLst>
          </p:nvPr>
        </p:nvSpPr>
        <p:spPr>
          <a:xfrm>
            <a:off x="3349080" y="1048069"/>
            <a:ext cx="70996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8" name="Image 9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015819" y="1018720"/>
            <a:ext cx="426013" cy="426013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20"/>
            </p:custDataLst>
          </p:nvPr>
        </p:nvSpPr>
        <p:spPr>
          <a:xfrm>
            <a:off x="6016304" y="1048069"/>
            <a:ext cx="7236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8"/>
          <p:cNvSpPr/>
          <p:nvPr>
            <p:custDataLst>
              <p:tags r:id="rId21"/>
            </p:custDataLst>
          </p:nvPr>
        </p:nvSpPr>
        <p:spPr>
          <a:xfrm>
            <a:off x="4228093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sp>
        <p:nvSpPr>
          <p:cNvPr id="21" name="Shape 9"/>
          <p:cNvSpPr/>
          <p:nvPr>
            <p:custDataLst>
              <p:tags r:id="rId22"/>
            </p:custDataLst>
          </p:nvPr>
        </p:nvSpPr>
        <p:spPr>
          <a:xfrm>
            <a:off x="691303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22" name="Image 10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3765747" y="1534826"/>
            <a:ext cx="530506" cy="257215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6441731" y="1534826"/>
            <a:ext cx="530506" cy="257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国外研究现状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1345" y="1882140"/>
            <a:ext cx="2487295" cy="282511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1066906" y="1534826"/>
            <a:ext cx="530506" cy="25721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0994" y="1018720"/>
            <a:ext cx="426013" cy="426013"/>
          </a:xfrm>
          <a:prstGeom prst="rect">
            <a:avLst/>
          </a:prstGeom>
        </p:spPr>
      </p:pic>
      <p:sp>
        <p:nvSpPr>
          <p:cNvPr id="9" name="Shape 1"/>
          <p:cNvSpPr/>
          <p:nvPr>
            <p:custDataLst>
              <p:tags r:id="rId9"/>
            </p:custDataLst>
          </p:nvPr>
        </p:nvSpPr>
        <p:spPr>
          <a:xfrm>
            <a:off x="158947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3416935" y="1890395"/>
            <a:ext cx="2487295" cy="285242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10000"/>
          </a:blip>
          <a:stretch>
            <a:fillRect/>
          </a:stretch>
        </p:blipFill>
        <p:spPr>
          <a:xfrm>
            <a:off x="6015990" y="1791970"/>
            <a:ext cx="2487295" cy="2960370"/>
          </a:xfrm>
          <a:prstGeom prst="rect">
            <a:avLst/>
          </a:prstGeom>
        </p:spPr>
      </p:pic>
      <p:sp>
        <p:nvSpPr>
          <p:cNvPr id="12" name="Text 2"/>
          <p:cNvSpPr/>
          <p:nvPr>
            <p:custDataLst>
              <p:tags r:id="rId13"/>
            </p:custDataLst>
          </p:nvPr>
        </p:nvSpPr>
        <p:spPr>
          <a:xfrm>
            <a:off x="711217" y="1938345"/>
            <a:ext cx="2267712" cy="296037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在国外，宠物垂直领域的电子商务已经发展到高度成熟的阶段，市场上涌现了如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Chewy (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Zooplus (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欧洲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这样的巨头。例如，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Chewy 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凭借其庞大的商品种类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(SKU)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、高效的物流配送以及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“Autoship”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自动订阅配送服务，建立了极高的用户忠诚度。它不仅是一个销售平台，更通过卓越的客户服务（如手写贺卡、宠物画像）和个性化的关怀，与用户建立了深厚的情感连接。这些国外成熟产品的共同特点是：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3"/>
          <p:cNvSpPr/>
          <p:nvPr>
            <p:custDataLst>
              <p:tags r:id="rId14"/>
            </p:custDataLst>
          </p:nvPr>
        </p:nvSpPr>
        <p:spPr>
          <a:xfrm>
            <a:off x="3526790" y="1956435"/>
            <a:ext cx="2267585" cy="16662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/>
              <a:t>供应链与服务深度整合：</a:t>
            </a:r>
            <a:r>
              <a:rPr lang="en-US" altLang="zh-CN" sz="1000" dirty="0"/>
              <a:t> </a:t>
            </a:r>
            <a:r>
              <a:rPr lang="zh-CN" altLang="en-US" sz="1000" dirty="0"/>
              <a:t>通过订阅制服务锁定长期客户，并利用高效仓储保证配送时效。</a:t>
            </a:r>
            <a:endParaRPr lang="zh-CN" altLang="en-US" sz="1000" dirty="0"/>
          </a:p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/>
              <a:t>数据驱动的个性化：</a:t>
            </a:r>
            <a:r>
              <a:rPr lang="en-US" altLang="zh-CN" sz="1000" dirty="0"/>
              <a:t> </a:t>
            </a:r>
            <a:r>
              <a:rPr lang="zh-CN" altLang="en-US" sz="1000" dirty="0"/>
              <a:t>基于用户的购买历史和宠物信息（品种、年龄、健康状况）提供精准的商品推荐，例如特定配方的处方粮。</a:t>
            </a:r>
            <a:endParaRPr lang="zh-CN" altLang="en-US" sz="1000" dirty="0"/>
          </a:p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/>
              <a:t>生态闭环构建：</a:t>
            </a:r>
            <a:r>
              <a:rPr lang="en-US" altLang="zh-CN" sz="1000" dirty="0"/>
              <a:t> </a:t>
            </a:r>
            <a:r>
              <a:rPr lang="zh-CN" altLang="en-US" sz="1000" dirty="0"/>
              <a:t>逐步从实物电商拓展至在线兽医咨询、宠物保险、美容预约等服务领域，打造一站式宠物生活平台。</a:t>
            </a:r>
            <a:endParaRPr lang="zh-CN" altLang="en-US" sz="1000" dirty="0"/>
          </a:p>
        </p:txBody>
      </p:sp>
      <p:sp>
        <p:nvSpPr>
          <p:cNvPr id="14" name="Text 4"/>
          <p:cNvSpPr/>
          <p:nvPr>
            <p:custDataLst>
              <p:tags r:id="rId15"/>
            </p:custDataLst>
          </p:nvPr>
        </p:nvSpPr>
        <p:spPr>
          <a:xfrm>
            <a:off x="6125566" y="1938345"/>
            <a:ext cx="2267712" cy="296037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综上所述，无论是国内还是国外，宠物电商平台都在朝着数据化、个性化和社区化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的方向深度发展。本课题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星落宠物用品销售网站系统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正是在借鉴了这些成熟平台理念的基础上，旨在解决个性化推荐不足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的痛点。本系统将重点通过建立详尽的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用户和宠物专属档案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 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，结合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宠物社区模块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 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的互动数据，实现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千人千面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的精准营销和个性化搜索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，从而提升用户购物体验和平台粘性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。</a:t>
            </a:r>
            <a:endParaRPr lang="zh-CN" altLang="en-US" sz="1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  <p:sp>
        <p:nvSpPr>
          <p:cNvPr id="15" name="Text 5"/>
          <p:cNvSpPr/>
          <p:nvPr>
            <p:custDataLst>
              <p:tags r:id="rId16"/>
            </p:custDataLst>
          </p:nvPr>
        </p:nvSpPr>
        <p:spPr>
          <a:xfrm>
            <a:off x="640994" y="1048069"/>
            <a:ext cx="679728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39835" y="1018720"/>
            <a:ext cx="426013" cy="426013"/>
          </a:xfrm>
          <a:prstGeom prst="rect">
            <a:avLst/>
          </a:prstGeom>
        </p:spPr>
      </p:pic>
      <p:sp>
        <p:nvSpPr>
          <p:cNvPr id="17" name="Text 6"/>
          <p:cNvSpPr/>
          <p:nvPr>
            <p:custDataLst>
              <p:tags r:id="rId18"/>
            </p:custDataLst>
          </p:nvPr>
        </p:nvSpPr>
        <p:spPr>
          <a:xfrm>
            <a:off x="3349080" y="1048069"/>
            <a:ext cx="70996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8" name="Image 9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015819" y="1018720"/>
            <a:ext cx="426013" cy="426013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20"/>
            </p:custDataLst>
          </p:nvPr>
        </p:nvSpPr>
        <p:spPr>
          <a:xfrm>
            <a:off x="6016304" y="1048069"/>
            <a:ext cx="7236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8"/>
          <p:cNvSpPr/>
          <p:nvPr>
            <p:custDataLst>
              <p:tags r:id="rId21"/>
            </p:custDataLst>
          </p:nvPr>
        </p:nvSpPr>
        <p:spPr>
          <a:xfrm>
            <a:off x="4228093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sp>
        <p:nvSpPr>
          <p:cNvPr id="21" name="Shape 9"/>
          <p:cNvSpPr/>
          <p:nvPr>
            <p:custDataLst>
              <p:tags r:id="rId22"/>
            </p:custDataLst>
          </p:nvPr>
        </p:nvSpPr>
        <p:spPr>
          <a:xfrm>
            <a:off x="691303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22" name="Image 10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3765747" y="1534826"/>
            <a:ext cx="530506" cy="257215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6441731" y="1534826"/>
            <a:ext cx="530506" cy="257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5154" y="1959269"/>
            <a:ext cx="5339328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研究内容方法及功能结构图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课题研究的目标和内容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03401" y="1099566"/>
            <a:ext cx="7497539" cy="114882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8100000">
            <a:off x="8148204" y="3558047"/>
            <a:ext cx="325055" cy="32505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601489" y="2311193"/>
            <a:ext cx="7497539" cy="255772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8100000">
            <a:off x="8148223" y="2543063"/>
            <a:ext cx="325055" cy="325055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8100000">
            <a:off x="8148185" y="1394239"/>
            <a:ext cx="325055" cy="32505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834307" y="1323749"/>
            <a:ext cx="2845133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课题研究的目标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3586576" y="1371083"/>
            <a:ext cx="4333133" cy="60579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indent="0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本课题的研究目标是设计并实现一个研究目标： 本设计要求开发一个“星落宠物用品销售网站”平台 。完成一个可运行的宠物用品在线销售网站.</a:t>
            </a:r>
            <a:endParaRPr 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4793" y="2409000"/>
            <a:ext cx="2531059" cy="2459917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课题研究的角色内容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3586480" y="2312035"/>
            <a:ext cx="4333240" cy="2557145"/>
          </a:xfrm>
          <a:prstGeom prst="rect">
            <a:avLst/>
          </a:prstGeom>
          <a:noFill/>
        </p:spPr>
        <p:txBody>
          <a:bodyPr wrap="square" lIns="95250" tIns="95250" rIns="95250" bIns="9525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本系统结合实际需求，设计了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店家</a:t>
            </a: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、管理员和用户三种角色，并分别赋予不同的权限和功能。以下是网站的主要功能概述：</a:t>
            </a:r>
            <a:endParaRPr lang="en-US" sz="1500" dirty="0"/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研究内容：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系统功能主要分为店家端、用户端和管理端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店家端：（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）店铺与商品管理模块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）交易与客户服务模块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）营销推广模块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altLang="zh-CN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用户端：（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）用户与宠物档案模块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）商城核心功能模块（含个性化推荐与订阅服务）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）订单与评价体系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）宠物社区模块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altLang="zh-CN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管理端：（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）基础管理模块（含权限、用户与店家管理）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）平台运营模块（含商品分类、内容审核、结算管理）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）数据看板模块</a:t>
            </a:r>
            <a:endParaRPr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课题研究方法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0000"/>
          </a:blip>
          <a:stretch>
            <a:fillRect/>
          </a:stretch>
        </p:blipFill>
        <p:spPr>
          <a:xfrm rot="-366000">
            <a:off x="641874" y="1004724"/>
            <a:ext cx="2450592" cy="328400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79498" y="987328"/>
            <a:ext cx="2450592" cy="3243323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2065" y="924995"/>
            <a:ext cx="512064" cy="512064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9"/>
            </p:custDataLst>
          </p:nvPr>
        </p:nvSpPr>
        <p:spPr>
          <a:xfrm>
            <a:off x="541223" y="870131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alphaModFix amt="50000"/>
          </a:blip>
          <a:stretch>
            <a:fillRect/>
          </a:stretch>
        </p:blipFill>
        <p:spPr>
          <a:xfrm rot="-366000">
            <a:off x="3435198" y="987374"/>
            <a:ext cx="2450592" cy="3301402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435198" y="883816"/>
            <a:ext cx="2450592" cy="3346835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14357" y="924995"/>
            <a:ext cx="512064" cy="512064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5"/>
            </p:custDataLst>
          </p:nvPr>
        </p:nvSpPr>
        <p:spPr>
          <a:xfrm>
            <a:off x="3363515" y="883816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4" name="Image 9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alphaModFix amt="50000"/>
          </a:blip>
          <a:stretch>
            <a:fillRect/>
          </a:stretch>
        </p:blipFill>
        <p:spPr>
          <a:xfrm rot="-366000">
            <a:off x="6044602" y="931739"/>
            <a:ext cx="2450592" cy="3224893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093184" y="883816"/>
            <a:ext cx="2450592" cy="330565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205105" y="987328"/>
            <a:ext cx="512064" cy="512064"/>
          </a:xfrm>
          <a:prstGeom prst="rect">
            <a:avLst/>
          </a:prstGeom>
        </p:spPr>
      </p:pic>
      <p:sp>
        <p:nvSpPr>
          <p:cNvPr id="17" name="Text 3"/>
          <p:cNvSpPr/>
          <p:nvPr>
            <p:custDataLst>
              <p:tags r:id="rId21"/>
            </p:custDataLst>
          </p:nvPr>
        </p:nvSpPr>
        <p:spPr>
          <a:xfrm>
            <a:off x="6054263" y="924995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4"/>
          <p:cNvSpPr/>
          <p:nvPr>
            <p:custDataLst>
              <p:tags r:id="rId22"/>
            </p:custDataLst>
          </p:nvPr>
        </p:nvSpPr>
        <p:spPr>
          <a:xfrm>
            <a:off x="601489" y="1275364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文献研究</a:t>
            </a: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</a:t>
            </a:r>
            <a:endParaRPr lang="en-US" sz="1500" dirty="0"/>
          </a:p>
        </p:txBody>
      </p:sp>
      <p:sp>
        <p:nvSpPr>
          <p:cNvPr id="19" name="Text 5"/>
          <p:cNvSpPr/>
          <p:nvPr>
            <p:custDataLst>
              <p:tags r:id="rId23"/>
            </p:custDataLst>
          </p:nvPr>
        </p:nvSpPr>
        <p:spPr>
          <a:xfrm>
            <a:off x="774700" y="1674495"/>
            <a:ext cx="2194560" cy="26409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广泛查阅国内外关于健身管理系统、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Web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应用开发、数据库设计等领域的学术论文、书籍和技术文档，借鉴现有研究成果和成熟的技术方案。</a:t>
            </a:r>
            <a:r>
              <a:rPr 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将通过查阅相关书籍、期刊、论文和在线资源，了解当前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宠物用品</a:t>
            </a:r>
            <a:r>
              <a:rPr 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市场的趋势、软件开发的最佳实践和用户体验设计的原则。这些理论知识将提供指导，确保在开发过程中遵循最佳实践，避免走弯路。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endParaRPr lang="zh-CN" altLang="en-US" sz="1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  <p:sp>
        <p:nvSpPr>
          <p:cNvPr id="20" name="Text 6"/>
          <p:cNvSpPr/>
          <p:nvPr>
            <p:custDataLst>
              <p:tags r:id="rId24"/>
            </p:custDataLst>
          </p:nvPr>
        </p:nvSpPr>
        <p:spPr>
          <a:xfrm>
            <a:off x="3435796" y="1275364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处理流程</a:t>
            </a:r>
            <a:endParaRPr lang="en-US" sz="1500" dirty="0"/>
          </a:p>
        </p:txBody>
      </p:sp>
      <p:sp>
        <p:nvSpPr>
          <p:cNvPr id="21" name="Text 7"/>
          <p:cNvSpPr/>
          <p:nvPr>
            <p:custDataLst>
              <p:tags r:id="rId25"/>
            </p:custDataLst>
          </p:nvPr>
        </p:nvSpPr>
        <p:spPr>
          <a:xfrm>
            <a:off x="3562985" y="1517650"/>
            <a:ext cx="2194560" cy="314769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：遵循面向对象范式，开展整体架构规划、模块功能拆解以及数据存储设计。借助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UML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（统一建模语言）工具，生成类图、序列图等模型，以精确诠释系统的组织形式与动态交互机制。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敏捷开发与迭代：实施前后端解耦的构建策略。后端依托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语言与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Spring Boot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框架，前端采用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Vue.js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技术栈。通过周期性的短迭代循环，逐层推进代码实现、验证与融合。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 8"/>
          <p:cNvSpPr/>
          <p:nvPr>
            <p:custDataLst>
              <p:tags r:id="rId26"/>
            </p:custDataLst>
          </p:nvPr>
        </p:nvSpPr>
        <p:spPr>
          <a:xfrm>
            <a:off x="6172618" y="1275364"/>
            <a:ext cx="2449397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对比分析法</a:t>
            </a:r>
            <a:endParaRPr lang="en-US" sz="1500" dirty="0"/>
          </a:p>
        </p:txBody>
      </p:sp>
      <p:sp>
        <p:nvSpPr>
          <p:cNvPr id="23" name="Text 9"/>
          <p:cNvSpPr/>
          <p:nvPr>
            <p:custDataLst>
              <p:tags r:id="rId27"/>
            </p:custDataLst>
          </p:nvPr>
        </p:nvSpPr>
        <p:spPr>
          <a:xfrm>
            <a:off x="6221200" y="1614791"/>
            <a:ext cx="2194560" cy="226758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对比分析法将用于评估的系统在功能、性能和用户体验等方面与竞品相比的优势和不足。将选择市场上几个具有代表性的童装电商网站作为竞品，对它们的功能模块、操作流程、界面设计等方面进行详细的分析和比较。通过对比分析，可以发现竞品的长处和短处，从而为系统优化提供方向。</a:t>
            </a:r>
            <a:endParaRPr lang="en-US" sz="1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功能结构图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90" y="769620"/>
            <a:ext cx="7033260" cy="4373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可行性分析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0000"/>
          </a:blip>
          <a:stretch>
            <a:fillRect/>
          </a:stretch>
        </p:blipFill>
        <p:spPr>
          <a:xfrm rot="-366000">
            <a:off x="524077" y="1002567"/>
            <a:ext cx="2450592" cy="404598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1489" y="947471"/>
            <a:ext cx="2450592" cy="415617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2065" y="924995"/>
            <a:ext cx="512064" cy="512064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9"/>
            </p:custDataLst>
          </p:nvPr>
        </p:nvSpPr>
        <p:spPr>
          <a:xfrm>
            <a:off x="541223" y="870131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alphaModFix amt="50000"/>
          </a:blip>
          <a:stretch>
            <a:fillRect/>
          </a:stretch>
        </p:blipFill>
        <p:spPr>
          <a:xfrm rot="-366000">
            <a:off x="3471349" y="985448"/>
            <a:ext cx="2450592" cy="398180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435198" y="883816"/>
            <a:ext cx="2450592" cy="4219827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14357" y="924995"/>
            <a:ext cx="512064" cy="512064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5"/>
            </p:custDataLst>
          </p:nvPr>
        </p:nvSpPr>
        <p:spPr>
          <a:xfrm>
            <a:off x="3363515" y="883816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4" name="Image 9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alphaModFix amt="50000"/>
          </a:blip>
          <a:stretch>
            <a:fillRect/>
          </a:stretch>
        </p:blipFill>
        <p:spPr>
          <a:xfrm rot="-366000">
            <a:off x="6089978" y="929321"/>
            <a:ext cx="2450592" cy="4078909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093184" y="883816"/>
            <a:ext cx="2450592" cy="4219827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205105" y="987328"/>
            <a:ext cx="512064" cy="512064"/>
          </a:xfrm>
          <a:prstGeom prst="rect">
            <a:avLst/>
          </a:prstGeom>
        </p:spPr>
      </p:pic>
      <p:sp>
        <p:nvSpPr>
          <p:cNvPr id="17" name="Text 3"/>
          <p:cNvSpPr/>
          <p:nvPr>
            <p:custDataLst>
              <p:tags r:id="rId20"/>
            </p:custDataLst>
          </p:nvPr>
        </p:nvSpPr>
        <p:spPr>
          <a:xfrm>
            <a:off x="6054263" y="924995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4"/>
          <p:cNvSpPr/>
          <p:nvPr>
            <p:custDataLst>
              <p:tags r:id="rId21"/>
            </p:custDataLst>
          </p:nvPr>
        </p:nvSpPr>
        <p:spPr>
          <a:xfrm>
            <a:off x="601489" y="1051336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</a:t>
            </a: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</a:t>
            </a:r>
            <a:endParaRPr lang="en-US" sz="1500" dirty="0"/>
          </a:p>
        </p:txBody>
      </p:sp>
      <p:sp>
        <p:nvSpPr>
          <p:cNvPr id="19" name="Text 5"/>
          <p:cNvSpPr/>
          <p:nvPr>
            <p:custDataLst>
              <p:tags r:id="rId22"/>
            </p:custDataLst>
          </p:nvPr>
        </p:nvSpPr>
        <p:spPr>
          <a:xfrm>
            <a:off x="692150" y="1695450"/>
            <a:ext cx="2194560" cy="31718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810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/>
              <a:t>经济可行性：研究所需的软件工具（如</a:t>
            </a:r>
            <a:r>
              <a:rPr lang="en-US" altLang="zh-CN" sz="1500" dirty="0"/>
              <a:t>JDK</a:t>
            </a:r>
            <a:r>
              <a:rPr lang="zh-CN" altLang="en-US" sz="1500" dirty="0"/>
              <a:t>、</a:t>
            </a:r>
            <a:r>
              <a:rPr lang="en-US" altLang="zh-CN" sz="1500" dirty="0"/>
              <a:t>Maven</a:t>
            </a:r>
            <a:r>
              <a:rPr lang="zh-CN" altLang="en-US" sz="1500" dirty="0"/>
              <a:t>、</a:t>
            </a:r>
            <a:r>
              <a:rPr lang="en-US" altLang="zh-CN" sz="1500" dirty="0"/>
              <a:t>MySQL</a:t>
            </a:r>
            <a:r>
              <a:rPr lang="zh-CN" altLang="en-US" sz="1500" dirty="0"/>
              <a:t>、</a:t>
            </a:r>
            <a:r>
              <a:rPr lang="en-US" altLang="zh-CN" sz="1500" dirty="0"/>
              <a:t>IDEA</a:t>
            </a:r>
            <a:r>
              <a:rPr lang="zh-CN" altLang="en-US" sz="1500" dirty="0"/>
              <a:t>社区版等）均为免费或开源软件，硬件方面使用个人计算机即可满足开发要求，无需投入额外的经济成本。</a:t>
            </a:r>
            <a:endParaRPr lang="zh-CN" altLang="en-US" sz="1500" dirty="0"/>
          </a:p>
        </p:txBody>
      </p:sp>
      <p:sp>
        <p:nvSpPr>
          <p:cNvPr id="20" name="Text 6"/>
          <p:cNvSpPr/>
          <p:nvPr>
            <p:custDataLst>
              <p:tags r:id="rId23"/>
            </p:custDataLst>
          </p:nvPr>
        </p:nvSpPr>
        <p:spPr>
          <a:xfrm>
            <a:off x="3435796" y="1051336"/>
            <a:ext cx="2449397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技术可行性</a:t>
            </a:r>
            <a:endParaRPr lang="en-US" sz="1500" dirty="0"/>
          </a:p>
        </p:txBody>
      </p:sp>
      <p:sp>
        <p:nvSpPr>
          <p:cNvPr id="21" name="Text 7"/>
          <p:cNvSpPr/>
          <p:nvPr>
            <p:custDataLst>
              <p:tags r:id="rId24"/>
            </p:custDataLst>
          </p:nvPr>
        </p:nvSpPr>
        <p:spPr>
          <a:xfrm>
            <a:off x="3562985" y="1700530"/>
            <a:ext cx="2194560" cy="28676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/>
              <a:t>技术可行性：本系统计划采用</a:t>
            </a:r>
            <a:r>
              <a:rPr lang="en-US" altLang="zh-CN" sz="1200" dirty="0"/>
              <a:t> SpringBoot + Vue + MySQL </a:t>
            </a:r>
            <a:r>
              <a:rPr lang="zh-CN" altLang="en-US" sz="1200" dirty="0"/>
              <a:t>的技术栈。这些都是当今主流、成熟的</a:t>
            </a:r>
            <a:r>
              <a:rPr lang="en-US" altLang="zh-CN" sz="1200" dirty="0"/>
              <a:t>Web</a:t>
            </a:r>
            <a:r>
              <a:rPr lang="zh-CN" altLang="en-US" sz="1200" dirty="0"/>
              <a:t>开发技术，拥有丰富的开源社区支持和海量的技术文档。开发工具如</a:t>
            </a:r>
            <a:r>
              <a:rPr lang="en-US" altLang="zh-CN" sz="1200" dirty="0"/>
              <a:t>IntelliJ IDEA</a:t>
            </a:r>
            <a:r>
              <a:rPr lang="zh-CN" altLang="en-US" sz="1200" dirty="0"/>
              <a:t>、</a:t>
            </a:r>
            <a:r>
              <a:rPr lang="en-US" altLang="zh-CN" sz="1200" dirty="0"/>
              <a:t>VSCode</a:t>
            </a:r>
            <a:r>
              <a:rPr lang="zh-CN" altLang="en-US" sz="1200" dirty="0"/>
              <a:t>等功能强大且易于获取。因此，从技术角度来看，本课题的实现不存在难以逾越的障碍。</a:t>
            </a:r>
            <a:endParaRPr lang="zh-CN" altLang="en-US" sz="1200" dirty="0"/>
          </a:p>
        </p:txBody>
      </p:sp>
      <p:sp>
        <p:nvSpPr>
          <p:cNvPr id="22" name="Text 8"/>
          <p:cNvSpPr/>
          <p:nvPr>
            <p:custDataLst>
              <p:tags r:id="rId25"/>
            </p:custDataLst>
          </p:nvPr>
        </p:nvSpPr>
        <p:spPr>
          <a:xfrm>
            <a:off x="6210205" y="1153595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操作可行性</a:t>
            </a:r>
            <a:endParaRPr lang="en-US" sz="1500" dirty="0"/>
          </a:p>
        </p:txBody>
      </p:sp>
      <p:sp>
        <p:nvSpPr>
          <p:cNvPr id="23" name="Text 9"/>
          <p:cNvSpPr/>
          <p:nvPr>
            <p:custDataLst>
              <p:tags r:id="rId26"/>
            </p:custDataLst>
          </p:nvPr>
        </p:nvSpPr>
        <p:spPr>
          <a:xfrm>
            <a:off x="6217920" y="1665605"/>
            <a:ext cx="2194560" cy="313499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/>
              <a:t>操作可行性：系统将设计简洁直观的用户界面和清晰的操作流程，使得不同角色的用户都能快速上手。系统部署在服务器上后，用户通过浏览器即可访问，操作便捷，具有良好的可行性。系统界面设计注重简约与用户导向，操作路径逻辑清晰，便于各类用户角色快速适应。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课题特色及预期目标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课题特色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809365" y="1210310"/>
            <a:ext cx="4593590" cy="29432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个性化与精准营销：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区别于传统货架式电商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，本系统通过建立用户和宠物的专属档案，实现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千人千面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的精准营销和个性化商品搜索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  <a:p>
            <a:pPr indent="3048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社区化电商：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系统不仅是销售平台，还重点建设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宠物社区模块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，通过社区互动增强用户粘性，满足宠物主的情感与社交需求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  <a:p>
            <a:pPr indent="3048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垂直领域整合：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专注于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宠物经济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 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，构建一个集购物、社交、服务于一体的垂直领域电商平台。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前后端分离架构：采用主流的前后端分离开发模式，使得前端和后端可以独立开发、测试和部署，提高了开发效率，也为未来系统功能的扩展和移动端的适配打下了良好基础。</a:t>
            </a:r>
            <a:endParaRPr lang="zh-CN" altLang="en-US" sz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07975" y="1224280"/>
            <a:ext cx="3143250" cy="33299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预期目标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809365" y="1251585"/>
            <a:ext cx="4520565" cy="28949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81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完成一个可运行的宠物用品在线销售网站，包含核心功能（用户注册、宠物档案管理、商品浏览与个性化搜索、购物车管理、在线下单、社区互动等）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81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开发星落宠物用品销售网站系统平台的程序，保证功能完善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根据题目，分析背景和意义，做好调研工作并形成文字报告（开题报告）完成所有相关的设计文档，并撰写一篇结构完整、内容详实、符合规范的毕业设计（论文）。</a:t>
            </a:r>
            <a:endParaRPr lang="zh-CN" alt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" y="1031875"/>
            <a:ext cx="2892425" cy="3820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课题实施计划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课题实施计划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294066" y="552732"/>
            <a:ext cx="4279233" cy="51206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82250" y="653062"/>
            <a:ext cx="411480" cy="411480"/>
          </a:xfrm>
          <a:prstGeom prst="rect">
            <a:avLst/>
          </a:prstGeom>
        </p:spPr>
      </p:pic>
      <p:sp>
        <p:nvSpPr>
          <p:cNvPr id="8" name="Text 1"/>
          <p:cNvSpPr/>
          <p:nvPr>
            <p:custDataLst>
              <p:tags r:id="rId7"/>
            </p:custDataLst>
          </p:nvPr>
        </p:nvSpPr>
        <p:spPr>
          <a:xfrm>
            <a:off x="3782321" y="643129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9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4320540" y="1116330"/>
            <a:ext cx="4279265" cy="57531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908920" y="1253642"/>
            <a:ext cx="411480" cy="411480"/>
          </a:xfrm>
          <a:prstGeom prst="rect">
            <a:avLst/>
          </a:prstGeom>
        </p:spPr>
      </p:pic>
      <p:sp>
        <p:nvSpPr>
          <p:cNvPr id="11" name="Text 2"/>
          <p:cNvSpPr/>
          <p:nvPr>
            <p:custDataLst>
              <p:tags r:id="rId12"/>
            </p:custDataLst>
          </p:nvPr>
        </p:nvSpPr>
        <p:spPr>
          <a:xfrm>
            <a:off x="3858628" y="1207922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2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10000"/>
          </a:blip>
          <a:stretch>
            <a:fillRect/>
          </a:stretch>
        </p:blipFill>
        <p:spPr>
          <a:xfrm>
            <a:off x="4347210" y="1672590"/>
            <a:ext cx="4252595" cy="60960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08920" y="1854406"/>
            <a:ext cx="411480" cy="411480"/>
          </a:xfrm>
          <a:prstGeom prst="rect">
            <a:avLst/>
          </a:prstGeom>
        </p:spPr>
      </p:pic>
      <p:sp>
        <p:nvSpPr>
          <p:cNvPr id="14" name="Text 3"/>
          <p:cNvSpPr/>
          <p:nvPr>
            <p:custDataLst>
              <p:tags r:id="rId16"/>
            </p:custDataLst>
          </p:nvPr>
        </p:nvSpPr>
        <p:spPr>
          <a:xfrm>
            <a:off x="3858628" y="1854406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pic>
        <p:nvPicPr>
          <p:cNvPr id="15" name="Image 9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alphaModFix amt="10000"/>
          </a:blip>
          <a:stretch>
            <a:fillRect/>
          </a:stretch>
        </p:blipFill>
        <p:spPr>
          <a:xfrm>
            <a:off x="4320540" y="2302510"/>
            <a:ext cx="4257675" cy="558165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908920" y="2311606"/>
            <a:ext cx="411480" cy="411480"/>
          </a:xfrm>
          <a:prstGeom prst="rect">
            <a:avLst/>
          </a:prstGeom>
        </p:spPr>
      </p:pic>
      <p:sp>
        <p:nvSpPr>
          <p:cNvPr id="17" name="Text 4"/>
          <p:cNvSpPr/>
          <p:nvPr>
            <p:custDataLst>
              <p:tags r:id="rId20"/>
            </p:custDataLst>
          </p:nvPr>
        </p:nvSpPr>
        <p:spPr>
          <a:xfrm>
            <a:off x="3858628" y="2311606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pic>
        <p:nvPicPr>
          <p:cNvPr id="18" name="Image 11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alphaModFix amt="10000"/>
          </a:blip>
          <a:stretch>
            <a:fillRect/>
          </a:stretch>
        </p:blipFill>
        <p:spPr>
          <a:xfrm>
            <a:off x="4397890" y="2880524"/>
            <a:ext cx="4175409" cy="585216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08920" y="2971964"/>
            <a:ext cx="411480" cy="411480"/>
          </a:xfrm>
          <a:prstGeom prst="rect">
            <a:avLst/>
          </a:prstGeom>
        </p:spPr>
      </p:pic>
      <p:sp>
        <p:nvSpPr>
          <p:cNvPr id="20" name="Text 5"/>
          <p:cNvSpPr/>
          <p:nvPr>
            <p:custDataLst>
              <p:tags r:id="rId24"/>
            </p:custDataLst>
          </p:nvPr>
        </p:nvSpPr>
        <p:spPr>
          <a:xfrm>
            <a:off x="3858628" y="2994824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pic>
        <p:nvPicPr>
          <p:cNvPr id="21" name="Image 13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alphaModFix amt="10000"/>
          </a:blip>
          <a:stretch>
            <a:fillRect/>
          </a:stretch>
        </p:blipFill>
        <p:spPr>
          <a:xfrm>
            <a:off x="4375150" y="3491230"/>
            <a:ext cx="4203065" cy="803275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908920" y="3694340"/>
            <a:ext cx="411480" cy="411480"/>
          </a:xfrm>
          <a:prstGeom prst="rect">
            <a:avLst/>
          </a:prstGeom>
        </p:spPr>
      </p:pic>
      <p:sp>
        <p:nvSpPr>
          <p:cNvPr id="23" name="Text 6"/>
          <p:cNvSpPr/>
          <p:nvPr>
            <p:custDataLst>
              <p:tags r:id="rId28"/>
            </p:custDataLst>
          </p:nvPr>
        </p:nvSpPr>
        <p:spPr>
          <a:xfrm>
            <a:off x="3858628" y="3717200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pic>
        <p:nvPicPr>
          <p:cNvPr id="24" name="Image 15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alphaModFix amt="10000"/>
          </a:blip>
          <a:stretch>
            <a:fillRect/>
          </a:stretch>
        </p:blipFill>
        <p:spPr>
          <a:xfrm>
            <a:off x="4398645" y="4319905"/>
            <a:ext cx="4174490" cy="628015"/>
          </a:xfrm>
          <a:prstGeom prst="rect">
            <a:avLst/>
          </a:prstGeom>
        </p:spPr>
      </p:pic>
      <p:pic>
        <p:nvPicPr>
          <p:cNvPr id="25" name="Image 16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08920" y="4383080"/>
            <a:ext cx="411480" cy="411480"/>
          </a:xfrm>
          <a:prstGeom prst="rect">
            <a:avLst/>
          </a:prstGeom>
        </p:spPr>
      </p:pic>
      <p:sp>
        <p:nvSpPr>
          <p:cNvPr id="26" name="Text 7"/>
          <p:cNvSpPr/>
          <p:nvPr>
            <p:custDataLst>
              <p:tags r:id="rId32"/>
            </p:custDataLst>
          </p:nvPr>
        </p:nvSpPr>
        <p:spPr>
          <a:xfrm>
            <a:off x="3858628" y="4301165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8" name="Text 8"/>
          <p:cNvSpPr/>
          <p:nvPr>
            <p:custDataLst>
              <p:tags r:id="rId33"/>
            </p:custDataLst>
          </p:nvPr>
        </p:nvSpPr>
        <p:spPr>
          <a:xfrm>
            <a:off x="4370585" y="531142"/>
            <a:ext cx="4071585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第一、二周：确定毕业设计题目、根据题目进行调研。完成开题报告和开题答辩</a:t>
            </a:r>
            <a:endParaRPr lang="en-US" sz="1500" dirty="0"/>
          </a:p>
        </p:txBody>
      </p:sp>
      <p:sp>
        <p:nvSpPr>
          <p:cNvPr id="29" name="Text 9"/>
          <p:cNvSpPr/>
          <p:nvPr>
            <p:custDataLst>
              <p:tags r:id="rId34"/>
            </p:custDataLst>
          </p:nvPr>
        </p:nvSpPr>
        <p:spPr>
          <a:xfrm>
            <a:off x="4398010" y="1118235"/>
            <a:ext cx="4044950" cy="5689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第三、四周：查阅资料完成外文翻译、确定思路开发工具及关键技术                                      </a:t>
            </a:r>
            <a:endParaRPr lang="en-US" sz="1500" dirty="0"/>
          </a:p>
        </p:txBody>
      </p:sp>
      <p:sp>
        <p:nvSpPr>
          <p:cNvPr id="30" name="Text 10"/>
          <p:cNvSpPr/>
          <p:nvPr>
            <p:custDataLst>
              <p:tags r:id="rId35"/>
            </p:custDataLst>
          </p:nvPr>
        </p:nvSpPr>
        <p:spPr>
          <a:xfrm>
            <a:off x="4424045" y="1684655"/>
            <a:ext cx="4149725" cy="5759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第五、六周：确定各个功能模块，完成总体设计、</a:t>
            </a: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开发各个功能模块，同步撰写论文初稿</a:t>
            </a:r>
            <a:endParaRPr lang="en-US" sz="1500" dirty="0"/>
          </a:p>
        </p:txBody>
      </p:sp>
      <p:sp>
        <p:nvSpPr>
          <p:cNvPr id="31" name="Text 11"/>
          <p:cNvSpPr/>
          <p:nvPr>
            <p:custDataLst>
              <p:tags r:id="rId36"/>
            </p:custDataLst>
          </p:nvPr>
        </p:nvSpPr>
        <p:spPr>
          <a:xfrm>
            <a:off x="4370705" y="2263140"/>
            <a:ext cx="4102100" cy="6521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第七、八周：开发各个功能模块，同步撰写论文初稿、网站测试并记录数据</a:t>
            </a:r>
            <a:r>
              <a:rPr lang="zh-CN" alt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保证稳定运行</a:t>
            </a:r>
            <a:endParaRPr lang="en-US" sz="1500" dirty="0"/>
          </a:p>
        </p:txBody>
      </p:sp>
      <p:sp>
        <p:nvSpPr>
          <p:cNvPr id="32" name="Text 12"/>
          <p:cNvSpPr/>
          <p:nvPr>
            <p:custDataLst>
              <p:tags r:id="rId37"/>
            </p:custDataLst>
          </p:nvPr>
        </p:nvSpPr>
        <p:spPr>
          <a:xfrm>
            <a:off x="4397890" y="2880270"/>
            <a:ext cx="3999159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第九、十周：对网站进行封装，完成论文初稿、修改论文完成答辩稿</a:t>
            </a:r>
            <a:endParaRPr lang="en-US" sz="1500" dirty="0"/>
          </a:p>
        </p:txBody>
      </p:sp>
      <p:sp>
        <p:nvSpPr>
          <p:cNvPr id="33" name="Text 13"/>
          <p:cNvSpPr/>
          <p:nvPr>
            <p:custDataLst>
              <p:tags r:id="rId38"/>
            </p:custDataLst>
          </p:nvPr>
        </p:nvSpPr>
        <p:spPr>
          <a:xfrm>
            <a:off x="4424045" y="3475990"/>
            <a:ext cx="4074795" cy="88265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第十一、十二周：完成软件验收并记录结果，继续修订论文答辩稿、完成毕业设计相关材料撰写，继续修订论文答辩稿，通过查重</a:t>
            </a:r>
            <a:endParaRPr lang="en-US" sz="1500" dirty="0"/>
          </a:p>
        </p:txBody>
      </p:sp>
      <p:sp>
        <p:nvSpPr>
          <p:cNvPr id="34" name="Text 14"/>
          <p:cNvSpPr/>
          <p:nvPr>
            <p:custDataLst>
              <p:tags r:id="rId39"/>
            </p:custDataLst>
          </p:nvPr>
        </p:nvSpPr>
        <p:spPr>
          <a:xfrm>
            <a:off x="4481195" y="4289425"/>
            <a:ext cx="4018280" cy="6521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第十三、十四周：准备论文答辩及ppt、毕业设计答辩，整理论文终稿及相关材料进行归档</a:t>
            </a:r>
            <a:endParaRPr lang="en-US" sz="1500" dirty="0"/>
          </a:p>
        </p:txBody>
      </p:sp>
      <p:pic>
        <p:nvPicPr>
          <p:cNvPr id="27" name="图片 26"/>
          <p:cNvPicPr/>
          <p:nvPr/>
        </p:nvPicPr>
        <p:blipFill>
          <a:blip r:embed="rId40"/>
          <a:stretch>
            <a:fillRect/>
          </a:stretch>
        </p:blipFill>
        <p:spPr>
          <a:xfrm>
            <a:off x="300990" y="1118235"/>
            <a:ext cx="2828925" cy="3096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6247" y="2002836"/>
            <a:ext cx="4911506" cy="17465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8250" b="1" dirty="0">
                <a:solidFill>
                  <a:srgbClr val="001C70">
                    <a:alpha val="1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46785" y="1273175"/>
            <a:ext cx="7573010" cy="21158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54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谢谢观看</a:t>
            </a:r>
            <a:endParaRPr lang="en-US" sz="1500" dirty="0"/>
          </a:p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54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欢迎各位老师指导改正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2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3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4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5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6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7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8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9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0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1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2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3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4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5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6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7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8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9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0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1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2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3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4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5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6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7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8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9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0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1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2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3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4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5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6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7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38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39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0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1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2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3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4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5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6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7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8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49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50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51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52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53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54.xml><?xml version="1.0" encoding="utf-8"?>
<p:tagLst xmlns:p="http://schemas.openxmlformats.org/presentationml/2006/main">
  <p:tag name="KSO_WM_DIAGRAM_VIRTUALLY_FRAME" val="{&quot;height&quot;:303.537966880849,&quot;left&quot;:37.34849841536686,&quot;top&quot;:63.831796898678554,&quot;width&quot;:644.5098823323889}"/>
</p:tagLst>
</file>

<file path=ppt/tags/tag55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6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7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8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9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0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1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2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3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4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5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6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7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8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9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0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1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2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3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4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5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6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7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8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9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0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1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2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3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4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5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6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7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8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9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0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1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2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3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4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5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6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7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8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9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100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101.xml><?xml version="1.0" encoding="utf-8"?>
<p:tagLst xmlns:p="http://schemas.openxmlformats.org/presentationml/2006/main">
  <p:tag name="commondata" val="eyJoZGlkIjoiM2MxZDVhZTVhNTA4MmRhYTM2ZjU1NGY0ZTE2NDYwYz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3483</Words>
  <Application>WPS 演示</Application>
  <PresentationFormat>On-screen Show (16:9)</PresentationFormat>
  <Paragraphs>203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Arial</vt:lpstr>
      <vt:lpstr>Arial</vt:lpstr>
      <vt:lpstr>黑体</vt:lpstr>
      <vt:lpstr>微软雅黑</vt:lpstr>
      <vt:lpstr>微软雅黑</vt:lpstr>
      <vt:lpstr>Calibri</vt:lpstr>
      <vt:lpstr>Arial Unicode MS</vt:lpstr>
      <vt:lpstr>等线</vt:lpstr>
      <vt:lpstr>华文楷体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#%Code</cp:lastModifiedBy>
  <cp:revision>34</cp:revision>
  <dcterms:created xsi:type="dcterms:W3CDTF">2024-11-03T09:44:00Z</dcterms:created>
  <dcterms:modified xsi:type="dcterms:W3CDTF">2025-11-03T08:42:44Z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9C6A723EC0F94FDBBF0A46969540C211_12</vt:lpwstr>
  </property>
  <property fmtid="{D5CDD505-2E9C-101B-9397-08002B2CF9AE}" pid="3" name="KSOProductBuildVer">
    <vt:lpwstr>2052-12.1.0.23122</vt:lpwstr>
  </property>
</Properties>
</file>